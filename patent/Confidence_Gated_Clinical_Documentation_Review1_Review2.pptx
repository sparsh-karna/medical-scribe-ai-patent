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p(word)</c:v>
                </c:pt>
              </c:strCache>
            </c:strRef>
          </c:tx>
          <c:spPr>
            <a:solidFill>
              <a:srgbClr val="2A7F6F"/>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take</c:v>
                  </c:pt>
                  <c:pt idx="1">
                    <c:v>some</c:v>
                  </c:pt>
                  <c:pt idx="2">
                    <c:v>type</c:v>
                  </c:pt>
                  <c:pt idx="3">
                    <c:v>of</c:v>
                  </c:pt>
                  <c:pt idx="4">
                    <c:v>work.</c:v>
                  </c:pt>
                </c:lvl>
              </c:multiLvlStrCache>
            </c:multiLvlStrRef>
          </c:cat>
          <c:val>
            <c:numRef>
              <c:f>Sheet1!$B$2:$B$6</c:f>
              <c:numCache>
                <c:formatCode>General</c:formatCode>
                <c:ptCount val="5"/>
                <c:pt idx="0">
                  <c:v>0.994</c:v>
                </c:pt>
                <c:pt idx="1">
                  <c:v>0.994</c:v>
                </c:pt>
                <c:pt idx="2">
                  <c:v>0.405</c:v>
                </c:pt>
                <c:pt idx="3">
                  <c:v>0.997</c:v>
                </c:pt>
                <c:pt idx="4">
                  <c:v>0.946</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7363D"/>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3E8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E75"/>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A36"/>
                </a:solidFill>
                <a:latin typeface="Arial"/>
              </a:defRPr>
            </a:pPr>
            <a:r>
              <a:rPr sz="1300" b="0" i="0" u="none" strike="noStrike">
                <a:solidFill>
                  <a:srgbClr val="0F2A36"/>
                </a:solidFill>
                <a:latin typeface="Arial"/>
              </a:rPr>
              <a:t>Drafted facts by gate decision</a:t>
            </a:r>
          </a:p>
        </c:rich>
      </c:tx>
      <c:layout/>
      <c:overlay val="0"/>
    </c:title>
    <c:autoTitleDeleted val="0"/>
    <c:plotArea>
      <c:layout/>
      <c:barChart>
        <c:barDir val="col"/>
        <c:grouping val="stacked"/>
        <c:varyColors val="0"/>
        <c:ser>
          <c:idx val="0"/>
          <c:order val="0"/>
          <c:tx>
            <c:strRef>
              <c:f>Sheet1!$B$1</c:f>
              <c:strCache>
                <c:ptCount val="1"/>
                <c:pt idx="0">
                  <c:v>Auto-verified</c:v>
                </c:pt>
              </c:strCache>
            </c:strRef>
          </c:tx>
          <c:spPr>
            <a:solidFill>
              <a:srgbClr val="1E8A4C"/>
            </a:solidFill>
            <a:effectLst/>
          </c:spPr>
          <c:invertIfNegative val="0"/>
          <c:dLbls>
            <c:numFmt formatCode="0;-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Word-overlap gate
(text, Gemini)</c:v>
                  </c:pt>
                  <c:pt idx="1">
                    <c:v>NLI gate
(text, Gemini)</c:v>
                  </c:pt>
                  <c:pt idx="2">
                    <c:v>NLI gate
(audio, CLI)</c:v>
                  </c:pt>
                  <c:pt idx="3">
                    <c:v>NLI gate
(audio, web)</c:v>
                  </c:pt>
                </c:lvl>
              </c:multiLvlStrCache>
            </c:multiLvlStrRef>
          </c:cat>
          <c:val>
            <c:numRef>
              <c:f>Sheet1!$B$2:$B$5</c:f>
              <c:numCache>
                <c:formatCode>General</c:formatCode>
                <c:ptCount val="4"/>
                <c:pt idx="0">
                  <c:v>0</c:v>
                </c:pt>
                <c:pt idx="1">
                  <c:v>17</c:v>
                </c:pt>
                <c:pt idx="2">
                  <c:v>23</c:v>
                </c:pt>
                <c:pt idx="3">
                  <c:v>19</c:v>
                </c:pt>
              </c:numCache>
            </c:numRef>
          </c:val>
        </c:ser>
        <c:ser>
          <c:idx val="1"/>
          <c:order val="1"/>
          <c:tx>
            <c:strRef>
              <c:f>Sheet1!$C$1</c:f>
              <c:strCache>
                <c:ptCount val="1"/>
                <c:pt idx="0">
                  <c:v>Held for review</c:v>
                </c:pt>
              </c:strCache>
            </c:strRef>
          </c:tx>
          <c:spPr>
            <a:solidFill>
              <a:srgbClr val="C98311"/>
            </a:solidFill>
            <a:effectLst/>
          </c:spPr>
          <c:invertIfNegative val="0"/>
          <c:dLbls>
            <c:numFmt formatCode="0;-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Word-overlap gate
(text, Gemini)</c:v>
                  </c:pt>
                  <c:pt idx="1">
                    <c:v>NLI gate
(text, Gemini)</c:v>
                  </c:pt>
                  <c:pt idx="2">
                    <c:v>NLI gate
(audio, CLI)</c:v>
                  </c:pt>
                  <c:pt idx="3">
                    <c:v>NLI gate
(audio, web)</c:v>
                  </c:pt>
                </c:lvl>
              </c:multiLvlStrCache>
            </c:multiLvlStrRef>
          </c:cat>
          <c:val>
            <c:numRef>
              <c:f>Sheet1!$C$2:$C$5</c:f>
              <c:numCache>
                <c:formatCode>General</c:formatCode>
                <c:ptCount val="4"/>
                <c:pt idx="0">
                  <c:v>11</c:v>
                </c:pt>
                <c:pt idx="1">
                  <c:v>1</c:v>
                </c:pt>
                <c:pt idx="2">
                  <c:v>3</c:v>
                </c:pt>
                <c:pt idx="3">
                  <c:v>0</c:v>
                </c:pt>
              </c:numCache>
            </c:numRef>
          </c:val>
        </c:ser>
        <c:ser>
          <c:idx val="2"/>
          <c:order val="2"/>
          <c:tx>
            <c:strRef>
              <c:f>Sheet1!$D$1</c:f>
              <c:strCache>
                <c:ptCount val="1"/>
                <c:pt idx="0">
                  <c:v>Blocked</c:v>
                </c:pt>
              </c:strCache>
            </c:strRef>
          </c:tx>
          <c:spPr>
            <a:solidFill>
              <a:srgbClr val="D1432B"/>
            </a:solidFill>
            <a:effectLst/>
          </c:spPr>
          <c:invertIfNegative val="0"/>
          <c:dLbls>
            <c:numFmt formatCode="0;-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Word-overlap gate
(text, Gemini)</c:v>
                  </c:pt>
                  <c:pt idx="1">
                    <c:v>NLI gate
(text, Gemini)</c:v>
                  </c:pt>
                  <c:pt idx="2">
                    <c:v>NLI gate
(audio, CLI)</c:v>
                  </c:pt>
                  <c:pt idx="3">
                    <c:v>NLI gate
(audio, web)</c:v>
                  </c:pt>
                </c:lvl>
              </c:multiLvlStrCache>
            </c:multiLvlStrRef>
          </c:cat>
          <c:val>
            <c:numRef>
              <c:f>Sheet1!$D$2:$D$5</c:f>
              <c:numCache>
                <c:formatCode>General</c:formatCode>
                <c:ptCount val="4"/>
                <c:pt idx="0">
                  <c:v>10</c:v>
                </c:pt>
                <c:pt idx="1">
                  <c:v>1</c:v>
                </c:pt>
                <c:pt idx="2">
                  <c:v>0</c:v>
                </c:pt>
                <c:pt idx="3">
                  <c:v>1</c:v>
                </c:pt>
              </c:numCache>
            </c:numRef>
          </c:val>
        </c:ser>
        <c:dLbls>
          <c:numFmt formatCode="0;-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E6E7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6E7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Red text = placeholders to fill in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Keywords map to the search terms in the patent disclosure. Numbers in the abstract are from our own runs on PriMock57 day1_consultation01.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figures: Astute Analytica USD 1.2bn (2025) to 15.1bn (2035), 28.8% CAGR; Towards Healthcare USD 1.39bn to 8.93bn, 20.48% CAGR.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example 1 is a real ASR error from our own pipeline, not a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Word-overlap run: 21 facts, 11 needs review, 10 rejected (0 verified). NLI text run: 19 facts. Audio CLI: 26 facts. Audio web: 20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6"/>
        </a:solidFill>
      </p:bgPr>
    </p:bg>
    <p:spTree>
      <p:nvGrpSpPr>
        <p:cNvPr id="1" name=""/>
        <p:cNvGrpSpPr/>
        <p:nvPr/>
      </p:nvGrpSpPr>
      <p:grpSpPr>
        <a:xfrm>
          <a:off x="0" y="0"/>
          <a:ext cx="0" cy="0"/>
          <a:chOff x="0" y="0"/>
          <a:chExt cx="0" cy="0"/>
        </a:xfrm>
      </p:grpSpPr>
      <p:sp>
        <p:nvSpPr>
          <p:cNvPr id="2" name="Text 0"/>
          <p:cNvSpPr txBox="1"/>
          <p:nvPr/>
        </p:nvSpPr>
        <p:spPr>
          <a:xfrm>
            <a:off x="731520" y="731520"/>
            <a:ext cx="7315200" cy="365760"/>
          </a:xfrm>
          <a:prstGeom prst="rect">
            <a:avLst/>
          </a:prstGeom>
          <a:noFill/>
          <a:ln/>
        </p:spPr>
        <p:txBody>
          <a:bodyPr wrap="square" lIns="0" tIns="0" rIns="0" bIns="0" rtlCol="0" anchor="t"/>
          <a:lstStyle/>
          <a:p>
            <a:pPr indent="0" marL="0">
              <a:buNone/>
            </a:pPr>
            <a:r>
              <a:rPr lang="en-US" sz="1300" b="1" spc="300" kern="0" dirty="0">
                <a:solidFill>
                  <a:srgbClr val="8FD3C3"/>
                </a:solidFill>
                <a:latin typeface="Calibri" pitchFamily="34" charset="0"/>
                <a:ea typeface="Calibri" pitchFamily="34" charset="-122"/>
                <a:cs typeface="Calibri" pitchFamily="34" charset="-120"/>
              </a:rPr>
              <a:t>REVIEW 1 &amp; REVIEW 2</a:t>
            </a:r>
            <a:endParaRPr lang="en-US" sz="1300" dirty="0"/>
          </a:p>
        </p:txBody>
      </p:sp>
      <p:sp>
        <p:nvSpPr>
          <p:cNvPr id="3" name="Text 1"/>
          <p:cNvSpPr txBox="1"/>
          <p:nvPr/>
        </p:nvSpPr>
        <p:spPr>
          <a:xfrm>
            <a:off x="731520" y="1234440"/>
            <a:ext cx="10515600" cy="9144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Confidence-Gated AI Clinical Documentation</a:t>
            </a:r>
            <a:endParaRPr lang="en-US" sz="4000" dirty="0"/>
          </a:p>
        </p:txBody>
      </p:sp>
      <p:sp>
        <p:nvSpPr>
          <p:cNvPr id="4" name="Text 2"/>
          <p:cNvSpPr txBox="1"/>
          <p:nvPr/>
        </p:nvSpPr>
        <p:spPr>
          <a:xfrm>
            <a:off x="731520" y="2240280"/>
            <a:ext cx="10241280" cy="1005840"/>
          </a:xfrm>
          <a:prstGeom prst="rect">
            <a:avLst/>
          </a:prstGeom>
          <a:noFill/>
          <a:ln/>
        </p:spPr>
        <p:txBody>
          <a:bodyPr wrap="square" lIns="0" tIns="0" rIns="0" bIns="0" rtlCol="0" anchor="t"/>
          <a:lstStyle/>
          <a:p>
            <a:pPr indent="0" marL="0">
              <a:buNone/>
            </a:pPr>
            <a:r>
              <a:rPr lang="en-US" sz="1800" dirty="0">
                <a:solidFill>
                  <a:srgbClr val="C8DAD6"/>
                </a:solidFill>
                <a:latin typeface="Calibri" pitchFamily="34" charset="0"/>
                <a:ea typeface="Calibri" pitchFamily="34" charset="-122"/>
                <a:cs typeface="Calibri" pitchFamily="34" charset="-120"/>
              </a:rPr>
              <a:t>Hard-blocking unverified AI-drafted facts from the medical record using acoustic, entailment and clinical-plausibility signals, with adaptive per-clinician thresholds and an append-only audit trail</a:t>
            </a:r>
            <a:endParaRPr lang="en-US" sz="1800" dirty="0"/>
          </a:p>
        </p:txBody>
      </p:sp>
      <p:sp>
        <p:nvSpPr>
          <p:cNvPr id="5" name="Shape 3"/>
          <p:cNvSpPr/>
          <p:nvPr/>
        </p:nvSpPr>
        <p:spPr>
          <a:xfrm>
            <a:off x="731520" y="3611880"/>
            <a:ext cx="310896" cy="310896"/>
          </a:xfrm>
          <a:prstGeom prst="ellipse">
            <a:avLst/>
          </a:prstGeom>
          <a:solidFill>
            <a:srgbClr val="1E8A4C"/>
          </a:solidFill>
          <a:ln w="12700">
            <a:solidFill>
              <a:srgbClr val="1E8A4C"/>
            </a:solidFill>
            <a:prstDash val="solid"/>
          </a:ln>
        </p:spPr>
      </p:sp>
      <p:sp>
        <p:nvSpPr>
          <p:cNvPr id="6" name="Text 4"/>
          <p:cNvSpPr txBox="1"/>
          <p:nvPr/>
        </p:nvSpPr>
        <p:spPr>
          <a:xfrm>
            <a:off x="1143000" y="3630168"/>
            <a:ext cx="1554480" cy="292608"/>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Verified</a:t>
            </a:r>
            <a:endParaRPr lang="en-US" sz="1300" dirty="0"/>
          </a:p>
        </p:txBody>
      </p:sp>
      <p:sp>
        <p:nvSpPr>
          <p:cNvPr id="7" name="Shape 5"/>
          <p:cNvSpPr/>
          <p:nvPr/>
        </p:nvSpPr>
        <p:spPr>
          <a:xfrm>
            <a:off x="2651760" y="3611880"/>
            <a:ext cx="310896" cy="310896"/>
          </a:xfrm>
          <a:prstGeom prst="ellipse">
            <a:avLst/>
          </a:prstGeom>
          <a:solidFill>
            <a:srgbClr val="C98311"/>
          </a:solidFill>
          <a:ln w="12700">
            <a:solidFill>
              <a:srgbClr val="C98311"/>
            </a:solidFill>
            <a:prstDash val="solid"/>
          </a:ln>
        </p:spPr>
      </p:sp>
      <p:sp>
        <p:nvSpPr>
          <p:cNvPr id="8" name="Text 6"/>
          <p:cNvSpPr txBox="1"/>
          <p:nvPr/>
        </p:nvSpPr>
        <p:spPr>
          <a:xfrm>
            <a:off x="3063240" y="3630168"/>
            <a:ext cx="1554480" cy="292608"/>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Needs review</a:t>
            </a:r>
            <a:endParaRPr lang="en-US" sz="1300" dirty="0"/>
          </a:p>
        </p:txBody>
      </p:sp>
      <p:sp>
        <p:nvSpPr>
          <p:cNvPr id="9" name="Shape 7"/>
          <p:cNvSpPr/>
          <p:nvPr/>
        </p:nvSpPr>
        <p:spPr>
          <a:xfrm>
            <a:off x="4572000" y="3611880"/>
            <a:ext cx="310896" cy="310896"/>
          </a:xfrm>
          <a:prstGeom prst="ellipse">
            <a:avLst/>
          </a:prstGeom>
          <a:solidFill>
            <a:srgbClr val="D1432B"/>
          </a:solidFill>
          <a:ln w="12700">
            <a:solidFill>
              <a:srgbClr val="D1432B"/>
            </a:solidFill>
            <a:prstDash val="solid"/>
          </a:ln>
        </p:spPr>
      </p:sp>
      <p:sp>
        <p:nvSpPr>
          <p:cNvPr id="10" name="Text 8"/>
          <p:cNvSpPr txBox="1"/>
          <p:nvPr/>
        </p:nvSpPr>
        <p:spPr>
          <a:xfrm>
            <a:off x="4983480" y="3630168"/>
            <a:ext cx="1554480" cy="292608"/>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Blocked</a:t>
            </a:r>
            <a:endParaRPr lang="en-US" sz="1300" dirty="0"/>
          </a:p>
        </p:txBody>
      </p:sp>
      <p:sp>
        <p:nvSpPr>
          <p:cNvPr id="11" name="Text 9"/>
          <p:cNvSpPr txBox="1"/>
          <p:nvPr/>
        </p:nvSpPr>
        <p:spPr>
          <a:xfrm>
            <a:off x="731520" y="4754880"/>
            <a:ext cx="105156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Team: </a:t>
            </a:r>
            <a:pPr indent="0" marL="0">
              <a:buNone/>
            </a:pPr>
            <a:r>
              <a:rPr lang="en-US" sz="1500" b="1" dirty="0">
                <a:solidFill>
                  <a:srgbClr val="FF7B7B"/>
                </a:solidFill>
                <a:latin typeface="Calibri" pitchFamily="34" charset="0"/>
                <a:ea typeface="Calibri" pitchFamily="34" charset="-122"/>
                <a:cs typeface="Calibri" pitchFamily="34" charset="-120"/>
              </a:rPr>
              <a:t>[Name, Reg. No.]  ·  [Name, Reg. No.]  ·  [Name, Reg. No.]</a:t>
            </a:r>
            <a:endParaRPr lang="en-US" sz="1500" dirty="0"/>
          </a:p>
        </p:txBody>
      </p:sp>
      <p:sp>
        <p:nvSpPr>
          <p:cNvPr id="12" name="Text 10"/>
          <p:cNvSpPr txBox="1"/>
          <p:nvPr/>
        </p:nvSpPr>
        <p:spPr>
          <a:xfrm>
            <a:off x="731520" y="5166360"/>
            <a:ext cx="105156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Guide: </a:t>
            </a:r>
            <a:pPr indent="0" marL="0">
              <a:buNone/>
            </a:pPr>
            <a:r>
              <a:rPr lang="en-US" sz="1500" b="1" dirty="0">
                <a:solidFill>
                  <a:srgbClr val="FF7B7B"/>
                </a:solidFill>
                <a:latin typeface="Calibri" pitchFamily="34" charset="0"/>
                <a:ea typeface="Calibri" pitchFamily="34" charset="-122"/>
                <a:cs typeface="Calibri" pitchFamily="34" charset="-120"/>
              </a:rPr>
              <a:t>[Faculty name]</a:t>
            </a:r>
            <a:pPr indent="0" marL="0">
              <a:buNone/>
            </a:pPr>
            <a:r>
              <a:rPr lang="en-US" sz="1500" b="1" dirty="0">
                <a:solidFill>
                  <a:srgbClr val="FFFFFF"/>
                </a:solidFill>
                <a:latin typeface="Calibri" pitchFamily="34" charset="0"/>
                <a:ea typeface="Calibri" pitchFamily="34" charset="-122"/>
                <a:cs typeface="Calibri" pitchFamily="34" charset="-120"/>
              </a:rPr>
              <a:t>     Course / School: </a:t>
            </a:r>
            <a:pPr indent="0" marL="0">
              <a:buNone/>
            </a:pPr>
            <a:r>
              <a:rPr lang="en-US" sz="1500" b="1" dirty="0">
                <a:solidFill>
                  <a:srgbClr val="FF7B7B"/>
                </a:solidFill>
                <a:latin typeface="Calibri" pitchFamily="34" charset="0"/>
                <a:ea typeface="Calibri" pitchFamily="34" charset="-122"/>
                <a:cs typeface="Calibri" pitchFamily="34" charset="-120"/>
              </a:rPr>
              <a:t>[Course code, School]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TITLE, KEYWORDS AND ABSTRACT</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Keywords and abstract</a:t>
            </a:r>
            <a:endParaRPr lang="en-US" sz="3000" dirty="0"/>
          </a:p>
        </p:txBody>
      </p:sp>
      <p:sp>
        <p:nvSpPr>
          <p:cNvPr id="4" name="Text 2"/>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48640" y="1417320"/>
            <a:ext cx="3566160" cy="4663440"/>
          </a:xfrm>
          <a:prstGeom prst="roundRect">
            <a:avLst>
              <a:gd name="adj" fmla="val 2051"/>
            </a:avLst>
          </a:prstGeom>
          <a:solidFill>
            <a:srgbClr val="E3F1EE"/>
          </a:solidFill>
          <a:ln w="12700">
            <a:solidFill>
              <a:srgbClr val="E3F1EE"/>
            </a:solidFill>
            <a:prstDash val="solid"/>
          </a:ln>
        </p:spPr>
      </p:sp>
      <p:sp>
        <p:nvSpPr>
          <p:cNvPr id="6" name="Text 4"/>
          <p:cNvSpPr txBox="1"/>
          <p:nvPr/>
        </p:nvSpPr>
        <p:spPr>
          <a:xfrm>
            <a:off x="777240" y="1600200"/>
            <a:ext cx="3108960" cy="365760"/>
          </a:xfrm>
          <a:prstGeom prst="rect">
            <a:avLst/>
          </a:prstGeom>
          <a:noFill/>
          <a:ln/>
        </p:spPr>
        <p:txBody>
          <a:bodyPr wrap="square" lIns="0" tIns="0" rIns="0" bIns="0" rtlCol="0" anchor="t"/>
          <a:lstStyle/>
          <a:p>
            <a:pPr indent="0" marL="0">
              <a:buNone/>
            </a:pPr>
            <a:r>
              <a:rPr lang="en-US" sz="1800" b="1" dirty="0">
                <a:solidFill>
                  <a:srgbClr val="0F2A36"/>
                </a:solidFill>
                <a:latin typeface="Cambria" pitchFamily="34" charset="0"/>
                <a:ea typeface="Cambria" pitchFamily="34" charset="-122"/>
                <a:cs typeface="Cambria" pitchFamily="34" charset="-120"/>
              </a:rPr>
              <a:t>Keywords</a:t>
            </a:r>
            <a:endParaRPr lang="en-US" sz="1800" dirty="0"/>
          </a:p>
        </p:txBody>
      </p:sp>
      <p:sp>
        <p:nvSpPr>
          <p:cNvPr id="7" name="Text 5"/>
          <p:cNvSpPr txBox="1"/>
          <p:nvPr/>
        </p:nvSpPr>
        <p:spPr>
          <a:xfrm>
            <a:off x="777240" y="2057400"/>
            <a:ext cx="3200400" cy="393192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Ambient clinical documentation</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AI medical scribe</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Speech recognition confidence</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Natural language inference (NLI)</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Hallucination detection</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Evidence-grounded generation</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Clinical decision support</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Human-in-the-loop review</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Adaptive thresholds</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Audit trail / provenance</a:t>
            </a:r>
            <a:endParaRPr lang="en-US" sz="1350" dirty="0"/>
          </a:p>
        </p:txBody>
      </p:sp>
      <p:sp>
        <p:nvSpPr>
          <p:cNvPr id="8" name="Text 6"/>
          <p:cNvSpPr txBox="1"/>
          <p:nvPr/>
        </p:nvSpPr>
        <p:spPr>
          <a:xfrm>
            <a:off x="4480560" y="1463040"/>
            <a:ext cx="7132320" cy="365760"/>
          </a:xfrm>
          <a:prstGeom prst="rect">
            <a:avLst/>
          </a:prstGeom>
          <a:noFill/>
          <a:ln/>
        </p:spPr>
        <p:txBody>
          <a:bodyPr wrap="square" lIns="0" tIns="0" rIns="0" bIns="0" rtlCol="0" anchor="t"/>
          <a:lstStyle/>
          <a:p>
            <a:pPr indent="0" marL="0">
              <a:buNone/>
            </a:pPr>
            <a:r>
              <a:rPr lang="en-US" sz="1800" b="1" dirty="0">
                <a:solidFill>
                  <a:srgbClr val="0F2A36"/>
                </a:solidFill>
                <a:latin typeface="Cambria" pitchFamily="34" charset="0"/>
                <a:ea typeface="Cambria" pitchFamily="34" charset="-122"/>
                <a:cs typeface="Cambria" pitchFamily="34" charset="-120"/>
              </a:rPr>
              <a:t>Abstract</a:t>
            </a:r>
            <a:endParaRPr lang="en-US" sz="1800" dirty="0"/>
          </a:p>
        </p:txBody>
      </p:sp>
      <p:sp>
        <p:nvSpPr>
          <p:cNvPr id="9" name="Text 7"/>
          <p:cNvSpPr txBox="1"/>
          <p:nvPr/>
        </p:nvSpPr>
        <p:spPr>
          <a:xfrm>
            <a:off x="4480560" y="1920240"/>
            <a:ext cx="7178040" cy="4206240"/>
          </a:xfrm>
          <a:prstGeom prst="rect">
            <a:avLst/>
          </a:prstGeom>
          <a:noFill/>
          <a:ln/>
        </p:spPr>
        <p:txBody>
          <a:bodyPr wrap="square" lIns="0" tIns="0" rIns="0" bIns="0" rtlCol="0" anchor="t"/>
          <a:lstStyle/>
          <a:p>
            <a:pPr indent="0" marL="0">
              <a:spcAft>
                <a:spcPts val="400"/>
              </a:spcAft>
              <a:buNone/>
            </a:pPr>
            <a:r>
              <a:rPr lang="en-US" sz="1450" dirty="0">
                <a:solidFill>
                  <a:srgbClr val="27363D"/>
                </a:solidFill>
                <a:latin typeface="Calibri" pitchFamily="34" charset="0"/>
                <a:ea typeface="Calibri" pitchFamily="34" charset="-122"/>
                <a:cs typeface="Calibri" pitchFamily="34" charset="-120"/>
              </a:rPr>
              <a:t>AI scribes transcribe a consultation and let a language model draft the note, but misheard words, invented details and unsafe instructions reach the draft, and current products only </a:t>
            </a:r>
            <a:pPr indent="0" marL="0">
              <a:spcAft>
                <a:spcPts val="400"/>
              </a:spcAft>
              <a:buNone/>
            </a:pPr>
            <a:r>
              <a:rPr lang="en-US" sz="1450" b="1" dirty="0">
                <a:solidFill>
                  <a:srgbClr val="27363D"/>
                </a:solidFill>
                <a:latin typeface="Calibri" pitchFamily="34" charset="0"/>
                <a:ea typeface="Calibri" pitchFamily="34" charset="-122"/>
                <a:cs typeface="Calibri" pitchFamily="34" charset="-120"/>
              </a:rPr>
              <a:t>show</a:t>
            </a:r>
            <a:pPr indent="0" marL="0">
              <a:spcAft>
                <a:spcPts val="400"/>
              </a:spcAft>
              <a:buNone/>
            </a:pPr>
            <a:r>
              <a:rPr lang="en-US" sz="1450" dirty="0">
                <a:solidFill>
                  <a:srgbClr val="27363D"/>
                </a:solidFill>
                <a:latin typeface="Calibri" pitchFamily="34" charset="0"/>
                <a:ea typeface="Calibri" pitchFamily="34" charset="-122"/>
                <a:cs typeface="Calibri" pitchFamily="34" charset="-120"/>
              </a:rPr>
              <a:t> the clinician where each sentence came from. We propose a gate that </a:t>
            </a:r>
            <a:pPr indent="0" marL="0">
              <a:spcAft>
                <a:spcPts val="400"/>
              </a:spcAft>
              <a:buNone/>
            </a:pPr>
            <a:r>
              <a:rPr lang="en-US" sz="1450" b="1" dirty="0">
                <a:solidFill>
                  <a:srgbClr val="27363D"/>
                </a:solidFill>
                <a:latin typeface="Calibri" pitchFamily="34" charset="0"/>
                <a:ea typeface="Calibri" pitchFamily="34" charset="-122"/>
                <a:cs typeface="Calibri" pitchFamily="34" charset="-120"/>
              </a:rPr>
              <a:t>enforces</a:t>
            </a:r>
            <a:pPr indent="0" marL="0">
              <a:spcAft>
                <a:spcPts val="400"/>
              </a:spcAft>
              <a:buNone/>
            </a:pPr>
            <a:r>
              <a:rPr lang="en-US" sz="1450" dirty="0">
                <a:solidFill>
                  <a:srgbClr val="27363D"/>
                </a:solidFill>
                <a:latin typeface="Calibri" pitchFamily="34" charset="0"/>
                <a:ea typeface="Calibri" pitchFamily="34" charset="-122"/>
                <a:cs typeface="Calibri" pitchFamily="34" charset="-120"/>
              </a:rPr>
              <a:t> evidence: every drafted fact must cite transcript segments and quote them verbatim, and is auto-inserted only if (0) the quote really occurs in the cited segment, (1) the speech recogniser was confident about exactly those words, (2) an NLI model finds the evidence entails, and does not contradict, the fact, and (3) it does not conflict clinically with the rest of the encounter. Failing facts are hard-blocked to a review queue with one-click audio replay; clinician decisions adapt per-field thresholds; every decision is logged append-only. On real PriMock57 consultation audio the prototype auto-verified 23 of 26 drafted facts, held a fact corrupted by a real ASR error for review, and measured 17.5 % WER for the local recogniser.</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INTRODUCTION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Introduction: AI scribes are arriving fast</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[9] AWS HealthScribe docs; [10] Abridge Linked Evidence; [15] Astute Analytica; [16] Towards Healthcare</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3</a:t>
            </a:r>
            <a:endParaRPr lang="en-US" sz="900" dirty="0"/>
          </a:p>
        </p:txBody>
      </p:sp>
      <p:sp>
        <p:nvSpPr>
          <p:cNvPr id="6" name="Text 4"/>
          <p:cNvSpPr txBox="1"/>
          <p:nvPr/>
        </p:nvSpPr>
        <p:spPr>
          <a:xfrm>
            <a:off x="548640" y="1463040"/>
            <a:ext cx="6675120" cy="420624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rgbClr val="27363D"/>
                </a:solidFill>
                <a:latin typeface="Calibri" pitchFamily="34" charset="0"/>
                <a:ea typeface="Calibri" pitchFamily="34" charset="-122"/>
                <a:cs typeface="Calibri" pitchFamily="34" charset="-120"/>
              </a:rPr>
              <a:t>Ambient AI scribes </a:t>
            </a:r>
            <a:pPr indent="0" marL="0">
              <a:buNone/>
            </a:pPr>
            <a:r>
              <a:rPr lang="en-US" sz="1500" dirty="0">
                <a:solidFill>
                  <a:srgbClr val="27363D"/>
                </a:solidFill>
                <a:latin typeface="Calibri" pitchFamily="34" charset="0"/>
                <a:ea typeface="Calibri" pitchFamily="34" charset="-122"/>
                <a:cs typeface="Calibri" pitchFamily="34" charset="-120"/>
              </a:rPr>
              <a:t>record the doctor-patient conversation, transcribe it (ASR) and have a large language model draft the clinical note (chief complaint, history, medications, assessment, plan).</a:t>
            </a:r>
            <a:endParaRPr lang="en-US" sz="1500" dirty="0"/>
          </a:p>
          <a:p>
            <a:pPr marL="203200" indent="-203200">
              <a:spcAft>
                <a:spcPts val="600"/>
              </a:spcAft>
              <a:buSzPct val="100000"/>
              <a:buChar char="•"/>
            </a:pPr>
            <a:r>
              <a:rPr lang="en-US" sz="1500" b="1" dirty="0">
                <a:solidFill>
                  <a:srgbClr val="27363D"/>
                </a:solidFill>
                <a:latin typeface="Calibri" pitchFamily="34" charset="0"/>
                <a:ea typeface="Calibri" pitchFamily="34" charset="-122"/>
                <a:cs typeface="Calibri" pitchFamily="34" charset="-120"/>
              </a:rPr>
              <a:t>Deployed products: </a:t>
            </a:r>
            <a:pPr indent="0" marL="0">
              <a:buNone/>
            </a:pPr>
            <a:r>
              <a:rPr lang="en-US" sz="1500" dirty="0">
                <a:solidFill>
                  <a:srgbClr val="27363D"/>
                </a:solidFill>
                <a:latin typeface="Calibri" pitchFamily="34" charset="0"/>
                <a:ea typeface="Calibri" pitchFamily="34" charset="-122"/>
                <a:cs typeface="Calibri" pitchFamily="34" charset="-120"/>
              </a:rPr>
              <a:t>Nuance/Microsoft DAX Copilot, Abridge, Suki, AWS HealthScribe, Augnito.</a:t>
            </a:r>
            <a:endParaRPr lang="en-US" sz="1500" dirty="0"/>
          </a:p>
          <a:p>
            <a:pPr marL="203200" indent="-203200">
              <a:spcAft>
                <a:spcPts val="600"/>
              </a:spcAft>
              <a:buSzPct val="100000"/>
              <a:buChar char="•"/>
            </a:pPr>
            <a:r>
              <a:rPr lang="en-US" sz="1500" b="1" dirty="0">
                <a:solidFill>
                  <a:srgbClr val="27363D"/>
                </a:solidFill>
                <a:latin typeface="Calibri" pitchFamily="34" charset="0"/>
                <a:ea typeface="Calibri" pitchFamily="34" charset="-122"/>
                <a:cs typeface="Calibri" pitchFamily="34" charset="-120"/>
              </a:rPr>
              <a:t>Trust mechanism today = evidence linking. </a:t>
            </a:r>
            <a:pPr indent="0" marL="0">
              <a:buNone/>
            </a:pPr>
            <a:r>
              <a:rPr lang="en-US" sz="1500" dirty="0">
                <a:solidFill>
                  <a:srgbClr val="27363D"/>
                </a:solidFill>
                <a:latin typeface="Calibri" pitchFamily="34" charset="0"/>
                <a:ea typeface="Calibri" pitchFamily="34" charset="-122"/>
                <a:cs typeface="Calibri" pitchFamily="34" charset="-120"/>
              </a:rPr>
              <a:t>AWS HealthScribe attaches transcript segment ids to every summary sentence [9]; Abridge lets the clinician highlight note text and replay the source audio [10].</a:t>
            </a:r>
            <a:endParaRPr lang="en-US" sz="1500" dirty="0"/>
          </a:p>
          <a:p>
            <a:pPr marL="203200" indent="-203200">
              <a:spcAft>
                <a:spcPts val="600"/>
              </a:spcAft>
              <a:buSzPct val="100000"/>
              <a:buChar char="•"/>
            </a:pPr>
            <a:r>
              <a:rPr lang="en-US" sz="1500" b="1" dirty="0">
                <a:solidFill>
                  <a:srgbClr val="27363D"/>
                </a:solidFill>
                <a:latin typeface="Calibri" pitchFamily="34" charset="0"/>
                <a:ea typeface="Calibri" pitchFamily="34" charset="-122"/>
                <a:cs typeface="Calibri" pitchFamily="34" charset="-120"/>
              </a:rPr>
              <a:t>But the clinician must still verify every line. </a:t>
            </a:r>
            <a:pPr indent="0" marL="0">
              <a:buNone/>
            </a:pPr>
            <a:r>
              <a:rPr lang="en-US" sz="1500" dirty="0">
                <a:solidFill>
                  <a:srgbClr val="27363D"/>
                </a:solidFill>
                <a:latin typeface="Calibri" pitchFamily="34" charset="0"/>
                <a:ea typeface="Calibri" pitchFamily="34" charset="-122"/>
                <a:cs typeface="Calibri" pitchFamily="34" charset="-120"/>
              </a:rPr>
              <a:t>Linking helps a human check; it does not stop an unsupported sentence from entering the record.</a:t>
            </a:r>
            <a:endParaRPr lang="en-US" sz="1500" dirty="0"/>
          </a:p>
        </p:txBody>
      </p:sp>
      <p:sp>
        <p:nvSpPr>
          <p:cNvPr id="7" name="Shape 5"/>
          <p:cNvSpPr/>
          <p:nvPr/>
        </p:nvSpPr>
        <p:spPr>
          <a:xfrm>
            <a:off x="7680960" y="1463040"/>
            <a:ext cx="3931920" cy="4206240"/>
          </a:xfrm>
          <a:prstGeom prst="roundRect">
            <a:avLst>
              <a:gd name="adj" fmla="val 1860"/>
            </a:avLst>
          </a:prstGeom>
          <a:solidFill>
            <a:srgbClr val="E3F1EE"/>
          </a:solidFill>
          <a:ln w="12700">
            <a:solidFill>
              <a:srgbClr val="E3F1EE"/>
            </a:solidFill>
            <a:prstDash val="solid"/>
          </a:ln>
        </p:spPr>
      </p:sp>
      <p:sp>
        <p:nvSpPr>
          <p:cNvPr id="8" name="Text 6"/>
          <p:cNvSpPr txBox="1"/>
          <p:nvPr/>
        </p:nvSpPr>
        <p:spPr>
          <a:xfrm>
            <a:off x="7909560" y="1645920"/>
            <a:ext cx="3566160" cy="365760"/>
          </a:xfrm>
          <a:prstGeom prst="rect">
            <a:avLst/>
          </a:prstGeom>
          <a:noFill/>
          <a:ln/>
        </p:spPr>
        <p:txBody>
          <a:bodyPr wrap="square" lIns="0" tIns="0" rIns="0" bIns="0" rtlCol="0" anchor="t"/>
          <a:lstStyle/>
          <a:p>
            <a:pPr indent="0" marL="0">
              <a:buNone/>
            </a:pPr>
            <a:r>
              <a:rPr lang="en-US" sz="1300" b="1" dirty="0">
                <a:solidFill>
                  <a:srgbClr val="2A7F6F"/>
                </a:solidFill>
                <a:latin typeface="Calibri" pitchFamily="34" charset="0"/>
                <a:ea typeface="Calibri" pitchFamily="34" charset="-122"/>
                <a:cs typeface="Calibri" pitchFamily="34" charset="-120"/>
              </a:rPr>
              <a:t>Market (analyst estimates)</a:t>
            </a:r>
            <a:endParaRPr lang="en-US" sz="1300" dirty="0"/>
          </a:p>
        </p:txBody>
      </p:sp>
      <p:sp>
        <p:nvSpPr>
          <p:cNvPr id="9" name="Text 7"/>
          <p:cNvSpPr txBox="1"/>
          <p:nvPr/>
        </p:nvSpPr>
        <p:spPr>
          <a:xfrm>
            <a:off x="7909560" y="2057400"/>
            <a:ext cx="356616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USD 1.2-1.4 bn</a:t>
            </a:r>
            <a:endParaRPr lang="en-US" sz="4000" dirty="0"/>
          </a:p>
        </p:txBody>
      </p:sp>
      <p:sp>
        <p:nvSpPr>
          <p:cNvPr id="10" name="Text 8"/>
          <p:cNvSpPr txBox="1"/>
          <p:nvPr/>
        </p:nvSpPr>
        <p:spPr>
          <a:xfrm>
            <a:off x="7909560" y="2807208"/>
            <a:ext cx="356616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AI scribe / clinical documentation market, 2025 [15][16]</a:t>
            </a:r>
            <a:endParaRPr lang="en-US" sz="1250" dirty="0"/>
          </a:p>
        </p:txBody>
      </p:sp>
      <p:sp>
        <p:nvSpPr>
          <p:cNvPr id="11" name="Text 9"/>
          <p:cNvSpPr txBox="1"/>
          <p:nvPr/>
        </p:nvSpPr>
        <p:spPr>
          <a:xfrm>
            <a:off x="7909560" y="3429000"/>
            <a:ext cx="3566160" cy="731520"/>
          </a:xfrm>
          <a:prstGeom prst="rect">
            <a:avLst/>
          </a:prstGeom>
          <a:noFill/>
          <a:ln/>
        </p:spPr>
        <p:txBody>
          <a:bodyPr wrap="square" lIns="0" tIns="0" rIns="0" bIns="0" rtlCol="0" anchor="t"/>
          <a:lstStyle/>
          <a:p>
            <a:pPr indent="0" marL="0">
              <a:buNone/>
            </a:pPr>
            <a:r>
              <a:rPr lang="en-US" sz="4000" b="1" dirty="0">
                <a:solidFill>
                  <a:srgbClr val="2A7F6F"/>
                </a:solidFill>
                <a:latin typeface="Cambria" pitchFamily="34" charset="0"/>
                <a:ea typeface="Cambria" pitchFamily="34" charset="-122"/>
                <a:cs typeface="Cambria" pitchFamily="34" charset="-120"/>
              </a:rPr>
              <a:t>20-29 % CAGR</a:t>
            </a:r>
            <a:endParaRPr lang="en-US" sz="4000" dirty="0"/>
          </a:p>
        </p:txBody>
      </p:sp>
      <p:sp>
        <p:nvSpPr>
          <p:cNvPr id="12" name="Text 10"/>
          <p:cNvSpPr txBox="1"/>
          <p:nvPr/>
        </p:nvSpPr>
        <p:spPr>
          <a:xfrm>
            <a:off x="7909560" y="4178808"/>
            <a:ext cx="356616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projected to 2035; estimates vary by source [15][16]</a:t>
            </a:r>
            <a:endParaRPr lang="en-US" sz="1250" dirty="0"/>
          </a:p>
        </p:txBody>
      </p:sp>
      <p:sp>
        <p:nvSpPr>
          <p:cNvPr id="13" name="Text 11"/>
          <p:cNvSpPr txBox="1"/>
          <p:nvPr/>
        </p:nvSpPr>
        <p:spPr>
          <a:xfrm>
            <a:off x="7909560" y="4892040"/>
            <a:ext cx="3566160" cy="548640"/>
          </a:xfrm>
          <a:prstGeom prst="rect">
            <a:avLst/>
          </a:prstGeom>
          <a:noFill/>
          <a:ln/>
        </p:spPr>
        <p:txBody>
          <a:bodyPr wrap="square" lIns="0" tIns="0" rIns="0" bIns="0" rtlCol="0" anchor="t"/>
          <a:lstStyle/>
          <a:p>
            <a:pPr indent="0" marL="0">
              <a:buNone/>
            </a:pPr>
            <a:r>
              <a:rPr lang="en-US" sz="1100" i="1" dirty="0">
                <a:solidFill>
                  <a:srgbClr val="5E6E75"/>
                </a:solidFill>
                <a:latin typeface="Calibri" pitchFamily="34" charset="0"/>
                <a:ea typeface="Calibri" pitchFamily="34" charset="-122"/>
                <a:cs typeface="Calibri" pitchFamily="34" charset="-120"/>
              </a:rPr>
              <a:t>Figures are third-party projections, not our measurements.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PROBLEM STATEMENT</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Three kinds of error reach the AI-drafted note</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Examples 1 and 2 from our own run on PriMock57 day1_consultation01 audio [1]; example 3 from the synthetic gate-demo transcript</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463040"/>
            <a:ext cx="3474720" cy="3063240"/>
          </a:xfrm>
          <a:prstGeom prst="roundRect">
            <a:avLst>
              <a:gd name="adj" fmla="val 2388"/>
            </a:avLst>
          </a:prstGeom>
          <a:solidFill>
            <a:srgbClr val="E3F1EE"/>
          </a:solidFill>
          <a:ln w="12700">
            <a:solidFill>
              <a:srgbClr val="E3F1EE"/>
            </a:solidFill>
            <a:prstDash val="solid"/>
          </a:ln>
        </p:spPr>
      </p:sp>
      <p:sp>
        <p:nvSpPr>
          <p:cNvPr id="7" name="Shape 5"/>
          <p:cNvSpPr/>
          <p:nvPr/>
        </p:nvSpPr>
        <p:spPr>
          <a:xfrm>
            <a:off x="777240" y="1645920"/>
            <a:ext cx="457200" cy="457200"/>
          </a:xfrm>
          <a:prstGeom prst="ellipse">
            <a:avLst/>
          </a:prstGeom>
          <a:solidFill>
            <a:srgbClr val="C98311"/>
          </a:solidFill>
          <a:ln w="12700">
            <a:solidFill>
              <a:srgbClr val="C98311"/>
            </a:solidFill>
            <a:prstDash val="solid"/>
          </a:ln>
        </p:spPr>
      </p:sp>
      <p:sp>
        <p:nvSpPr>
          <p:cNvPr id="8" name="Text 6"/>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371600" y="1682496"/>
            <a:ext cx="2468880" cy="411480"/>
          </a:xfrm>
          <a:prstGeom prst="rect">
            <a:avLst/>
          </a:prstGeom>
          <a:noFill/>
          <a:ln/>
        </p:spPr>
        <p:txBody>
          <a:bodyPr wrap="square" lIns="0" tIns="0" rIns="0" bIns="0" rtlCol="0" anchor="t"/>
          <a:lstStyle/>
          <a:p>
            <a:pPr indent="0" marL="0">
              <a:buNone/>
            </a:pPr>
            <a:r>
              <a:rPr lang="en-US" sz="2000" b="1" dirty="0">
                <a:solidFill>
                  <a:srgbClr val="0F2A36"/>
                </a:solidFill>
                <a:latin typeface="Cambria" pitchFamily="34" charset="0"/>
                <a:ea typeface="Cambria" pitchFamily="34" charset="-122"/>
                <a:cs typeface="Cambria" pitchFamily="34" charset="-120"/>
              </a:rPr>
              <a:t>Misheard</a:t>
            </a:r>
            <a:endParaRPr lang="en-US" sz="2000" dirty="0"/>
          </a:p>
        </p:txBody>
      </p:sp>
      <p:sp>
        <p:nvSpPr>
          <p:cNvPr id="10" name="Text 8"/>
          <p:cNvSpPr txBox="1"/>
          <p:nvPr/>
        </p:nvSpPr>
        <p:spPr>
          <a:xfrm>
            <a:off x="777240" y="2240280"/>
            <a:ext cx="3017520" cy="320040"/>
          </a:xfrm>
          <a:prstGeom prst="rect">
            <a:avLst/>
          </a:prstGeom>
          <a:noFill/>
          <a:ln/>
        </p:spPr>
        <p:txBody>
          <a:bodyPr wrap="square" lIns="0" tIns="0" rIns="0" bIns="0" rtlCol="0" anchor="t"/>
          <a:lstStyle/>
          <a:p>
            <a:pPr indent="0" marL="0">
              <a:buNone/>
            </a:pPr>
            <a:r>
              <a:rPr lang="en-US" sz="1300" b="1" dirty="0">
                <a:solidFill>
                  <a:srgbClr val="C98311"/>
                </a:solidFill>
                <a:latin typeface="Calibri" pitchFamily="34" charset="0"/>
                <a:ea typeface="Calibri" pitchFamily="34" charset="-122"/>
                <a:cs typeface="Calibri" pitchFamily="34" charset="-120"/>
              </a:rPr>
              <a:t>Speech recognition error</a:t>
            </a:r>
            <a:endParaRPr lang="en-US" sz="1300" dirty="0"/>
          </a:p>
        </p:txBody>
      </p:sp>
      <p:sp>
        <p:nvSpPr>
          <p:cNvPr id="11" name="Text 9"/>
          <p:cNvSpPr txBox="1"/>
          <p:nvPr/>
        </p:nvSpPr>
        <p:spPr>
          <a:xfrm>
            <a:off x="777240" y="2606040"/>
            <a:ext cx="3063240" cy="182880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Doctor said "take some time off work"; the recogniser wrote "take some type of work". "Stool" became "stall" / "stalk".</a:t>
            </a:r>
            <a:endParaRPr lang="en-US" sz="1400" dirty="0"/>
          </a:p>
        </p:txBody>
      </p:sp>
      <p:sp>
        <p:nvSpPr>
          <p:cNvPr id="12" name="Shape 10"/>
          <p:cNvSpPr/>
          <p:nvPr/>
        </p:nvSpPr>
        <p:spPr>
          <a:xfrm>
            <a:off x="4297680" y="1463040"/>
            <a:ext cx="3474720" cy="3063240"/>
          </a:xfrm>
          <a:prstGeom prst="roundRect">
            <a:avLst>
              <a:gd name="adj" fmla="val 2388"/>
            </a:avLst>
          </a:prstGeom>
          <a:solidFill>
            <a:srgbClr val="E3F1EE"/>
          </a:solidFill>
          <a:ln w="12700">
            <a:solidFill>
              <a:srgbClr val="E3F1EE"/>
            </a:solidFill>
            <a:prstDash val="solid"/>
          </a:ln>
        </p:spPr>
      </p:sp>
      <p:sp>
        <p:nvSpPr>
          <p:cNvPr id="13" name="Shape 11"/>
          <p:cNvSpPr/>
          <p:nvPr/>
        </p:nvSpPr>
        <p:spPr>
          <a:xfrm>
            <a:off x="4526280" y="1645920"/>
            <a:ext cx="457200" cy="457200"/>
          </a:xfrm>
          <a:prstGeom prst="ellipse">
            <a:avLst/>
          </a:prstGeom>
          <a:solidFill>
            <a:srgbClr val="D1432B"/>
          </a:solidFill>
          <a:ln w="12700">
            <a:solidFill>
              <a:srgbClr val="D1432B"/>
            </a:solidFill>
            <a:prstDash val="solid"/>
          </a:ln>
        </p:spPr>
      </p:sp>
      <p:sp>
        <p:nvSpPr>
          <p:cNvPr id="14" name="Text 12"/>
          <p:cNvSpPr txBox="1"/>
          <p:nvPr/>
        </p:nvSpPr>
        <p:spPr>
          <a:xfrm>
            <a:off x="452628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5120640" y="1682496"/>
            <a:ext cx="2468880" cy="411480"/>
          </a:xfrm>
          <a:prstGeom prst="rect">
            <a:avLst/>
          </a:prstGeom>
          <a:noFill/>
          <a:ln/>
        </p:spPr>
        <p:txBody>
          <a:bodyPr wrap="square" lIns="0" tIns="0" rIns="0" bIns="0" rtlCol="0" anchor="t"/>
          <a:lstStyle/>
          <a:p>
            <a:pPr indent="0" marL="0">
              <a:buNone/>
            </a:pPr>
            <a:r>
              <a:rPr lang="en-US" sz="2000" b="1" dirty="0">
                <a:solidFill>
                  <a:srgbClr val="0F2A36"/>
                </a:solidFill>
                <a:latin typeface="Cambria" pitchFamily="34" charset="0"/>
                <a:ea typeface="Cambria" pitchFamily="34" charset="-122"/>
                <a:cs typeface="Cambria" pitchFamily="34" charset="-120"/>
              </a:rPr>
              <a:t>Invented</a:t>
            </a:r>
            <a:endParaRPr lang="en-US" sz="2000" dirty="0"/>
          </a:p>
        </p:txBody>
      </p:sp>
      <p:sp>
        <p:nvSpPr>
          <p:cNvPr id="16" name="Text 14"/>
          <p:cNvSpPr txBox="1"/>
          <p:nvPr/>
        </p:nvSpPr>
        <p:spPr>
          <a:xfrm>
            <a:off x="4526280" y="2240280"/>
            <a:ext cx="3017520" cy="320040"/>
          </a:xfrm>
          <a:prstGeom prst="rect">
            <a:avLst/>
          </a:prstGeom>
          <a:noFill/>
          <a:ln/>
        </p:spPr>
        <p:txBody>
          <a:bodyPr wrap="square" lIns="0" tIns="0" rIns="0" bIns="0" rtlCol="0" anchor="t"/>
          <a:lstStyle/>
          <a:p>
            <a:pPr indent="0" marL="0">
              <a:buNone/>
            </a:pPr>
            <a:r>
              <a:rPr lang="en-US" sz="1300" b="1" dirty="0">
                <a:solidFill>
                  <a:srgbClr val="D1432B"/>
                </a:solidFill>
                <a:latin typeface="Calibri" pitchFamily="34" charset="0"/>
                <a:ea typeface="Calibri" pitchFamily="34" charset="-122"/>
                <a:cs typeface="Calibri" pitchFamily="34" charset="-120"/>
              </a:rPr>
              <a:t>LLM hallucination / mis-citation</a:t>
            </a:r>
            <a:endParaRPr lang="en-US" sz="1300" dirty="0"/>
          </a:p>
        </p:txBody>
      </p:sp>
      <p:sp>
        <p:nvSpPr>
          <p:cNvPr id="17" name="Text 15"/>
          <p:cNvSpPr txBox="1"/>
          <p:nvPr/>
        </p:nvSpPr>
        <p:spPr>
          <a:xfrm>
            <a:off x="4526280" y="2606040"/>
            <a:ext cx="3063240" cy="182880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A duration, dose or symptom that was never said, e.g. "diarrhoea for three weeks" when the patient said three days.</a:t>
            </a:r>
            <a:endParaRPr lang="en-US" sz="1400" dirty="0"/>
          </a:p>
        </p:txBody>
      </p:sp>
      <p:sp>
        <p:nvSpPr>
          <p:cNvPr id="18" name="Shape 16"/>
          <p:cNvSpPr/>
          <p:nvPr/>
        </p:nvSpPr>
        <p:spPr>
          <a:xfrm>
            <a:off x="8046720" y="1463040"/>
            <a:ext cx="3474720" cy="3063240"/>
          </a:xfrm>
          <a:prstGeom prst="roundRect">
            <a:avLst>
              <a:gd name="adj" fmla="val 2388"/>
            </a:avLst>
          </a:prstGeom>
          <a:solidFill>
            <a:srgbClr val="E3F1EE"/>
          </a:solidFill>
          <a:ln w="12700">
            <a:solidFill>
              <a:srgbClr val="E3F1EE"/>
            </a:solidFill>
            <a:prstDash val="solid"/>
          </a:ln>
        </p:spPr>
      </p:sp>
      <p:sp>
        <p:nvSpPr>
          <p:cNvPr id="19" name="Shape 17"/>
          <p:cNvSpPr/>
          <p:nvPr/>
        </p:nvSpPr>
        <p:spPr>
          <a:xfrm>
            <a:off x="8275320" y="1645920"/>
            <a:ext cx="457200" cy="457200"/>
          </a:xfrm>
          <a:prstGeom prst="ellipse">
            <a:avLst/>
          </a:prstGeom>
          <a:solidFill>
            <a:srgbClr val="0F2A36"/>
          </a:solidFill>
          <a:ln w="12700">
            <a:solidFill>
              <a:srgbClr val="0F2A36"/>
            </a:solidFill>
            <a:prstDash val="solid"/>
          </a:ln>
        </p:spPr>
      </p:sp>
      <p:sp>
        <p:nvSpPr>
          <p:cNvPr id="20" name="Text 18"/>
          <p:cNvSpPr txBox="1"/>
          <p:nvPr/>
        </p:nvSpPr>
        <p:spPr>
          <a:xfrm>
            <a:off x="8275320" y="1645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8869680" y="1682496"/>
            <a:ext cx="2468880" cy="411480"/>
          </a:xfrm>
          <a:prstGeom prst="rect">
            <a:avLst/>
          </a:prstGeom>
          <a:noFill/>
          <a:ln/>
        </p:spPr>
        <p:txBody>
          <a:bodyPr wrap="square" lIns="0" tIns="0" rIns="0" bIns="0" rtlCol="0" anchor="t"/>
          <a:lstStyle/>
          <a:p>
            <a:pPr indent="0" marL="0">
              <a:buNone/>
            </a:pPr>
            <a:r>
              <a:rPr lang="en-US" sz="2000" b="1" dirty="0">
                <a:solidFill>
                  <a:srgbClr val="0F2A36"/>
                </a:solidFill>
                <a:latin typeface="Cambria" pitchFamily="34" charset="0"/>
                <a:ea typeface="Cambria" pitchFamily="34" charset="-122"/>
                <a:cs typeface="Cambria" pitchFamily="34" charset="-120"/>
              </a:rPr>
              <a:t>Unsafe</a:t>
            </a:r>
            <a:endParaRPr lang="en-US" sz="2000" dirty="0"/>
          </a:p>
        </p:txBody>
      </p:sp>
      <p:sp>
        <p:nvSpPr>
          <p:cNvPr id="22" name="Text 20"/>
          <p:cNvSpPr txBox="1"/>
          <p:nvPr/>
        </p:nvSpPr>
        <p:spPr>
          <a:xfrm>
            <a:off x="8275320" y="2240280"/>
            <a:ext cx="3017520" cy="320040"/>
          </a:xfrm>
          <a:prstGeom prst="rect">
            <a:avLst/>
          </a:prstGeom>
          <a:noFill/>
          <a:ln/>
        </p:spPr>
        <p:txBody>
          <a:bodyPr wrap="square" lIns="0" tIns="0" rIns="0" bIns="0" rtlCol="0" anchor="t"/>
          <a:lstStyle/>
          <a:p>
            <a:pPr indent="0" marL="0">
              <a:buNone/>
            </a:pPr>
            <a:r>
              <a:rPr lang="en-US" sz="1300" b="1" dirty="0">
                <a:solidFill>
                  <a:srgbClr val="0F2A36"/>
                </a:solidFill>
                <a:latin typeface="Calibri" pitchFamily="34" charset="0"/>
                <a:ea typeface="Calibri" pitchFamily="34" charset="-122"/>
                <a:cs typeface="Calibri" pitchFamily="34" charset="-120"/>
              </a:rPr>
              <a:t>Faithful but clinically wrong</a:t>
            </a:r>
            <a:endParaRPr lang="en-US" sz="1300" dirty="0"/>
          </a:p>
        </p:txBody>
      </p:sp>
      <p:sp>
        <p:nvSpPr>
          <p:cNvPr id="23" name="Text 21"/>
          <p:cNvSpPr txBox="1"/>
          <p:nvPr/>
        </p:nvSpPr>
        <p:spPr>
          <a:xfrm>
            <a:off x="8275320" y="2606040"/>
            <a:ext cx="3063240" cy="182880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"Start amoxicillin" for a patient who just said they are allergic to penicillin: perfectly transcribed, still unsafe.</a:t>
            </a:r>
            <a:endParaRPr lang="en-US" sz="1400" dirty="0"/>
          </a:p>
        </p:txBody>
      </p:sp>
      <p:sp>
        <p:nvSpPr>
          <p:cNvPr id="24" name="Shape 22"/>
          <p:cNvSpPr/>
          <p:nvPr/>
        </p:nvSpPr>
        <p:spPr>
          <a:xfrm>
            <a:off x="548640" y="4754880"/>
            <a:ext cx="11064240" cy="960120"/>
          </a:xfrm>
          <a:prstGeom prst="roundRect">
            <a:avLst>
              <a:gd name="adj" fmla="val 7619"/>
            </a:avLst>
          </a:prstGeom>
          <a:solidFill>
            <a:srgbClr val="FBEAE7"/>
          </a:solidFill>
          <a:ln w="12700">
            <a:solidFill>
              <a:srgbClr val="FBEAE7"/>
            </a:solidFill>
            <a:prstDash val="solid"/>
          </a:ln>
        </p:spPr>
      </p:sp>
      <p:sp>
        <p:nvSpPr>
          <p:cNvPr id="25" name="Text 23"/>
          <p:cNvSpPr txBox="1"/>
          <p:nvPr/>
        </p:nvSpPr>
        <p:spPr>
          <a:xfrm>
            <a:off x="777240" y="4846320"/>
            <a:ext cx="10607040" cy="822960"/>
          </a:xfrm>
          <a:prstGeom prst="rect">
            <a:avLst/>
          </a:prstGeom>
          <a:noFill/>
          <a:ln/>
        </p:spPr>
        <p:txBody>
          <a:bodyPr wrap="square" lIns="0" tIns="0" rIns="0" bIns="0" rtlCol="0" anchor="t"/>
          <a:lstStyle/>
          <a:p>
            <a:pPr indent="0" marL="0">
              <a:buNone/>
            </a:pPr>
            <a:r>
              <a:rPr lang="en-US" sz="1450" b="1" dirty="0">
                <a:solidFill>
                  <a:srgbClr val="27363D"/>
                </a:solidFill>
                <a:latin typeface="Calibri" pitchFamily="34" charset="0"/>
                <a:ea typeface="Calibri" pitchFamily="34" charset="-122"/>
                <a:cs typeface="Calibri" pitchFamily="34" charset="-120"/>
              </a:rPr>
              <a:t>Problem statement: </a:t>
            </a:r>
            <a:pPr indent="0" marL="0">
              <a:buNone/>
            </a:pPr>
            <a:r>
              <a:rPr lang="en-US" sz="1450" dirty="0">
                <a:solidFill>
                  <a:srgbClr val="27363D"/>
                </a:solidFill>
                <a:latin typeface="Calibri" pitchFamily="34" charset="0"/>
                <a:ea typeface="Calibri" pitchFamily="34" charset="-122"/>
                <a:cs typeface="Calibri" pitchFamily="34" charset="-120"/>
              </a:rPr>
              <a:t>existing AI scribes insert every drafted statement into the note and rely on a busy clinician to find these errors. There is no automatic, per-fact mechanism that verifies each statement against its own evidence and blocks it from the record when the evidence is weak, contradicts it, or it is clinically unsafe.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OBJECTIVES AND SCOPE</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Objectives and scope of the work</a:t>
            </a:r>
            <a:endParaRPr lang="en-US" sz="3000" dirty="0"/>
          </a:p>
        </p:txBody>
      </p:sp>
      <p:sp>
        <p:nvSpPr>
          <p:cNvPr id="4" name="Text 2"/>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548640" y="1417320"/>
            <a:ext cx="5486400" cy="365760"/>
          </a:xfrm>
          <a:prstGeom prst="rect">
            <a:avLst/>
          </a:prstGeom>
          <a:noFill/>
          <a:ln/>
        </p:spPr>
        <p:txBody>
          <a:bodyPr wrap="square" lIns="0" tIns="0" rIns="0" bIns="0" rtlCol="0" anchor="t"/>
          <a:lstStyle/>
          <a:p>
            <a:pPr indent="0" marL="0">
              <a:buNone/>
            </a:pPr>
            <a:r>
              <a:rPr lang="en-US" sz="1900" b="1" dirty="0">
                <a:solidFill>
                  <a:srgbClr val="0F2A36"/>
                </a:solidFill>
                <a:latin typeface="Cambria" pitchFamily="34" charset="0"/>
                <a:ea typeface="Cambria" pitchFamily="34" charset="-122"/>
                <a:cs typeface="Cambria" pitchFamily="34" charset="-120"/>
              </a:rPr>
              <a:t>Objectives</a:t>
            </a:r>
            <a:endParaRPr lang="en-US" sz="1900" dirty="0"/>
          </a:p>
        </p:txBody>
      </p:sp>
      <p:sp>
        <p:nvSpPr>
          <p:cNvPr id="6" name="Shape 4"/>
          <p:cNvSpPr/>
          <p:nvPr/>
        </p:nvSpPr>
        <p:spPr>
          <a:xfrm>
            <a:off x="548640" y="1874520"/>
            <a:ext cx="365760" cy="365760"/>
          </a:xfrm>
          <a:prstGeom prst="ellipse">
            <a:avLst/>
          </a:prstGeom>
          <a:solidFill>
            <a:srgbClr val="2A7F6F"/>
          </a:solidFill>
          <a:ln w="12700">
            <a:solidFill>
              <a:srgbClr val="2A7F6F"/>
            </a:solidFill>
            <a:prstDash val="solid"/>
          </a:ln>
        </p:spPr>
      </p:sp>
      <p:sp>
        <p:nvSpPr>
          <p:cNvPr id="7" name="Text 5"/>
          <p:cNvSpPr txBox="1"/>
          <p:nvPr/>
        </p:nvSpPr>
        <p:spPr>
          <a:xfrm>
            <a:off x="548640" y="1874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051560" y="1892808"/>
            <a:ext cx="5577840" cy="54864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Draft structured clinical facts from consultation audio, each with cited, verbatim evidence.</a:t>
            </a:r>
            <a:endParaRPr lang="en-US" sz="1400" dirty="0"/>
          </a:p>
        </p:txBody>
      </p:sp>
      <p:sp>
        <p:nvSpPr>
          <p:cNvPr id="9" name="Shape 7"/>
          <p:cNvSpPr/>
          <p:nvPr/>
        </p:nvSpPr>
        <p:spPr>
          <a:xfrm>
            <a:off x="548640" y="2478024"/>
            <a:ext cx="365760" cy="365760"/>
          </a:xfrm>
          <a:prstGeom prst="ellipse">
            <a:avLst/>
          </a:prstGeom>
          <a:solidFill>
            <a:srgbClr val="2A7F6F"/>
          </a:solidFill>
          <a:ln w="12700">
            <a:solidFill>
              <a:srgbClr val="2A7F6F"/>
            </a:solidFill>
            <a:prstDash val="solid"/>
          </a:ln>
        </p:spPr>
      </p:sp>
      <p:sp>
        <p:nvSpPr>
          <p:cNvPr id="10" name="Text 8"/>
          <p:cNvSpPr txBox="1"/>
          <p:nvPr/>
        </p:nvSpPr>
        <p:spPr>
          <a:xfrm>
            <a:off x="548640" y="247802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051560" y="2496312"/>
            <a:ext cx="5577840" cy="54864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Verify every fact with independent signals: citation integrity, ASR confidence, NLI entailment, clinical plausibility.</a:t>
            </a:r>
            <a:endParaRPr lang="en-US" sz="1400" dirty="0"/>
          </a:p>
        </p:txBody>
      </p:sp>
      <p:sp>
        <p:nvSpPr>
          <p:cNvPr id="12" name="Shape 10"/>
          <p:cNvSpPr/>
          <p:nvPr/>
        </p:nvSpPr>
        <p:spPr>
          <a:xfrm>
            <a:off x="548640" y="3081528"/>
            <a:ext cx="365760" cy="365760"/>
          </a:xfrm>
          <a:prstGeom prst="ellipse">
            <a:avLst/>
          </a:prstGeom>
          <a:solidFill>
            <a:srgbClr val="2A7F6F"/>
          </a:solidFill>
          <a:ln w="12700">
            <a:solidFill>
              <a:srgbClr val="2A7F6F"/>
            </a:solidFill>
            <a:prstDash val="solid"/>
          </a:ln>
        </p:spPr>
      </p:sp>
      <p:sp>
        <p:nvSpPr>
          <p:cNvPr id="13" name="Text 11"/>
          <p:cNvSpPr txBox="1"/>
          <p:nvPr/>
        </p:nvSpPr>
        <p:spPr>
          <a:xfrm>
            <a:off x="548640" y="3081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051560" y="3099816"/>
            <a:ext cx="5577840" cy="54864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Hard-block failing facts from the note and route them to a clinician review queue with audio replay.</a:t>
            </a:r>
            <a:endParaRPr lang="en-US" sz="1400" dirty="0"/>
          </a:p>
        </p:txBody>
      </p:sp>
      <p:sp>
        <p:nvSpPr>
          <p:cNvPr id="15" name="Shape 13"/>
          <p:cNvSpPr/>
          <p:nvPr/>
        </p:nvSpPr>
        <p:spPr>
          <a:xfrm>
            <a:off x="548640" y="3685032"/>
            <a:ext cx="365760" cy="365760"/>
          </a:xfrm>
          <a:prstGeom prst="ellipse">
            <a:avLst/>
          </a:prstGeom>
          <a:solidFill>
            <a:srgbClr val="2A7F6F"/>
          </a:solidFill>
          <a:ln w="12700">
            <a:solidFill>
              <a:srgbClr val="2A7F6F"/>
            </a:solidFill>
            <a:prstDash val="solid"/>
          </a:ln>
        </p:spPr>
      </p:sp>
      <p:sp>
        <p:nvSpPr>
          <p:cNvPr id="16" name="Text 14"/>
          <p:cNvSpPr txBox="1"/>
          <p:nvPr/>
        </p:nvSpPr>
        <p:spPr>
          <a:xfrm>
            <a:off x="548640" y="36850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txBox="1"/>
          <p:nvPr/>
        </p:nvSpPr>
        <p:spPr>
          <a:xfrm>
            <a:off x="1051560" y="3703320"/>
            <a:ext cx="5577840" cy="54864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Adapt the auto-insert threshold per clinician and per field from approve / reject decisions.</a:t>
            </a:r>
            <a:endParaRPr lang="en-US" sz="1400" dirty="0"/>
          </a:p>
        </p:txBody>
      </p:sp>
      <p:sp>
        <p:nvSpPr>
          <p:cNvPr id="18" name="Shape 16"/>
          <p:cNvSpPr/>
          <p:nvPr/>
        </p:nvSpPr>
        <p:spPr>
          <a:xfrm>
            <a:off x="548640" y="4288536"/>
            <a:ext cx="365760" cy="365760"/>
          </a:xfrm>
          <a:prstGeom prst="ellipse">
            <a:avLst/>
          </a:prstGeom>
          <a:solidFill>
            <a:srgbClr val="2A7F6F"/>
          </a:solidFill>
          <a:ln w="12700">
            <a:solidFill>
              <a:srgbClr val="2A7F6F"/>
            </a:solidFill>
            <a:prstDash val="solid"/>
          </a:ln>
        </p:spPr>
      </p:sp>
      <p:sp>
        <p:nvSpPr>
          <p:cNvPr id="19" name="Text 17"/>
          <p:cNvSpPr txBox="1"/>
          <p:nvPr/>
        </p:nvSpPr>
        <p:spPr>
          <a:xfrm>
            <a:off x="548640" y="42885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txBox="1"/>
          <p:nvPr/>
        </p:nvSpPr>
        <p:spPr>
          <a:xfrm>
            <a:off x="1051560" y="4306824"/>
            <a:ext cx="5577840" cy="54864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Record every automatic and human decision in an append-only audit log.</a:t>
            </a:r>
            <a:endParaRPr lang="en-US" sz="1400" dirty="0"/>
          </a:p>
        </p:txBody>
      </p:sp>
      <p:sp>
        <p:nvSpPr>
          <p:cNvPr id="21" name="Shape 19"/>
          <p:cNvSpPr/>
          <p:nvPr/>
        </p:nvSpPr>
        <p:spPr>
          <a:xfrm>
            <a:off x="548640" y="4892040"/>
            <a:ext cx="365760" cy="365760"/>
          </a:xfrm>
          <a:prstGeom prst="ellipse">
            <a:avLst/>
          </a:prstGeom>
          <a:solidFill>
            <a:srgbClr val="2A7F6F"/>
          </a:solidFill>
          <a:ln w="12700">
            <a:solidFill>
              <a:srgbClr val="2A7F6F"/>
            </a:solidFill>
            <a:prstDash val="solid"/>
          </a:ln>
        </p:spPr>
      </p:sp>
      <p:sp>
        <p:nvSpPr>
          <p:cNvPr id="22" name="Text 20"/>
          <p:cNvSpPr txBox="1"/>
          <p:nvPr/>
        </p:nvSpPr>
        <p:spPr>
          <a:xfrm>
            <a:off x="548640" y="4892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1"/>
          <p:cNvSpPr txBox="1"/>
          <p:nvPr/>
        </p:nvSpPr>
        <p:spPr>
          <a:xfrm>
            <a:off x="1051560" y="4910328"/>
            <a:ext cx="5577840" cy="54864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Validate on real, external consultation data (PriMock57).</a:t>
            </a:r>
            <a:endParaRPr lang="en-US" sz="1400" dirty="0"/>
          </a:p>
        </p:txBody>
      </p:sp>
      <p:sp>
        <p:nvSpPr>
          <p:cNvPr id="24" name="Shape 22"/>
          <p:cNvSpPr/>
          <p:nvPr/>
        </p:nvSpPr>
        <p:spPr>
          <a:xfrm>
            <a:off x="7040880" y="1417320"/>
            <a:ext cx="4572000" cy="2148840"/>
          </a:xfrm>
          <a:prstGeom prst="roundRect">
            <a:avLst>
              <a:gd name="adj" fmla="val 3404"/>
            </a:avLst>
          </a:prstGeom>
          <a:solidFill>
            <a:srgbClr val="E3F1EE"/>
          </a:solidFill>
          <a:ln w="12700">
            <a:solidFill>
              <a:srgbClr val="E3F1EE"/>
            </a:solidFill>
            <a:prstDash val="solid"/>
          </a:ln>
        </p:spPr>
      </p:sp>
      <p:sp>
        <p:nvSpPr>
          <p:cNvPr id="25" name="Text 23"/>
          <p:cNvSpPr txBox="1"/>
          <p:nvPr/>
        </p:nvSpPr>
        <p:spPr>
          <a:xfrm>
            <a:off x="7269480" y="1554480"/>
            <a:ext cx="4114800" cy="320040"/>
          </a:xfrm>
          <a:prstGeom prst="rect">
            <a:avLst/>
          </a:prstGeom>
          <a:noFill/>
          <a:ln/>
        </p:spPr>
        <p:txBody>
          <a:bodyPr wrap="square" lIns="0" tIns="0" rIns="0" bIns="0" rtlCol="0" anchor="t"/>
          <a:lstStyle/>
          <a:p>
            <a:pPr indent="0" marL="0">
              <a:buNone/>
            </a:pPr>
            <a:r>
              <a:rPr lang="en-US" sz="1500" b="1" dirty="0">
                <a:solidFill>
                  <a:srgbClr val="1E8A4C"/>
                </a:solidFill>
                <a:latin typeface="Calibri" pitchFamily="34" charset="0"/>
                <a:ea typeface="Calibri" pitchFamily="34" charset="-122"/>
                <a:cs typeface="Calibri" pitchFamily="34" charset="-120"/>
              </a:rPr>
              <a:t>In scope</a:t>
            </a:r>
            <a:endParaRPr lang="en-US" sz="1500" dirty="0"/>
          </a:p>
        </p:txBody>
      </p:sp>
      <p:sp>
        <p:nvSpPr>
          <p:cNvPr id="26" name="Text 24"/>
          <p:cNvSpPr txBox="1"/>
          <p:nvPr/>
        </p:nvSpPr>
        <p:spPr>
          <a:xfrm>
            <a:off x="7269480" y="1920240"/>
            <a:ext cx="4206240" cy="16459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27363D"/>
                </a:solidFill>
                <a:latin typeface="Calibri" pitchFamily="34" charset="0"/>
                <a:ea typeface="Calibri" pitchFamily="34" charset="-122"/>
                <a:cs typeface="Calibri" pitchFamily="34" charset="-120"/>
              </a:rPr>
              <a:t>Outpatient consultations in English</a:t>
            </a:r>
            <a:endParaRPr lang="en-US" sz="1300" dirty="0"/>
          </a:p>
          <a:p>
            <a:pPr marL="203200" indent="-203200">
              <a:spcAft>
                <a:spcPts val="600"/>
              </a:spcAft>
              <a:buSzPct val="100000"/>
              <a:buChar char="•"/>
            </a:pPr>
            <a:r>
              <a:rPr lang="en-US" sz="1300" dirty="0">
                <a:solidFill>
                  <a:srgbClr val="27363D"/>
                </a:solidFill>
                <a:latin typeface="Calibri" pitchFamily="34" charset="0"/>
                <a:ea typeface="Calibri" pitchFamily="34" charset="-122"/>
                <a:cs typeface="Calibri" pitchFamily="34" charset="-120"/>
              </a:rPr>
              <a:t>Local, on-premise ASR and verification</a:t>
            </a:r>
            <a:endParaRPr lang="en-US" sz="1300" dirty="0"/>
          </a:p>
          <a:p>
            <a:pPr marL="203200" indent="-203200">
              <a:spcAft>
                <a:spcPts val="600"/>
              </a:spcAft>
              <a:buSzPct val="100000"/>
              <a:buChar char="•"/>
            </a:pPr>
            <a:r>
              <a:rPr lang="en-US" sz="1300" dirty="0">
                <a:solidFill>
                  <a:srgbClr val="27363D"/>
                </a:solidFill>
                <a:latin typeface="Calibri" pitchFamily="34" charset="0"/>
                <a:ea typeface="Calibri" pitchFamily="34" charset="-122"/>
                <a:cs typeface="Calibri" pitchFamily="34" charset="-120"/>
              </a:rPr>
              <a:t>Prototype web app for clinicians</a:t>
            </a:r>
            <a:endParaRPr lang="en-US" sz="1300" dirty="0"/>
          </a:p>
          <a:p>
            <a:pPr marL="203200" indent="-203200">
              <a:spcAft>
                <a:spcPts val="600"/>
              </a:spcAft>
              <a:buSzPct val="100000"/>
              <a:buChar char="•"/>
            </a:pPr>
            <a:r>
              <a:rPr lang="en-US" sz="1300" dirty="0">
                <a:solidFill>
                  <a:srgbClr val="27363D"/>
                </a:solidFill>
                <a:latin typeface="Calibri" pitchFamily="34" charset="0"/>
                <a:ea typeface="Calibri" pitchFamily="34" charset="-122"/>
                <a:cs typeface="Calibri" pitchFamily="34" charset="-120"/>
              </a:rPr>
              <a:t>7 note fields: complaint, history, meds, allergies, vitals, assessment, plan</a:t>
            </a:r>
            <a:endParaRPr lang="en-US" sz="1300" dirty="0"/>
          </a:p>
        </p:txBody>
      </p:sp>
      <p:sp>
        <p:nvSpPr>
          <p:cNvPr id="27" name="Shape 25"/>
          <p:cNvSpPr/>
          <p:nvPr/>
        </p:nvSpPr>
        <p:spPr>
          <a:xfrm>
            <a:off x="7040880" y="3749040"/>
            <a:ext cx="4572000" cy="1920240"/>
          </a:xfrm>
          <a:prstGeom prst="roundRect">
            <a:avLst>
              <a:gd name="adj" fmla="val 3810"/>
            </a:avLst>
          </a:prstGeom>
          <a:solidFill>
            <a:srgbClr val="F4F4F4"/>
          </a:solidFill>
          <a:ln w="12700">
            <a:solidFill>
              <a:srgbClr val="F4F4F4"/>
            </a:solidFill>
            <a:prstDash val="solid"/>
          </a:ln>
        </p:spPr>
      </p:sp>
      <p:sp>
        <p:nvSpPr>
          <p:cNvPr id="28" name="Text 26"/>
          <p:cNvSpPr txBox="1"/>
          <p:nvPr/>
        </p:nvSpPr>
        <p:spPr>
          <a:xfrm>
            <a:off x="7269480" y="3886200"/>
            <a:ext cx="4114800" cy="320040"/>
          </a:xfrm>
          <a:prstGeom prst="rect">
            <a:avLst/>
          </a:prstGeom>
          <a:noFill/>
          <a:ln/>
        </p:spPr>
        <p:txBody>
          <a:bodyPr wrap="square" lIns="0" tIns="0" rIns="0" bIns="0" rtlCol="0" anchor="t"/>
          <a:lstStyle/>
          <a:p>
            <a:pPr indent="0" marL="0">
              <a:buNone/>
            </a:pPr>
            <a:r>
              <a:rPr lang="en-US" sz="1500" b="1" dirty="0">
                <a:solidFill>
                  <a:srgbClr val="D1432B"/>
                </a:solidFill>
                <a:latin typeface="Calibri" pitchFamily="34" charset="0"/>
                <a:ea typeface="Calibri" pitchFamily="34" charset="-122"/>
                <a:cs typeface="Calibri" pitchFamily="34" charset="-120"/>
              </a:rPr>
              <a:t>Out of scope</a:t>
            </a:r>
            <a:endParaRPr lang="en-US" sz="1500" dirty="0"/>
          </a:p>
        </p:txBody>
      </p:sp>
      <p:sp>
        <p:nvSpPr>
          <p:cNvPr id="29" name="Text 27"/>
          <p:cNvSpPr txBox="1"/>
          <p:nvPr/>
        </p:nvSpPr>
        <p:spPr>
          <a:xfrm>
            <a:off x="7269480" y="4251960"/>
            <a:ext cx="4206240" cy="137160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27363D"/>
                </a:solidFill>
                <a:latin typeface="Calibri" pitchFamily="34" charset="0"/>
                <a:ea typeface="Calibri" pitchFamily="34" charset="-122"/>
                <a:cs typeface="Calibri" pitchFamily="34" charset="-120"/>
              </a:rPr>
              <a:t>Training or improving the speech recogniser</a:t>
            </a:r>
            <a:endParaRPr lang="en-US" sz="1300" dirty="0"/>
          </a:p>
          <a:p>
            <a:pPr marL="203200" indent="-203200">
              <a:spcAft>
                <a:spcPts val="600"/>
              </a:spcAft>
              <a:buSzPct val="100000"/>
              <a:buChar char="•"/>
            </a:pPr>
            <a:r>
              <a:rPr lang="en-US" sz="1300" dirty="0">
                <a:solidFill>
                  <a:srgbClr val="27363D"/>
                </a:solidFill>
                <a:latin typeface="Calibri" pitchFamily="34" charset="0"/>
                <a:ea typeface="Calibri" pitchFamily="34" charset="-122"/>
                <a:cs typeface="Calibri" pitchFamily="34" charset="-120"/>
              </a:rPr>
              <a:t>A full clinical knowledge base (RxNorm / DrugBank)</a:t>
            </a:r>
            <a:endParaRPr lang="en-US" sz="1300" dirty="0"/>
          </a:p>
          <a:p>
            <a:pPr marL="203200" indent="-203200">
              <a:spcAft>
                <a:spcPts val="600"/>
              </a:spcAft>
              <a:buSzPct val="100000"/>
              <a:buChar char="•"/>
            </a:pPr>
            <a:r>
              <a:rPr lang="en-US" sz="1300" dirty="0">
                <a:solidFill>
                  <a:srgbClr val="27363D"/>
                </a:solidFill>
                <a:latin typeface="Calibri" pitchFamily="34" charset="0"/>
                <a:ea typeface="Calibri" pitchFamily="34" charset="-122"/>
                <a:cs typeface="Calibri" pitchFamily="34" charset="-120"/>
              </a:rPr>
              <a:t>EHR integration, clinical deployment, user study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LITERATURE REVIEW / RELATED WORK</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Related work: products, patents and research</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[6] SummaC; [7] FactCC; [8] ACI-BENCH; [9] AWS HealthScribe; [10] Abridge; [11] US11222716B2; [12] US10719222B2; [13] US11227688B2; [14] US6006183A</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017520"/>
                <a:gridCol w="4206240"/>
                <a:gridCol w="384048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Work</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does</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Limitation for our problem</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r>
              <a:tr h="512064">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AWS HealthScribe [9]</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Transcript + summary; every sentence carries EvidenceLinks to transcript segments</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Links are for human validation; nothing is blocked</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512064">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Abridge Linked Evidence [10]</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Highlight note text to see source transcript and replay audio</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Optional convenience; relies on clinician checking</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512064">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US 11,222,716 B2 - Nuance/Microsoft [11]</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Links audio, transcript, report; confidence model shows a section only if editing beats rewriting</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Gates whole sections on editing effort, not each fact on its evidence</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512064">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US 10,719,222 / 11,227,688 B2 - Google [12][13]</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Transcript beside generated note; extracted phrases linked to audio</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Verification by physician inspection</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512064">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US 6,006,183 A - IBM [14]</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Colour-codes low-confidence ASR words above a threshold</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Word level only; not tied to note statements</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512064">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SummaC [6], FactCC [7]</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NLI / classifier scoring of summary factual consistency</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Offline evaluation metric, not an enforcing gate</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512064">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ACI-BENCH [8]</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Benchmark for visit-note generation from conversations</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Measures quality; no verification mechanism</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GAP ANALYSIS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Gap analysis: nobody enforces the evidence</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[9]-[14] as on previous slide; capability marks from each source's documentation / claims</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7</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749040"/>
                <a:gridCol w="1600200"/>
                <a:gridCol w="1417320"/>
                <a:gridCol w="1417320"/>
                <a:gridCol w="1463040"/>
                <a:gridCol w="1417320"/>
              </a:tblGrid>
              <a:tr h="39319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Capability</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HealthScribe / Abridge</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 11,222,716</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Google patents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SummaC / FactCC</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Ours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Note statement linked to transcript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ASR confidence used</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C98311"/>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Checks the citation is correct (quote in segment)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Semantic entailment / contradiction check</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Blocks content from the record</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C98311"/>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Decision per individual fact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Clinical-plausibility check on drafted text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Thresholds adapt per clinician</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39319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Per-line provenance audit log</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C98311"/>
                          </a:solidFill>
                          <a:latin typeface="Calibri" pitchFamily="34" charset="0"/>
                          <a:ea typeface="Calibri" pitchFamily="34" charset="-122"/>
                          <a:cs typeface="Calibri" pitchFamily="34" charset="-120"/>
                        </a:rPr>
                        <a:t>Partial</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D1432B"/>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algn="ctr" indent="0" marL="0">
                        <a:buNone/>
                      </a:pPr>
                      <a:r>
                        <a:rPr lang="en-US" sz="1200" b="1" dirty="0">
                          <a:solidFill>
                            <a:srgbClr val="1E8A4C"/>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bl>
          </a:graphicData>
        </a:graphic>
      </p:graphicFrame>
      <p:sp>
        <p:nvSpPr>
          <p:cNvPr id="7" name="Text 4"/>
          <p:cNvSpPr txBox="1"/>
          <p:nvPr/>
        </p:nvSpPr>
        <p:spPr>
          <a:xfrm>
            <a:off x="548640" y="5486400"/>
            <a:ext cx="11064240" cy="457200"/>
          </a:xfrm>
          <a:prstGeom prst="rect">
            <a:avLst/>
          </a:prstGeom>
          <a:noFill/>
          <a:ln/>
        </p:spPr>
        <p:txBody>
          <a:bodyPr wrap="square" lIns="0" tIns="0" rIns="0" bIns="0" rtlCol="0" anchor="t"/>
          <a:lstStyle/>
          <a:p>
            <a:pPr indent="0" marL="0">
              <a:buNone/>
            </a:pPr>
            <a:r>
              <a:rPr lang="en-US" sz="1100" i="1" dirty="0">
                <a:solidFill>
                  <a:srgbClr val="5E6E75"/>
                </a:solidFill>
                <a:latin typeface="Calibri" pitchFamily="34" charset="0"/>
                <a:ea typeface="Calibri" pitchFamily="34" charset="-122"/>
                <a:cs typeface="Calibri" pitchFamily="34" charset="-120"/>
              </a:rPr>
              <a:t>Partial: US 11,222,716 hides whole sections when predicted editing effort is high; Google patents show confidence indicators on transcript words; AWS returns links, not a decision log.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PROPOSED SOLUTION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Proposed solution: an evidence gate in front of the record</a:t>
            </a:r>
            <a:endParaRPr lang="en-US" sz="3000" dirty="0"/>
          </a:p>
        </p:txBody>
      </p:sp>
      <p:sp>
        <p:nvSpPr>
          <p:cNvPr id="4" name="Text 2"/>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548640" y="1554480"/>
            <a:ext cx="2011680" cy="1737360"/>
          </a:xfrm>
          <a:prstGeom prst="roundRect">
            <a:avLst>
              <a:gd name="adj" fmla="val 4211"/>
            </a:avLst>
          </a:prstGeom>
          <a:solidFill>
            <a:srgbClr val="E8ECEE"/>
          </a:solidFill>
          <a:ln w="12700">
            <a:solidFill>
              <a:srgbClr val="E8ECEE"/>
            </a:solidFill>
            <a:prstDash val="solid"/>
          </a:ln>
        </p:spPr>
      </p:sp>
      <p:sp>
        <p:nvSpPr>
          <p:cNvPr id="6" name="Text 4"/>
          <p:cNvSpPr txBox="1"/>
          <p:nvPr/>
        </p:nvSpPr>
        <p:spPr>
          <a:xfrm>
            <a:off x="731520" y="1691640"/>
            <a:ext cx="1645920" cy="411480"/>
          </a:xfrm>
          <a:prstGeom prst="rect">
            <a:avLst/>
          </a:prstGeom>
          <a:noFill/>
          <a:ln/>
        </p:spPr>
        <p:txBody>
          <a:bodyPr wrap="square" lIns="0" tIns="0" rIns="0" bIns="0" rtlCol="0" anchor="t"/>
          <a:lstStyle/>
          <a:p>
            <a:pPr indent="0" marL="0">
              <a:buNone/>
            </a:pPr>
            <a:r>
              <a:rPr lang="en-US" sz="1900" b="1" dirty="0">
                <a:solidFill>
                  <a:srgbClr val="0F2A36"/>
                </a:solidFill>
                <a:latin typeface="Cambria" pitchFamily="34" charset="0"/>
                <a:ea typeface="Cambria" pitchFamily="34" charset="-122"/>
                <a:cs typeface="Cambria" pitchFamily="34" charset="-120"/>
              </a:rPr>
              <a:t>Draft</a:t>
            </a:r>
            <a:endParaRPr lang="en-US" sz="1900" dirty="0"/>
          </a:p>
        </p:txBody>
      </p:sp>
      <p:sp>
        <p:nvSpPr>
          <p:cNvPr id="7" name="Text 5"/>
          <p:cNvSpPr txBox="1"/>
          <p:nvPr/>
        </p:nvSpPr>
        <p:spPr>
          <a:xfrm>
            <a:off x="731520" y="2148840"/>
            <a:ext cx="1691640" cy="1097280"/>
          </a:xfrm>
          <a:prstGeom prst="rect">
            <a:avLst/>
          </a:prstGeom>
          <a:noFill/>
          <a:ln/>
        </p:spPr>
        <p:txBody>
          <a:bodyPr wrap="square" lIns="0" tIns="0" rIns="0" bIns="0" rtlCol="0" anchor="t"/>
          <a:lstStyle/>
          <a:p>
            <a:pPr indent="0" marL="0">
              <a:buNone/>
            </a:pPr>
            <a:r>
              <a:rPr lang="en-US" sz="1300" dirty="0">
                <a:solidFill>
                  <a:srgbClr val="27363D"/>
                </a:solidFill>
                <a:latin typeface="Calibri" pitchFamily="34" charset="0"/>
                <a:ea typeface="Calibri" pitchFamily="34" charset="-122"/>
                <a:cs typeface="Calibri" pitchFamily="34" charset="-120"/>
              </a:rPr>
              <a:t>Each fact + cited segments + verbatim quotes</a:t>
            </a:r>
            <a:endParaRPr lang="en-US" sz="1300" dirty="0"/>
          </a:p>
        </p:txBody>
      </p:sp>
      <p:sp>
        <p:nvSpPr>
          <p:cNvPr id="8" name="Shape 6"/>
          <p:cNvSpPr/>
          <p:nvPr/>
        </p:nvSpPr>
        <p:spPr>
          <a:xfrm>
            <a:off x="2587752" y="2286000"/>
            <a:ext cx="219456" cy="274320"/>
          </a:xfrm>
          <a:prstGeom prst="rightArrow">
            <a:avLst/>
          </a:prstGeom>
          <a:solidFill>
            <a:srgbClr val="5E6E75"/>
          </a:solidFill>
          <a:ln w="12700">
            <a:solidFill>
              <a:srgbClr val="5E6E75"/>
            </a:solidFill>
            <a:prstDash val="solid"/>
          </a:ln>
        </p:spPr>
      </p:sp>
      <p:sp>
        <p:nvSpPr>
          <p:cNvPr id="9" name="Shape 7"/>
          <p:cNvSpPr/>
          <p:nvPr/>
        </p:nvSpPr>
        <p:spPr>
          <a:xfrm>
            <a:off x="2834640" y="1554480"/>
            <a:ext cx="2011680" cy="1737360"/>
          </a:xfrm>
          <a:prstGeom prst="roundRect">
            <a:avLst>
              <a:gd name="adj" fmla="val 4211"/>
            </a:avLst>
          </a:prstGeom>
          <a:solidFill>
            <a:srgbClr val="E3F1EE"/>
          </a:solidFill>
          <a:ln w="12700">
            <a:solidFill>
              <a:srgbClr val="E3F1EE"/>
            </a:solidFill>
            <a:prstDash val="solid"/>
          </a:ln>
        </p:spPr>
      </p:sp>
      <p:sp>
        <p:nvSpPr>
          <p:cNvPr id="10" name="Text 8"/>
          <p:cNvSpPr txBox="1"/>
          <p:nvPr/>
        </p:nvSpPr>
        <p:spPr>
          <a:xfrm>
            <a:off x="3017520" y="1691640"/>
            <a:ext cx="1645920" cy="411480"/>
          </a:xfrm>
          <a:prstGeom prst="rect">
            <a:avLst/>
          </a:prstGeom>
          <a:noFill/>
          <a:ln/>
        </p:spPr>
        <p:txBody>
          <a:bodyPr wrap="square" lIns="0" tIns="0" rIns="0" bIns="0" rtlCol="0" anchor="t"/>
          <a:lstStyle/>
          <a:p>
            <a:pPr indent="0" marL="0">
              <a:buNone/>
            </a:pPr>
            <a:r>
              <a:rPr lang="en-US" sz="1900" b="1" dirty="0">
                <a:solidFill>
                  <a:srgbClr val="2A7F6F"/>
                </a:solidFill>
                <a:latin typeface="Cambria" pitchFamily="34" charset="0"/>
                <a:ea typeface="Cambria" pitchFamily="34" charset="-122"/>
                <a:cs typeface="Cambria" pitchFamily="34" charset="-120"/>
              </a:rPr>
              <a:t>Gate 0</a:t>
            </a:r>
            <a:endParaRPr lang="en-US" sz="1900" dirty="0"/>
          </a:p>
        </p:txBody>
      </p:sp>
      <p:sp>
        <p:nvSpPr>
          <p:cNvPr id="11" name="Text 9"/>
          <p:cNvSpPr txBox="1"/>
          <p:nvPr/>
        </p:nvSpPr>
        <p:spPr>
          <a:xfrm>
            <a:off x="3017520" y="2148840"/>
            <a:ext cx="1691640" cy="1097280"/>
          </a:xfrm>
          <a:prstGeom prst="rect">
            <a:avLst/>
          </a:prstGeom>
          <a:noFill/>
          <a:ln/>
        </p:spPr>
        <p:txBody>
          <a:bodyPr wrap="square" lIns="0" tIns="0" rIns="0" bIns="0" rtlCol="0" anchor="t"/>
          <a:lstStyle/>
          <a:p>
            <a:pPr indent="0" marL="0">
              <a:buNone/>
            </a:pPr>
            <a:r>
              <a:rPr lang="en-US" sz="1300" dirty="0">
                <a:solidFill>
                  <a:srgbClr val="27363D"/>
                </a:solidFill>
                <a:latin typeface="Calibri" pitchFamily="34" charset="0"/>
                <a:ea typeface="Calibri" pitchFamily="34" charset="-122"/>
                <a:cs typeface="Calibri" pitchFamily="34" charset="-120"/>
              </a:rPr>
              <a:t>Quote really occurs in cited segment?</a:t>
            </a:r>
            <a:endParaRPr lang="en-US" sz="1300" dirty="0"/>
          </a:p>
        </p:txBody>
      </p:sp>
      <p:sp>
        <p:nvSpPr>
          <p:cNvPr id="12" name="Shape 10"/>
          <p:cNvSpPr/>
          <p:nvPr/>
        </p:nvSpPr>
        <p:spPr>
          <a:xfrm>
            <a:off x="4873752" y="2286000"/>
            <a:ext cx="219456" cy="274320"/>
          </a:xfrm>
          <a:prstGeom prst="rightArrow">
            <a:avLst/>
          </a:prstGeom>
          <a:solidFill>
            <a:srgbClr val="5E6E75"/>
          </a:solidFill>
          <a:ln w="12700">
            <a:solidFill>
              <a:srgbClr val="5E6E75"/>
            </a:solidFill>
            <a:prstDash val="solid"/>
          </a:ln>
        </p:spPr>
      </p:sp>
      <p:sp>
        <p:nvSpPr>
          <p:cNvPr id="13" name="Shape 11"/>
          <p:cNvSpPr/>
          <p:nvPr/>
        </p:nvSpPr>
        <p:spPr>
          <a:xfrm>
            <a:off x="5120640" y="1554480"/>
            <a:ext cx="2011680" cy="1737360"/>
          </a:xfrm>
          <a:prstGeom prst="roundRect">
            <a:avLst>
              <a:gd name="adj" fmla="val 4211"/>
            </a:avLst>
          </a:prstGeom>
          <a:solidFill>
            <a:srgbClr val="E3F1EE"/>
          </a:solidFill>
          <a:ln w="12700">
            <a:solidFill>
              <a:srgbClr val="E3F1EE"/>
            </a:solidFill>
            <a:prstDash val="solid"/>
          </a:ln>
        </p:spPr>
      </p:sp>
      <p:sp>
        <p:nvSpPr>
          <p:cNvPr id="14" name="Text 12"/>
          <p:cNvSpPr txBox="1"/>
          <p:nvPr/>
        </p:nvSpPr>
        <p:spPr>
          <a:xfrm>
            <a:off x="5303520" y="1691640"/>
            <a:ext cx="1645920" cy="411480"/>
          </a:xfrm>
          <a:prstGeom prst="rect">
            <a:avLst/>
          </a:prstGeom>
          <a:noFill/>
          <a:ln/>
        </p:spPr>
        <p:txBody>
          <a:bodyPr wrap="square" lIns="0" tIns="0" rIns="0" bIns="0" rtlCol="0" anchor="t"/>
          <a:lstStyle/>
          <a:p>
            <a:pPr indent="0" marL="0">
              <a:buNone/>
            </a:pPr>
            <a:r>
              <a:rPr lang="en-US" sz="1900" b="1" dirty="0">
                <a:solidFill>
                  <a:srgbClr val="2A7F6F"/>
                </a:solidFill>
                <a:latin typeface="Cambria" pitchFamily="34" charset="0"/>
                <a:ea typeface="Cambria" pitchFamily="34" charset="-122"/>
                <a:cs typeface="Cambria" pitchFamily="34" charset="-120"/>
              </a:rPr>
              <a:t>Gate 1</a:t>
            </a:r>
            <a:endParaRPr lang="en-US" sz="1900" dirty="0"/>
          </a:p>
        </p:txBody>
      </p:sp>
      <p:sp>
        <p:nvSpPr>
          <p:cNvPr id="15" name="Text 13"/>
          <p:cNvSpPr txBox="1"/>
          <p:nvPr/>
        </p:nvSpPr>
        <p:spPr>
          <a:xfrm>
            <a:off x="5303520" y="2148840"/>
            <a:ext cx="1691640" cy="1097280"/>
          </a:xfrm>
          <a:prstGeom prst="rect">
            <a:avLst/>
          </a:prstGeom>
          <a:noFill/>
          <a:ln/>
        </p:spPr>
        <p:txBody>
          <a:bodyPr wrap="square" lIns="0" tIns="0" rIns="0" bIns="0" rtlCol="0" anchor="t"/>
          <a:lstStyle/>
          <a:p>
            <a:pPr indent="0" marL="0">
              <a:buNone/>
            </a:pPr>
            <a:r>
              <a:rPr lang="en-US" sz="1300" dirty="0">
                <a:solidFill>
                  <a:srgbClr val="27363D"/>
                </a:solidFill>
                <a:latin typeface="Calibri" pitchFamily="34" charset="0"/>
                <a:ea typeface="Calibri" pitchFamily="34" charset="-122"/>
                <a:cs typeface="Calibri" pitchFamily="34" charset="-120"/>
              </a:rPr>
              <a:t>ASR confident about the quoted words?</a:t>
            </a:r>
            <a:endParaRPr lang="en-US" sz="1300" dirty="0"/>
          </a:p>
        </p:txBody>
      </p:sp>
      <p:sp>
        <p:nvSpPr>
          <p:cNvPr id="16" name="Shape 14"/>
          <p:cNvSpPr/>
          <p:nvPr/>
        </p:nvSpPr>
        <p:spPr>
          <a:xfrm>
            <a:off x="7159752" y="2286000"/>
            <a:ext cx="219456" cy="274320"/>
          </a:xfrm>
          <a:prstGeom prst="rightArrow">
            <a:avLst/>
          </a:prstGeom>
          <a:solidFill>
            <a:srgbClr val="5E6E75"/>
          </a:solidFill>
          <a:ln w="12700">
            <a:solidFill>
              <a:srgbClr val="5E6E75"/>
            </a:solidFill>
            <a:prstDash val="solid"/>
          </a:ln>
        </p:spPr>
      </p:sp>
      <p:sp>
        <p:nvSpPr>
          <p:cNvPr id="17" name="Shape 15"/>
          <p:cNvSpPr/>
          <p:nvPr/>
        </p:nvSpPr>
        <p:spPr>
          <a:xfrm>
            <a:off x="7406640" y="1554480"/>
            <a:ext cx="2011680" cy="1737360"/>
          </a:xfrm>
          <a:prstGeom prst="roundRect">
            <a:avLst>
              <a:gd name="adj" fmla="val 4211"/>
            </a:avLst>
          </a:prstGeom>
          <a:solidFill>
            <a:srgbClr val="E3F1EE"/>
          </a:solidFill>
          <a:ln w="12700">
            <a:solidFill>
              <a:srgbClr val="E3F1EE"/>
            </a:solidFill>
            <a:prstDash val="solid"/>
          </a:ln>
        </p:spPr>
      </p:sp>
      <p:sp>
        <p:nvSpPr>
          <p:cNvPr id="18" name="Text 16"/>
          <p:cNvSpPr txBox="1"/>
          <p:nvPr/>
        </p:nvSpPr>
        <p:spPr>
          <a:xfrm>
            <a:off x="7589520" y="1691640"/>
            <a:ext cx="1645920" cy="411480"/>
          </a:xfrm>
          <a:prstGeom prst="rect">
            <a:avLst/>
          </a:prstGeom>
          <a:noFill/>
          <a:ln/>
        </p:spPr>
        <p:txBody>
          <a:bodyPr wrap="square" lIns="0" tIns="0" rIns="0" bIns="0" rtlCol="0" anchor="t"/>
          <a:lstStyle/>
          <a:p>
            <a:pPr indent="0" marL="0">
              <a:buNone/>
            </a:pPr>
            <a:r>
              <a:rPr lang="en-US" sz="1900" b="1" dirty="0">
                <a:solidFill>
                  <a:srgbClr val="2A7F6F"/>
                </a:solidFill>
                <a:latin typeface="Cambria" pitchFamily="34" charset="0"/>
                <a:ea typeface="Cambria" pitchFamily="34" charset="-122"/>
                <a:cs typeface="Cambria" pitchFamily="34" charset="-120"/>
              </a:rPr>
              <a:t>Gate 2</a:t>
            </a:r>
            <a:endParaRPr lang="en-US" sz="1900" dirty="0"/>
          </a:p>
        </p:txBody>
      </p:sp>
      <p:sp>
        <p:nvSpPr>
          <p:cNvPr id="19" name="Text 17"/>
          <p:cNvSpPr txBox="1"/>
          <p:nvPr/>
        </p:nvSpPr>
        <p:spPr>
          <a:xfrm>
            <a:off x="7589520" y="2148840"/>
            <a:ext cx="1691640" cy="1097280"/>
          </a:xfrm>
          <a:prstGeom prst="rect">
            <a:avLst/>
          </a:prstGeom>
          <a:noFill/>
          <a:ln/>
        </p:spPr>
        <p:txBody>
          <a:bodyPr wrap="square" lIns="0" tIns="0" rIns="0" bIns="0" rtlCol="0" anchor="t"/>
          <a:lstStyle/>
          <a:p>
            <a:pPr indent="0" marL="0">
              <a:buNone/>
            </a:pPr>
            <a:r>
              <a:rPr lang="en-US" sz="1300" dirty="0">
                <a:solidFill>
                  <a:srgbClr val="27363D"/>
                </a:solidFill>
                <a:latin typeface="Calibri" pitchFamily="34" charset="0"/>
                <a:ea typeface="Calibri" pitchFamily="34" charset="-122"/>
                <a:cs typeface="Calibri" pitchFamily="34" charset="-120"/>
              </a:rPr>
              <a:t>Evidence entails, not contradicts?</a:t>
            </a:r>
            <a:endParaRPr lang="en-US" sz="1300" dirty="0"/>
          </a:p>
        </p:txBody>
      </p:sp>
      <p:sp>
        <p:nvSpPr>
          <p:cNvPr id="20" name="Shape 18"/>
          <p:cNvSpPr/>
          <p:nvPr/>
        </p:nvSpPr>
        <p:spPr>
          <a:xfrm>
            <a:off x="9445752" y="2286000"/>
            <a:ext cx="219456" cy="274320"/>
          </a:xfrm>
          <a:prstGeom prst="rightArrow">
            <a:avLst/>
          </a:prstGeom>
          <a:solidFill>
            <a:srgbClr val="5E6E75"/>
          </a:solidFill>
          <a:ln w="12700">
            <a:solidFill>
              <a:srgbClr val="5E6E75"/>
            </a:solidFill>
            <a:prstDash val="solid"/>
          </a:ln>
        </p:spPr>
      </p:sp>
      <p:sp>
        <p:nvSpPr>
          <p:cNvPr id="21" name="Shape 19"/>
          <p:cNvSpPr/>
          <p:nvPr/>
        </p:nvSpPr>
        <p:spPr>
          <a:xfrm>
            <a:off x="9692640" y="1554480"/>
            <a:ext cx="2011680" cy="1737360"/>
          </a:xfrm>
          <a:prstGeom prst="roundRect">
            <a:avLst>
              <a:gd name="adj" fmla="val 4211"/>
            </a:avLst>
          </a:prstGeom>
          <a:solidFill>
            <a:srgbClr val="E3F1EE"/>
          </a:solidFill>
          <a:ln w="12700">
            <a:solidFill>
              <a:srgbClr val="E3F1EE"/>
            </a:solidFill>
            <a:prstDash val="solid"/>
          </a:ln>
        </p:spPr>
      </p:sp>
      <p:sp>
        <p:nvSpPr>
          <p:cNvPr id="22" name="Text 20"/>
          <p:cNvSpPr txBox="1"/>
          <p:nvPr/>
        </p:nvSpPr>
        <p:spPr>
          <a:xfrm>
            <a:off x="9875520" y="1691640"/>
            <a:ext cx="1645920" cy="411480"/>
          </a:xfrm>
          <a:prstGeom prst="rect">
            <a:avLst/>
          </a:prstGeom>
          <a:noFill/>
          <a:ln/>
        </p:spPr>
        <p:txBody>
          <a:bodyPr wrap="square" lIns="0" tIns="0" rIns="0" bIns="0" rtlCol="0" anchor="t"/>
          <a:lstStyle/>
          <a:p>
            <a:pPr indent="0" marL="0">
              <a:buNone/>
            </a:pPr>
            <a:r>
              <a:rPr lang="en-US" sz="1900" b="1" dirty="0">
                <a:solidFill>
                  <a:srgbClr val="2A7F6F"/>
                </a:solidFill>
                <a:latin typeface="Cambria" pitchFamily="34" charset="0"/>
                <a:ea typeface="Cambria" pitchFamily="34" charset="-122"/>
                <a:cs typeface="Cambria" pitchFamily="34" charset="-120"/>
              </a:rPr>
              <a:t>Gate 3</a:t>
            </a:r>
            <a:endParaRPr lang="en-US" sz="1900" dirty="0"/>
          </a:p>
        </p:txBody>
      </p:sp>
      <p:sp>
        <p:nvSpPr>
          <p:cNvPr id="23" name="Text 21"/>
          <p:cNvSpPr txBox="1"/>
          <p:nvPr/>
        </p:nvSpPr>
        <p:spPr>
          <a:xfrm>
            <a:off x="9875520" y="2148840"/>
            <a:ext cx="1691640" cy="1097280"/>
          </a:xfrm>
          <a:prstGeom prst="rect">
            <a:avLst/>
          </a:prstGeom>
          <a:noFill/>
          <a:ln/>
        </p:spPr>
        <p:txBody>
          <a:bodyPr wrap="square" lIns="0" tIns="0" rIns="0" bIns="0" rtlCol="0" anchor="t"/>
          <a:lstStyle/>
          <a:p>
            <a:pPr indent="0" marL="0">
              <a:buNone/>
            </a:pPr>
            <a:r>
              <a:rPr lang="en-US" sz="1300" dirty="0">
                <a:solidFill>
                  <a:srgbClr val="27363D"/>
                </a:solidFill>
                <a:latin typeface="Calibri" pitchFamily="34" charset="0"/>
                <a:ea typeface="Calibri" pitchFamily="34" charset="-122"/>
                <a:cs typeface="Calibri" pitchFamily="34" charset="-120"/>
              </a:rPr>
              <a:t>Clinically plausible with rest of visit?</a:t>
            </a:r>
            <a:endParaRPr lang="en-US" sz="1300" dirty="0"/>
          </a:p>
        </p:txBody>
      </p:sp>
      <p:sp>
        <p:nvSpPr>
          <p:cNvPr id="24" name="Shape 22"/>
          <p:cNvSpPr/>
          <p:nvPr/>
        </p:nvSpPr>
        <p:spPr>
          <a:xfrm>
            <a:off x="548640" y="3749040"/>
            <a:ext cx="384048" cy="384048"/>
          </a:xfrm>
          <a:prstGeom prst="ellipse">
            <a:avLst/>
          </a:prstGeom>
          <a:solidFill>
            <a:srgbClr val="1E8A4C"/>
          </a:solidFill>
          <a:ln w="12700">
            <a:solidFill>
              <a:srgbClr val="1E8A4C"/>
            </a:solidFill>
            <a:prstDash val="solid"/>
          </a:ln>
        </p:spPr>
      </p:sp>
      <p:sp>
        <p:nvSpPr>
          <p:cNvPr id="25" name="Text 23"/>
          <p:cNvSpPr txBox="1"/>
          <p:nvPr/>
        </p:nvSpPr>
        <p:spPr>
          <a:xfrm>
            <a:off x="1097280" y="3730752"/>
            <a:ext cx="3017520" cy="365760"/>
          </a:xfrm>
          <a:prstGeom prst="rect">
            <a:avLst/>
          </a:prstGeom>
          <a:noFill/>
          <a:ln/>
        </p:spPr>
        <p:txBody>
          <a:bodyPr wrap="square" lIns="0" tIns="0" rIns="0" bIns="0" rtlCol="0" anchor="t"/>
          <a:lstStyle/>
          <a:p>
            <a:pPr indent="0" marL="0">
              <a:buNone/>
            </a:pPr>
            <a:r>
              <a:rPr lang="en-US" sz="1700" b="1" dirty="0">
                <a:solidFill>
                  <a:srgbClr val="1E8A4C"/>
                </a:solidFill>
                <a:latin typeface="Calibri" pitchFamily="34" charset="0"/>
                <a:ea typeface="Calibri" pitchFamily="34" charset="-122"/>
                <a:cs typeface="Calibri" pitchFamily="34" charset="-120"/>
              </a:rPr>
              <a:t>Verified</a:t>
            </a:r>
            <a:endParaRPr lang="en-US" sz="1700" dirty="0"/>
          </a:p>
        </p:txBody>
      </p:sp>
      <p:sp>
        <p:nvSpPr>
          <p:cNvPr id="26" name="Text 24"/>
          <p:cNvSpPr txBox="1"/>
          <p:nvPr/>
        </p:nvSpPr>
        <p:spPr>
          <a:xfrm>
            <a:off x="1097280" y="4114800"/>
            <a:ext cx="3017520" cy="54864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auto-inserted into the note</a:t>
            </a:r>
            <a:endParaRPr lang="en-US" sz="1350" dirty="0"/>
          </a:p>
        </p:txBody>
      </p:sp>
      <p:sp>
        <p:nvSpPr>
          <p:cNvPr id="27" name="Shape 25"/>
          <p:cNvSpPr/>
          <p:nvPr/>
        </p:nvSpPr>
        <p:spPr>
          <a:xfrm>
            <a:off x="4297680" y="3749040"/>
            <a:ext cx="384048" cy="384048"/>
          </a:xfrm>
          <a:prstGeom prst="ellipse">
            <a:avLst/>
          </a:prstGeom>
          <a:solidFill>
            <a:srgbClr val="C98311"/>
          </a:solidFill>
          <a:ln w="12700">
            <a:solidFill>
              <a:srgbClr val="C98311"/>
            </a:solidFill>
            <a:prstDash val="solid"/>
          </a:ln>
        </p:spPr>
      </p:sp>
      <p:sp>
        <p:nvSpPr>
          <p:cNvPr id="28" name="Text 26"/>
          <p:cNvSpPr txBox="1"/>
          <p:nvPr/>
        </p:nvSpPr>
        <p:spPr>
          <a:xfrm>
            <a:off x="4846320" y="3730752"/>
            <a:ext cx="3017520" cy="365760"/>
          </a:xfrm>
          <a:prstGeom prst="rect">
            <a:avLst/>
          </a:prstGeom>
          <a:noFill/>
          <a:ln/>
        </p:spPr>
        <p:txBody>
          <a:bodyPr wrap="square" lIns="0" tIns="0" rIns="0" bIns="0" rtlCol="0" anchor="t"/>
          <a:lstStyle/>
          <a:p>
            <a:pPr indent="0" marL="0">
              <a:buNone/>
            </a:pPr>
            <a:r>
              <a:rPr lang="en-US" sz="1700" b="1" dirty="0">
                <a:solidFill>
                  <a:srgbClr val="C98311"/>
                </a:solidFill>
                <a:latin typeface="Calibri" pitchFamily="34" charset="0"/>
                <a:ea typeface="Calibri" pitchFamily="34" charset="-122"/>
                <a:cs typeface="Calibri" pitchFamily="34" charset="-120"/>
              </a:rPr>
              <a:t>Needs review</a:t>
            </a:r>
            <a:endParaRPr lang="en-US" sz="1700" dirty="0"/>
          </a:p>
        </p:txBody>
      </p:sp>
      <p:sp>
        <p:nvSpPr>
          <p:cNvPr id="29" name="Text 27"/>
          <p:cNvSpPr txBox="1"/>
          <p:nvPr/>
        </p:nvSpPr>
        <p:spPr>
          <a:xfrm>
            <a:off x="4846320" y="4114800"/>
            <a:ext cx="3017520" cy="54864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blocked, queued with reason + audio replay</a:t>
            </a:r>
            <a:endParaRPr lang="en-US" sz="1350" dirty="0"/>
          </a:p>
        </p:txBody>
      </p:sp>
      <p:sp>
        <p:nvSpPr>
          <p:cNvPr id="30" name="Shape 28"/>
          <p:cNvSpPr/>
          <p:nvPr/>
        </p:nvSpPr>
        <p:spPr>
          <a:xfrm>
            <a:off x="8046720" y="3749040"/>
            <a:ext cx="384048" cy="384048"/>
          </a:xfrm>
          <a:prstGeom prst="ellipse">
            <a:avLst/>
          </a:prstGeom>
          <a:solidFill>
            <a:srgbClr val="D1432B"/>
          </a:solidFill>
          <a:ln w="12700">
            <a:solidFill>
              <a:srgbClr val="D1432B"/>
            </a:solidFill>
            <a:prstDash val="solid"/>
          </a:ln>
        </p:spPr>
      </p:sp>
      <p:sp>
        <p:nvSpPr>
          <p:cNvPr id="31" name="Text 29"/>
          <p:cNvSpPr txBox="1"/>
          <p:nvPr/>
        </p:nvSpPr>
        <p:spPr>
          <a:xfrm>
            <a:off x="8595360" y="3730752"/>
            <a:ext cx="3017520" cy="365760"/>
          </a:xfrm>
          <a:prstGeom prst="rect">
            <a:avLst/>
          </a:prstGeom>
          <a:noFill/>
          <a:ln/>
        </p:spPr>
        <p:txBody>
          <a:bodyPr wrap="square" lIns="0" tIns="0" rIns="0" bIns="0" rtlCol="0" anchor="t"/>
          <a:lstStyle/>
          <a:p>
            <a:pPr indent="0" marL="0">
              <a:buNone/>
            </a:pPr>
            <a:r>
              <a:rPr lang="en-US" sz="1700" b="1" dirty="0">
                <a:solidFill>
                  <a:srgbClr val="D1432B"/>
                </a:solidFill>
                <a:latin typeface="Calibri" pitchFamily="34" charset="0"/>
                <a:ea typeface="Calibri" pitchFamily="34" charset="-122"/>
                <a:cs typeface="Calibri" pitchFamily="34" charset="-120"/>
              </a:rPr>
              <a:t>Blocked</a:t>
            </a:r>
            <a:endParaRPr lang="en-US" sz="1700" dirty="0"/>
          </a:p>
        </p:txBody>
      </p:sp>
      <p:sp>
        <p:nvSpPr>
          <p:cNvPr id="32" name="Text 30"/>
          <p:cNvSpPr txBox="1"/>
          <p:nvPr/>
        </p:nvSpPr>
        <p:spPr>
          <a:xfrm>
            <a:off x="8595360" y="4114800"/>
            <a:ext cx="3017520" cy="54864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rejected with logged reason</a:t>
            </a:r>
            <a:endParaRPr lang="en-US" sz="1350" dirty="0"/>
          </a:p>
        </p:txBody>
      </p:sp>
      <p:sp>
        <p:nvSpPr>
          <p:cNvPr id="33" name="Shape 31"/>
          <p:cNvSpPr/>
          <p:nvPr/>
        </p:nvSpPr>
        <p:spPr>
          <a:xfrm>
            <a:off x="548640" y="4892040"/>
            <a:ext cx="11064240" cy="868680"/>
          </a:xfrm>
          <a:prstGeom prst="roundRect">
            <a:avLst>
              <a:gd name="adj" fmla="val 8421"/>
            </a:avLst>
          </a:prstGeom>
          <a:solidFill>
            <a:srgbClr val="E8ECEE"/>
          </a:solidFill>
          <a:ln w="12700">
            <a:solidFill>
              <a:srgbClr val="E8ECEE"/>
            </a:solidFill>
            <a:prstDash val="solid"/>
          </a:ln>
        </p:spPr>
      </p:sp>
      <p:sp>
        <p:nvSpPr>
          <p:cNvPr id="34" name="Text 32"/>
          <p:cNvSpPr txBox="1"/>
          <p:nvPr/>
        </p:nvSpPr>
        <p:spPr>
          <a:xfrm>
            <a:off x="777240" y="5029200"/>
            <a:ext cx="10607040" cy="640080"/>
          </a:xfrm>
          <a:prstGeom prst="rect">
            <a:avLst/>
          </a:prstGeom>
          <a:noFill/>
          <a:ln/>
        </p:spPr>
        <p:txBody>
          <a:bodyPr wrap="square" lIns="0" tIns="0" rIns="0" bIns="0" rtlCol="0" anchor="t"/>
          <a:lstStyle/>
          <a:p>
            <a:pPr indent="0" marL="0">
              <a:buNone/>
            </a:pPr>
            <a:r>
              <a:rPr lang="en-US" sz="1450" b="1" dirty="0">
                <a:solidFill>
                  <a:srgbClr val="27363D"/>
                </a:solidFill>
                <a:latin typeface="Calibri" pitchFamily="34" charset="0"/>
                <a:ea typeface="Calibri" pitchFamily="34" charset="-122"/>
                <a:cs typeface="Calibri" pitchFamily="34" charset="-120"/>
              </a:rPr>
              <a:t>Plus: </a:t>
            </a:r>
            <a:pPr indent="0" marL="0">
              <a:buNone/>
            </a:pPr>
            <a:r>
              <a:rPr lang="en-US" sz="1450" dirty="0">
                <a:solidFill>
                  <a:srgbClr val="27363D"/>
                </a:solidFill>
                <a:latin typeface="Calibri" pitchFamily="34" charset="0"/>
                <a:ea typeface="Calibri" pitchFamily="34" charset="-122"/>
                <a:cs typeface="Calibri" pitchFamily="34" charset="-120"/>
              </a:rPr>
              <a:t>clinician decisions tune per-field thresholds for that clinician; every decision (machine or human) is appended to an audit log, so every line in the chart is traceable.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NOVELTY</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What is new</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Closest prior art: US 11,222,716 B2 [11]; evidence linking: AWS HealthScribe [9], Abridge [10]; NLI consistency: SummaC [6]</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463040"/>
            <a:ext cx="5440680" cy="1188720"/>
          </a:xfrm>
          <a:prstGeom prst="roundRect">
            <a:avLst>
              <a:gd name="adj" fmla="val 6154"/>
            </a:avLst>
          </a:prstGeom>
          <a:solidFill>
            <a:srgbClr val="E3F1EE"/>
          </a:solidFill>
          <a:ln w="12700">
            <a:solidFill>
              <a:srgbClr val="E3F1EE"/>
            </a:solidFill>
            <a:prstDash val="solid"/>
          </a:ln>
        </p:spPr>
      </p:sp>
      <p:sp>
        <p:nvSpPr>
          <p:cNvPr id="7" name="Shape 5"/>
          <p:cNvSpPr/>
          <p:nvPr/>
        </p:nvSpPr>
        <p:spPr>
          <a:xfrm>
            <a:off x="731520" y="1664208"/>
            <a:ext cx="411480" cy="411480"/>
          </a:xfrm>
          <a:prstGeom prst="ellipse">
            <a:avLst/>
          </a:prstGeom>
          <a:solidFill>
            <a:srgbClr val="D1432B"/>
          </a:solidFill>
          <a:ln w="12700">
            <a:solidFill>
              <a:srgbClr val="D1432B"/>
            </a:solidFill>
            <a:prstDash val="solid"/>
          </a:ln>
        </p:spPr>
      </p:sp>
      <p:sp>
        <p:nvSpPr>
          <p:cNvPr id="8" name="Text 6"/>
          <p:cNvSpPr txBox="1"/>
          <p:nvPr/>
        </p:nvSpPr>
        <p:spPr>
          <a:xfrm>
            <a:off x="731520" y="16642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280160" y="1627632"/>
            <a:ext cx="4526280" cy="365760"/>
          </a:xfrm>
          <a:prstGeom prst="rect">
            <a:avLst/>
          </a:prstGeom>
          <a:noFill/>
          <a:ln/>
        </p:spPr>
        <p:txBody>
          <a:bodyPr wrap="square" lIns="0" tIns="0" rIns="0" bIns="0" rtlCol="0" anchor="t"/>
          <a:lstStyle/>
          <a:p>
            <a:pPr indent="0" marL="0">
              <a:buNone/>
            </a:pPr>
            <a:r>
              <a:rPr lang="en-US" sz="1600" b="1" dirty="0">
                <a:solidFill>
                  <a:srgbClr val="0F2A36"/>
                </a:solidFill>
                <a:latin typeface="Calibri" pitchFamily="34" charset="0"/>
                <a:ea typeface="Calibri" pitchFamily="34" charset="-122"/>
                <a:cs typeface="Calibri" pitchFamily="34" charset="-120"/>
              </a:rPr>
              <a:t>Enforce, don't annotate</a:t>
            </a:r>
            <a:endParaRPr lang="en-US" sz="1600" dirty="0"/>
          </a:p>
        </p:txBody>
      </p:sp>
      <p:sp>
        <p:nvSpPr>
          <p:cNvPr id="10" name="Text 8"/>
          <p:cNvSpPr txBox="1"/>
          <p:nvPr/>
        </p:nvSpPr>
        <p:spPr>
          <a:xfrm>
            <a:off x="1280160" y="1965960"/>
            <a:ext cx="4526280" cy="68580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Evidence decides whether each fact may enter the record, instead of being displayed for optional checking [9][10].</a:t>
            </a:r>
            <a:endParaRPr lang="en-US" sz="1250" dirty="0"/>
          </a:p>
        </p:txBody>
      </p:sp>
      <p:sp>
        <p:nvSpPr>
          <p:cNvPr id="11" name="Shape 9"/>
          <p:cNvSpPr/>
          <p:nvPr/>
        </p:nvSpPr>
        <p:spPr>
          <a:xfrm>
            <a:off x="6172200" y="1463040"/>
            <a:ext cx="5440680" cy="1188720"/>
          </a:xfrm>
          <a:prstGeom prst="roundRect">
            <a:avLst>
              <a:gd name="adj" fmla="val 6154"/>
            </a:avLst>
          </a:prstGeom>
          <a:solidFill>
            <a:srgbClr val="E3F1EE"/>
          </a:solidFill>
          <a:ln w="12700">
            <a:solidFill>
              <a:srgbClr val="E3F1EE"/>
            </a:solidFill>
            <a:prstDash val="solid"/>
          </a:ln>
        </p:spPr>
      </p:sp>
      <p:sp>
        <p:nvSpPr>
          <p:cNvPr id="12" name="Shape 10"/>
          <p:cNvSpPr/>
          <p:nvPr/>
        </p:nvSpPr>
        <p:spPr>
          <a:xfrm>
            <a:off x="6355080" y="1664208"/>
            <a:ext cx="411480" cy="411480"/>
          </a:xfrm>
          <a:prstGeom prst="ellipse">
            <a:avLst/>
          </a:prstGeom>
          <a:solidFill>
            <a:srgbClr val="D1432B"/>
          </a:solidFill>
          <a:ln w="12700">
            <a:solidFill>
              <a:srgbClr val="D1432B"/>
            </a:solidFill>
            <a:prstDash val="solid"/>
          </a:ln>
        </p:spPr>
      </p:sp>
      <p:sp>
        <p:nvSpPr>
          <p:cNvPr id="13" name="Text 11"/>
          <p:cNvSpPr txBox="1"/>
          <p:nvPr/>
        </p:nvSpPr>
        <p:spPr>
          <a:xfrm>
            <a:off x="6355080" y="16642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6903720" y="1627632"/>
            <a:ext cx="4526280" cy="365760"/>
          </a:xfrm>
          <a:prstGeom prst="rect">
            <a:avLst/>
          </a:prstGeom>
          <a:noFill/>
          <a:ln/>
        </p:spPr>
        <p:txBody>
          <a:bodyPr wrap="square" lIns="0" tIns="0" rIns="0" bIns="0" rtlCol="0" anchor="t"/>
          <a:lstStyle/>
          <a:p>
            <a:pPr indent="0" marL="0">
              <a:buNone/>
            </a:pPr>
            <a:r>
              <a:rPr lang="en-US" sz="1600" b="1" dirty="0">
                <a:solidFill>
                  <a:srgbClr val="0F2A36"/>
                </a:solidFill>
                <a:latin typeface="Calibri" pitchFamily="34" charset="0"/>
                <a:ea typeface="Calibri" pitchFamily="34" charset="-122"/>
                <a:cs typeface="Calibri" pitchFamily="34" charset="-120"/>
              </a:rPr>
              <a:t>Per-fact dual signal on the same evidence</a:t>
            </a:r>
            <a:endParaRPr lang="en-US" sz="1600" dirty="0"/>
          </a:p>
        </p:txBody>
      </p:sp>
      <p:sp>
        <p:nvSpPr>
          <p:cNvPr id="15" name="Text 13"/>
          <p:cNvSpPr txBox="1"/>
          <p:nvPr/>
        </p:nvSpPr>
        <p:spPr>
          <a:xfrm>
            <a:off x="6903720" y="1965960"/>
            <a:ext cx="4526280" cy="68580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ASR confidence over exactly the quoted words + NLI entailment on the cited segments; contradiction is an absolute block.</a:t>
            </a:r>
            <a:endParaRPr lang="en-US" sz="1250" dirty="0"/>
          </a:p>
        </p:txBody>
      </p:sp>
      <p:sp>
        <p:nvSpPr>
          <p:cNvPr id="16" name="Shape 14"/>
          <p:cNvSpPr/>
          <p:nvPr/>
        </p:nvSpPr>
        <p:spPr>
          <a:xfrm>
            <a:off x="548640" y="2834640"/>
            <a:ext cx="5440680" cy="1188720"/>
          </a:xfrm>
          <a:prstGeom prst="roundRect">
            <a:avLst>
              <a:gd name="adj" fmla="val 6154"/>
            </a:avLst>
          </a:prstGeom>
          <a:solidFill>
            <a:srgbClr val="E3F1EE"/>
          </a:solidFill>
          <a:ln w="12700">
            <a:solidFill>
              <a:srgbClr val="E3F1EE"/>
            </a:solidFill>
            <a:prstDash val="solid"/>
          </a:ln>
        </p:spPr>
      </p:sp>
      <p:sp>
        <p:nvSpPr>
          <p:cNvPr id="17" name="Shape 15"/>
          <p:cNvSpPr/>
          <p:nvPr/>
        </p:nvSpPr>
        <p:spPr>
          <a:xfrm>
            <a:off x="731520" y="3035808"/>
            <a:ext cx="411480" cy="411480"/>
          </a:xfrm>
          <a:prstGeom prst="ellipse">
            <a:avLst/>
          </a:prstGeom>
          <a:solidFill>
            <a:srgbClr val="D1432B"/>
          </a:solidFill>
          <a:ln w="12700">
            <a:solidFill>
              <a:srgbClr val="D1432B"/>
            </a:solidFill>
            <a:prstDash val="solid"/>
          </a:ln>
        </p:spPr>
      </p:sp>
      <p:sp>
        <p:nvSpPr>
          <p:cNvPr id="18" name="Text 16"/>
          <p:cNvSpPr txBox="1"/>
          <p:nvPr/>
        </p:nvSpPr>
        <p:spPr>
          <a:xfrm>
            <a:off x="731520" y="30358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280160" y="2999232"/>
            <a:ext cx="4526280" cy="365760"/>
          </a:xfrm>
          <a:prstGeom prst="rect">
            <a:avLst/>
          </a:prstGeom>
          <a:noFill/>
          <a:ln/>
        </p:spPr>
        <p:txBody>
          <a:bodyPr wrap="square" lIns="0" tIns="0" rIns="0" bIns="0" rtlCol="0" anchor="t"/>
          <a:lstStyle/>
          <a:p>
            <a:pPr indent="0" marL="0">
              <a:buNone/>
            </a:pPr>
            <a:r>
              <a:rPr lang="en-US" sz="1600" b="1" dirty="0">
                <a:solidFill>
                  <a:srgbClr val="0F2A36"/>
                </a:solidFill>
                <a:latin typeface="Calibri" pitchFamily="34" charset="0"/>
                <a:ea typeface="Calibri" pitchFamily="34" charset="-122"/>
                <a:cs typeface="Calibri" pitchFamily="34" charset="-120"/>
              </a:rPr>
              <a:t>Citation integrity first</a:t>
            </a:r>
            <a:endParaRPr lang="en-US" sz="1600" dirty="0"/>
          </a:p>
        </p:txBody>
      </p:sp>
      <p:sp>
        <p:nvSpPr>
          <p:cNvPr id="20" name="Text 18"/>
          <p:cNvSpPr txBox="1"/>
          <p:nvPr/>
        </p:nvSpPr>
        <p:spPr>
          <a:xfrm>
            <a:off x="1280160" y="3337560"/>
            <a:ext cx="4526280" cy="68580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The model must quote verbatim; a quote not found in its segment is rejected before any scoring.</a:t>
            </a:r>
            <a:endParaRPr lang="en-US" sz="1250" dirty="0"/>
          </a:p>
        </p:txBody>
      </p:sp>
      <p:sp>
        <p:nvSpPr>
          <p:cNvPr id="21" name="Shape 19"/>
          <p:cNvSpPr/>
          <p:nvPr/>
        </p:nvSpPr>
        <p:spPr>
          <a:xfrm>
            <a:off x="6172200" y="2834640"/>
            <a:ext cx="5440680" cy="1188720"/>
          </a:xfrm>
          <a:prstGeom prst="roundRect">
            <a:avLst>
              <a:gd name="adj" fmla="val 6154"/>
            </a:avLst>
          </a:prstGeom>
          <a:solidFill>
            <a:srgbClr val="E3F1EE"/>
          </a:solidFill>
          <a:ln w="12700">
            <a:solidFill>
              <a:srgbClr val="E3F1EE"/>
            </a:solidFill>
            <a:prstDash val="solid"/>
          </a:ln>
        </p:spPr>
      </p:sp>
      <p:sp>
        <p:nvSpPr>
          <p:cNvPr id="22" name="Shape 20"/>
          <p:cNvSpPr/>
          <p:nvPr/>
        </p:nvSpPr>
        <p:spPr>
          <a:xfrm>
            <a:off x="6355080" y="3035808"/>
            <a:ext cx="411480" cy="411480"/>
          </a:xfrm>
          <a:prstGeom prst="ellipse">
            <a:avLst/>
          </a:prstGeom>
          <a:solidFill>
            <a:srgbClr val="D1432B"/>
          </a:solidFill>
          <a:ln w="12700">
            <a:solidFill>
              <a:srgbClr val="D1432B"/>
            </a:solidFill>
            <a:prstDash val="solid"/>
          </a:ln>
        </p:spPr>
      </p:sp>
      <p:sp>
        <p:nvSpPr>
          <p:cNvPr id="23" name="Text 21"/>
          <p:cNvSpPr txBox="1"/>
          <p:nvPr/>
        </p:nvSpPr>
        <p:spPr>
          <a:xfrm>
            <a:off x="6355080" y="30358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6903720" y="2999232"/>
            <a:ext cx="4526280" cy="365760"/>
          </a:xfrm>
          <a:prstGeom prst="rect">
            <a:avLst/>
          </a:prstGeom>
          <a:noFill/>
          <a:ln/>
        </p:spPr>
        <p:txBody>
          <a:bodyPr wrap="square" lIns="0" tIns="0" rIns="0" bIns="0" rtlCol="0" anchor="t"/>
          <a:lstStyle/>
          <a:p>
            <a:pPr indent="0" marL="0">
              <a:buNone/>
            </a:pPr>
            <a:r>
              <a:rPr lang="en-US" sz="1600" b="1" dirty="0">
                <a:solidFill>
                  <a:srgbClr val="0F2A36"/>
                </a:solidFill>
                <a:latin typeface="Calibri" pitchFamily="34" charset="0"/>
                <a:ea typeface="Calibri" pitchFamily="34" charset="-122"/>
                <a:cs typeface="Calibri" pitchFamily="34" charset="-120"/>
              </a:rPr>
              <a:t>Third gate for faithful-but-unsafe</a:t>
            </a:r>
            <a:endParaRPr lang="en-US" sz="1600" dirty="0"/>
          </a:p>
        </p:txBody>
      </p:sp>
      <p:sp>
        <p:nvSpPr>
          <p:cNvPr id="25" name="Text 23"/>
          <p:cNvSpPr txBox="1"/>
          <p:nvPr/>
        </p:nvSpPr>
        <p:spPr>
          <a:xfrm>
            <a:off x="6903720" y="3337560"/>
            <a:ext cx="4526280" cy="68580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Allergy class, indication, contraindication, interaction and stewardship checks across the encounter's own facts.</a:t>
            </a:r>
            <a:endParaRPr lang="en-US" sz="1250" dirty="0"/>
          </a:p>
        </p:txBody>
      </p:sp>
      <p:sp>
        <p:nvSpPr>
          <p:cNvPr id="26" name="Shape 24"/>
          <p:cNvSpPr/>
          <p:nvPr/>
        </p:nvSpPr>
        <p:spPr>
          <a:xfrm>
            <a:off x="548640" y="4206240"/>
            <a:ext cx="5440680" cy="1188720"/>
          </a:xfrm>
          <a:prstGeom prst="roundRect">
            <a:avLst>
              <a:gd name="adj" fmla="val 6154"/>
            </a:avLst>
          </a:prstGeom>
          <a:solidFill>
            <a:srgbClr val="E3F1EE"/>
          </a:solidFill>
          <a:ln w="12700">
            <a:solidFill>
              <a:srgbClr val="E3F1EE"/>
            </a:solidFill>
            <a:prstDash val="solid"/>
          </a:ln>
        </p:spPr>
      </p:sp>
      <p:sp>
        <p:nvSpPr>
          <p:cNvPr id="27" name="Shape 25"/>
          <p:cNvSpPr/>
          <p:nvPr/>
        </p:nvSpPr>
        <p:spPr>
          <a:xfrm>
            <a:off x="731520" y="4407408"/>
            <a:ext cx="411480" cy="411480"/>
          </a:xfrm>
          <a:prstGeom prst="ellipse">
            <a:avLst/>
          </a:prstGeom>
          <a:solidFill>
            <a:srgbClr val="D1432B"/>
          </a:solidFill>
          <a:ln w="12700">
            <a:solidFill>
              <a:srgbClr val="D1432B"/>
            </a:solidFill>
            <a:prstDash val="solid"/>
          </a:ln>
        </p:spPr>
      </p:sp>
      <p:sp>
        <p:nvSpPr>
          <p:cNvPr id="28" name="Text 26"/>
          <p:cNvSpPr txBox="1"/>
          <p:nvPr/>
        </p:nvSpPr>
        <p:spPr>
          <a:xfrm>
            <a:off x="731520" y="4407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1280160" y="4370832"/>
            <a:ext cx="4526280" cy="365760"/>
          </a:xfrm>
          <a:prstGeom prst="rect">
            <a:avLst/>
          </a:prstGeom>
          <a:noFill/>
          <a:ln/>
        </p:spPr>
        <p:txBody>
          <a:bodyPr wrap="square" lIns="0" tIns="0" rIns="0" bIns="0" rtlCol="0" anchor="t"/>
          <a:lstStyle/>
          <a:p>
            <a:pPr indent="0" marL="0">
              <a:buNone/>
            </a:pPr>
            <a:r>
              <a:rPr lang="en-US" sz="1600" b="1" dirty="0">
                <a:solidFill>
                  <a:srgbClr val="0F2A36"/>
                </a:solidFill>
                <a:latin typeface="Calibri" pitchFamily="34" charset="0"/>
                <a:ea typeface="Calibri" pitchFamily="34" charset="-122"/>
                <a:cs typeface="Calibri" pitchFamily="34" charset="-120"/>
              </a:rPr>
              <a:t>Learns per clinician</a:t>
            </a:r>
            <a:endParaRPr lang="en-US" sz="1600" dirty="0"/>
          </a:p>
        </p:txBody>
      </p:sp>
      <p:sp>
        <p:nvSpPr>
          <p:cNvPr id="30" name="Text 28"/>
          <p:cNvSpPr txBox="1"/>
          <p:nvPr/>
        </p:nvSpPr>
        <p:spPr>
          <a:xfrm>
            <a:off x="1280160" y="4709160"/>
            <a:ext cx="4526280" cy="68580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Per-field thresholds adapt to each clinician's approve / reject decisions; safety floors never move.</a:t>
            </a:r>
            <a:endParaRPr lang="en-US" sz="1250" dirty="0"/>
          </a:p>
        </p:txBody>
      </p:sp>
      <p:sp>
        <p:nvSpPr>
          <p:cNvPr id="31" name="Shape 29"/>
          <p:cNvSpPr/>
          <p:nvPr/>
        </p:nvSpPr>
        <p:spPr>
          <a:xfrm>
            <a:off x="6172200" y="4206240"/>
            <a:ext cx="5440680" cy="1188720"/>
          </a:xfrm>
          <a:prstGeom prst="roundRect">
            <a:avLst>
              <a:gd name="adj" fmla="val 6154"/>
            </a:avLst>
          </a:prstGeom>
          <a:solidFill>
            <a:srgbClr val="E3F1EE"/>
          </a:solidFill>
          <a:ln w="12700">
            <a:solidFill>
              <a:srgbClr val="E3F1EE"/>
            </a:solidFill>
            <a:prstDash val="solid"/>
          </a:ln>
        </p:spPr>
      </p:sp>
      <p:sp>
        <p:nvSpPr>
          <p:cNvPr id="32" name="Shape 30"/>
          <p:cNvSpPr/>
          <p:nvPr/>
        </p:nvSpPr>
        <p:spPr>
          <a:xfrm>
            <a:off x="6355080" y="4407408"/>
            <a:ext cx="411480" cy="411480"/>
          </a:xfrm>
          <a:prstGeom prst="ellipse">
            <a:avLst/>
          </a:prstGeom>
          <a:solidFill>
            <a:srgbClr val="D1432B"/>
          </a:solidFill>
          <a:ln w="12700">
            <a:solidFill>
              <a:srgbClr val="D1432B"/>
            </a:solidFill>
            <a:prstDash val="solid"/>
          </a:ln>
        </p:spPr>
      </p:sp>
      <p:sp>
        <p:nvSpPr>
          <p:cNvPr id="33" name="Text 31"/>
          <p:cNvSpPr txBox="1"/>
          <p:nvPr/>
        </p:nvSpPr>
        <p:spPr>
          <a:xfrm>
            <a:off x="6355080" y="4407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txBox="1"/>
          <p:nvPr/>
        </p:nvSpPr>
        <p:spPr>
          <a:xfrm>
            <a:off x="6903720" y="4370832"/>
            <a:ext cx="4526280" cy="365760"/>
          </a:xfrm>
          <a:prstGeom prst="rect">
            <a:avLst/>
          </a:prstGeom>
          <a:noFill/>
          <a:ln/>
        </p:spPr>
        <p:txBody>
          <a:bodyPr wrap="square" lIns="0" tIns="0" rIns="0" bIns="0" rtlCol="0" anchor="t"/>
          <a:lstStyle/>
          <a:p>
            <a:pPr indent="0" marL="0">
              <a:buNone/>
            </a:pPr>
            <a:r>
              <a:rPr lang="en-US" sz="1600" b="1" dirty="0">
                <a:solidFill>
                  <a:srgbClr val="0F2A36"/>
                </a:solidFill>
                <a:latin typeface="Calibri" pitchFamily="34" charset="0"/>
                <a:ea typeface="Calibri" pitchFamily="34" charset="-122"/>
                <a:cs typeface="Calibri" pitchFamily="34" charset="-120"/>
              </a:rPr>
              <a:t>No imputed signals</a:t>
            </a:r>
            <a:endParaRPr lang="en-US" sz="1600" dirty="0"/>
          </a:p>
        </p:txBody>
      </p:sp>
      <p:sp>
        <p:nvSpPr>
          <p:cNvPr id="35" name="Text 33"/>
          <p:cNvSpPr txBox="1"/>
          <p:nvPr/>
        </p:nvSpPr>
        <p:spPr>
          <a:xfrm>
            <a:off x="6903720" y="4709160"/>
            <a:ext cx="4526280" cy="68580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Text input has no audio, so the acoustic signal is logged as unavailable rather than faked.</a:t>
            </a:r>
            <a:endParaRPr lang="en-US" sz="1250" dirty="0"/>
          </a:p>
        </p:txBody>
      </p:sp>
      <p:sp>
        <p:nvSpPr>
          <p:cNvPr id="36" name="Text 34"/>
          <p:cNvSpPr txBox="1"/>
          <p:nvPr/>
        </p:nvSpPr>
        <p:spPr>
          <a:xfrm>
            <a:off x="548640" y="5623560"/>
            <a:ext cx="11064240" cy="365760"/>
          </a:xfrm>
          <a:prstGeom prst="rect">
            <a:avLst/>
          </a:prstGeom>
          <a:noFill/>
          <a:ln/>
        </p:spPr>
        <p:txBody>
          <a:bodyPr wrap="square" lIns="0" tIns="0" rIns="0" bIns="0" rtlCol="0" anchor="t"/>
          <a:lstStyle/>
          <a:p>
            <a:pPr indent="0" marL="0">
              <a:buNone/>
            </a:pPr>
            <a:r>
              <a:rPr lang="en-US" sz="1200" b="1" i="1" dirty="0">
                <a:solidFill>
                  <a:srgbClr val="2A7F6F"/>
                </a:solidFill>
                <a:latin typeface="Calibri" pitchFamily="34" charset="0"/>
                <a:ea typeface="Calibri" pitchFamily="34" charset="-122"/>
                <a:cs typeface="Calibri" pitchFamily="34" charset="-120"/>
              </a:rPr>
              <a:t>vs. US 11,222,716: that patent gates whole report sections on predicted editing effort; ours gates each fact on its own evidence.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1 · REFERENCES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10</a:t>
            </a:r>
            <a:endParaRPr lang="en-US" sz="900" dirty="0"/>
          </a:p>
        </p:txBody>
      </p:sp>
      <p:sp>
        <p:nvSpPr>
          <p:cNvPr id="5" name="Text 3"/>
          <p:cNvSpPr txBox="1"/>
          <p:nvPr/>
        </p:nvSpPr>
        <p:spPr>
          <a:xfrm>
            <a:off x="548640" y="1371600"/>
            <a:ext cx="5440680" cy="4937760"/>
          </a:xfrm>
          <a:prstGeom prst="rect">
            <a:avLst/>
          </a:prstGeom>
          <a:noFill/>
          <a:ln/>
        </p:spPr>
        <p:txBody>
          <a:bodyPr wrap="square" lIns="0" tIns="0" rIns="0" bIns="0" rtlCol="0" anchor="t"/>
          <a:lstStyle/>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 Papadopoulos Korfiatis A., Moramarco F., Sarac R., Savkov A. PriMock57: A Dataset of Primary Care Mock Consultations. ACL 2022. github.com/babylonhealth/primock57 (CC BY 4.0)</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[2] Radford A. et al. Robust Speech Recognition via Large-Scale Weak Supervision (Whisper). ICML 2023.</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[3] SYSTRAN. faster-whisper (CTranslate2 Whisper implementation). github.com/SYSTRAN/faster-whisper</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[4] He P., Gao J., Chen W. DeBERTaV3: Improving DeBERTa using ELECTRA-Style Pre-Training with Gradient-Disentangled Embedding Sharing. ICLR 2023.</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[5] Laurer M. DeBERTa-v3-base-mnli-fever-anli (model card). huggingface.co/MoritzLaurer/DeBERTa-v3-base-mnli-fever-anli</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[6] Laban P., Schnabel T., Bennett P. N., Hearst M. A. SummaC: Re-Visiting NLI-based Models for Inconsistency Detection in Summarization. TACL 2022.</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[7] Kryscinski W., McCann B., Xiong C., Socher R. Evaluating the Factual Consistency of Abstractive Text Summarization. EMNLP 2020.</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[8] Yim W. et al. ACI-BENCH: a Novel Ambient Clinical Intelligence Dataset for Benchmarking Automatic Visit Note Generation. Scientific Data 2023.</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[9] AWS HealthScribe - Clinical documentation insights. docs.aws.amazon.com/transcribe/latest/dg/health-scribe-insights.html</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[10] Abridge - Verify a Note With Linked Evidence. support.abridge.com/hc/en-us/articles/30235128433811</a:t>
            </a:r>
            <a:endParaRPr lang="en-US" sz="1050" dirty="0"/>
          </a:p>
        </p:txBody>
      </p:sp>
      <p:sp>
        <p:nvSpPr>
          <p:cNvPr id="6" name="Text 4"/>
          <p:cNvSpPr txBox="1"/>
          <p:nvPr/>
        </p:nvSpPr>
        <p:spPr>
          <a:xfrm>
            <a:off x="6172200" y="1371600"/>
            <a:ext cx="5440680" cy="4937760"/>
          </a:xfrm>
          <a:prstGeom prst="rect">
            <a:avLst/>
          </a:prstGeom>
          <a:noFill/>
          <a:ln/>
        </p:spPr>
        <p:txBody>
          <a:bodyPr wrap="square" lIns="0" tIns="0" rIns="0" bIns="0" rtlCol="0" anchor="t"/>
          <a:lstStyle/>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[11] US 11,222,716 B2. System and method for review of automated clinical documentation from recorded audio. Nuance / Microsoft, 2022.</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[12] US 10,719,222 B2. Method and system for generating transcripts of patient-healthcare provider conversations. Google, 2020.</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[13] US 11,227,688 B2. Interface for patient-provider conversation and auto-generation of note or summary. Google, 2022.</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[14] US 6,006,183 A. Speech recognition confidence level display. IBM, 1999.</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[15] Astute Analytica. AI Clinical Documentation (Ambient Scribe) Market report. astuteanalytica.com</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[16] Towards Healthcare. AI in Medical Scribing Market sizing. towardshealthcare.com</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[17] Google. Gemini API documentation (structured JSON output). ai.google.dev</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[18] RapidFuzz - fuzzy string matching library. github.com/rapidfuzz/RapidFuzz</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[19] British National Formulary (drug indications, contraindications, interactions). bnf.nice.org.uk</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A36"/>
        </a:solidFill>
      </p:bgPr>
    </p:bg>
    <p:spTree>
      <p:nvGrpSpPr>
        <p:cNvPr id="1" name=""/>
        <p:cNvGrpSpPr/>
        <p:nvPr/>
      </p:nvGrpSpPr>
      <p:grpSpPr>
        <a:xfrm>
          <a:off x="0" y="0"/>
          <a:ext cx="0" cy="0"/>
          <a:chOff x="0" y="0"/>
          <a:chExt cx="0" cy="0"/>
        </a:xfrm>
      </p:grpSpPr>
      <p:sp>
        <p:nvSpPr>
          <p:cNvPr id="2" name="Text 0"/>
          <p:cNvSpPr txBox="1"/>
          <p:nvPr/>
        </p:nvSpPr>
        <p:spPr>
          <a:xfrm>
            <a:off x="731520" y="2103120"/>
            <a:ext cx="10058400" cy="365760"/>
          </a:xfrm>
          <a:prstGeom prst="rect">
            <a:avLst/>
          </a:prstGeom>
          <a:noFill/>
          <a:ln/>
        </p:spPr>
        <p:txBody>
          <a:bodyPr wrap="square" lIns="0" tIns="0" rIns="0" bIns="0" rtlCol="0" anchor="t"/>
          <a:lstStyle/>
          <a:p>
            <a:pPr indent="0" marL="0">
              <a:buNone/>
            </a:pPr>
            <a:r>
              <a:rPr lang="en-US" sz="1400" b="1" spc="300" kern="0" dirty="0">
                <a:solidFill>
                  <a:srgbClr val="8FD3C3"/>
                </a:solidFill>
                <a:latin typeface="Calibri" pitchFamily="34" charset="0"/>
                <a:ea typeface="Calibri" pitchFamily="34" charset="-122"/>
                <a:cs typeface="Calibri" pitchFamily="34" charset="-120"/>
              </a:rPr>
              <a:t>REVIEW 2</a:t>
            </a:r>
            <a:endParaRPr lang="en-US" sz="1400" dirty="0"/>
          </a:p>
        </p:txBody>
      </p:sp>
      <p:sp>
        <p:nvSpPr>
          <p:cNvPr id="3" name="Text 1"/>
          <p:cNvSpPr txBox="1"/>
          <p:nvPr/>
        </p:nvSpPr>
        <p:spPr>
          <a:xfrm>
            <a:off x="731520" y="2514600"/>
            <a:ext cx="10515600"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Methodology and system development</a:t>
            </a:r>
            <a:endParaRPr lang="en-US" sz="4000" dirty="0"/>
          </a:p>
        </p:txBody>
      </p:sp>
      <p:sp>
        <p:nvSpPr>
          <p:cNvPr id="4" name="Text 2"/>
          <p:cNvSpPr txBox="1"/>
          <p:nvPr/>
        </p:nvSpPr>
        <p:spPr>
          <a:xfrm>
            <a:off x="731520" y="3931920"/>
            <a:ext cx="10058400" cy="914400"/>
          </a:xfrm>
          <a:prstGeom prst="rect">
            <a:avLst/>
          </a:prstGeom>
          <a:noFill/>
          <a:ln/>
        </p:spPr>
        <p:txBody>
          <a:bodyPr wrap="square" lIns="0" tIns="0" rIns="0" bIns="0" rtlCol="0" anchor="t"/>
          <a:lstStyle/>
          <a:p>
            <a:pPr indent="0" marL="0">
              <a:buNone/>
            </a:pPr>
            <a:r>
              <a:rPr lang="en-US" sz="1800" dirty="0">
                <a:solidFill>
                  <a:srgbClr val="C8DAD6"/>
                </a:solidFill>
                <a:latin typeface="Calibri" pitchFamily="34" charset="0"/>
                <a:ea typeface="Calibri" pitchFamily="34" charset="-122"/>
                <a:cs typeface="Calibri" pitchFamily="34" charset="-120"/>
              </a:rPr>
              <a:t>Architecture · data · models · the pipeline step by step · algorithm · validation · preliminary results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PROPOSED ARCHITECTURE</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Proposed architecture</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Figure generated from the prototype's module structure (prototype/src); ASR [2][3]; NLI [4][5]; LLM [17]</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12</a:t>
            </a:r>
            <a:endParaRPr lang="en-US" sz="900" dirty="0"/>
          </a:p>
        </p:txBody>
      </p:sp>
      <p:pic>
        <p:nvPicPr>
          <p:cNvPr id="6" name="Image 0" descr="C:\Users\user\medical-scribe-ai-patent\patent\figures\labeled\fig1_system.png">    </p:cNvPr>
          <p:cNvPicPr>
            <a:picLocks noChangeAspect="1"/>
          </p:cNvPicPr>
          <p:nvPr/>
        </p:nvPicPr>
        <p:blipFill>
          <a:blip r:embed="rId1"/>
          <a:srcRect l="0" r="0" t="0" b="0"/>
          <a:stretch/>
        </p:blipFill>
        <p:spPr>
          <a:xfrm>
            <a:off x="548640" y="1325880"/>
            <a:ext cx="6720840" cy="4846320"/>
          </a:xfrm>
          <a:prstGeom prst="rect">
            <a:avLst/>
          </a:prstGeom>
        </p:spPr>
      </p:pic>
      <p:sp>
        <p:nvSpPr>
          <p:cNvPr id="7" name="Text 4"/>
          <p:cNvSpPr txBox="1"/>
          <p:nvPr/>
        </p:nvSpPr>
        <p:spPr>
          <a:xfrm>
            <a:off x="7543800" y="1463040"/>
            <a:ext cx="4114800" cy="4480560"/>
          </a:xfrm>
          <a:prstGeom prst="rect">
            <a:avLst/>
          </a:prstGeom>
          <a:noFill/>
          <a:ln/>
        </p:spPr>
        <p:txBody>
          <a:bodyPr wrap="square" lIns="0" tIns="0" rIns="0" bIns="0" rtlCol="0" anchor="t"/>
          <a:lstStyle/>
          <a:p>
            <a:pPr marL="203200" indent="-203200">
              <a:spcAft>
                <a:spcPts val="600"/>
              </a:spcAft>
              <a:buSzPct val="100000"/>
              <a:buChar char="•"/>
            </a:pPr>
            <a:r>
              <a:rPr lang="en-US" sz="1350" b="1" dirty="0">
                <a:solidFill>
                  <a:srgbClr val="27363D"/>
                </a:solidFill>
                <a:latin typeface="Calibri" pitchFamily="34" charset="0"/>
                <a:ea typeface="Calibri" pitchFamily="34" charset="-122"/>
                <a:cs typeface="Calibri" pitchFamily="34" charset="-120"/>
              </a:rPr>
              <a:t>Capture + ASR (100-130): </a:t>
            </a:r>
            <a:pPr indent="0" marL="0">
              <a:buNone/>
            </a:pPr>
            <a:r>
              <a:rPr lang="en-US" sz="1350" dirty="0">
                <a:solidFill>
                  <a:srgbClr val="27363D"/>
                </a:solidFill>
                <a:latin typeface="Calibri" pitchFamily="34" charset="0"/>
                <a:ea typeface="Calibri" pitchFamily="34" charset="-122"/>
                <a:cs typeface="Calibri" pitchFamily="34" charset="-120"/>
              </a:rPr>
              <a:t>local Whisper, per-word probability, speaker roles</a:t>
            </a:r>
            <a:endParaRPr lang="en-US" sz="1350" dirty="0"/>
          </a:p>
          <a:p>
            <a:pPr marL="203200" indent="-203200">
              <a:spcAft>
                <a:spcPts val="600"/>
              </a:spcAft>
              <a:buSzPct val="100000"/>
              <a:buChar char="•"/>
            </a:pPr>
            <a:r>
              <a:rPr lang="en-US" sz="1350" b="1" dirty="0">
                <a:solidFill>
                  <a:srgbClr val="27363D"/>
                </a:solidFill>
                <a:latin typeface="Calibri" pitchFamily="34" charset="0"/>
                <a:ea typeface="Calibri" pitchFamily="34" charset="-122"/>
                <a:cs typeface="Calibri" pitchFamily="34" charset="-120"/>
              </a:rPr>
              <a:t>Extractor (140): </a:t>
            </a:r>
            <a:pPr indent="0" marL="0">
              <a:buNone/>
            </a:pPr>
            <a:r>
              <a:rPr lang="en-US" sz="1350" dirty="0">
                <a:solidFill>
                  <a:srgbClr val="27363D"/>
                </a:solidFill>
                <a:latin typeface="Calibri" pitchFamily="34" charset="0"/>
                <a:ea typeface="Calibri" pitchFamily="34" charset="-122"/>
                <a:cs typeface="Calibri" pitchFamily="34" charset="-120"/>
              </a:rPr>
              <a:t>rule-based or LLM; facts with citations + quotes</a:t>
            </a:r>
            <a:endParaRPr lang="en-US" sz="1350" dirty="0"/>
          </a:p>
          <a:p>
            <a:pPr marL="203200" indent="-203200">
              <a:spcAft>
                <a:spcPts val="600"/>
              </a:spcAft>
              <a:buSzPct val="100000"/>
              <a:buChar char="•"/>
            </a:pPr>
            <a:r>
              <a:rPr lang="en-US" sz="1350" b="1" dirty="0">
                <a:solidFill>
                  <a:srgbClr val="27363D"/>
                </a:solidFill>
                <a:latin typeface="Calibri" pitchFamily="34" charset="0"/>
                <a:ea typeface="Calibri" pitchFamily="34" charset="-122"/>
                <a:cs typeface="Calibri" pitchFamily="34" charset="-120"/>
              </a:rPr>
              <a:t>Gates 0-2 (150-180): </a:t>
            </a:r>
            <a:pPr indent="0" marL="0">
              <a:buNone/>
            </a:pPr>
            <a:r>
              <a:rPr lang="en-US" sz="1350" dirty="0">
                <a:solidFill>
                  <a:srgbClr val="27363D"/>
                </a:solidFill>
                <a:latin typeface="Calibri" pitchFamily="34" charset="0"/>
                <a:ea typeface="Calibri" pitchFamily="34" charset="-122"/>
                <a:cs typeface="Calibri" pitchFamily="34" charset="-120"/>
              </a:rPr>
              <a:t>quote check, acoustic, entailment, per-field threshold</a:t>
            </a:r>
            <a:endParaRPr lang="en-US" sz="1350" dirty="0"/>
          </a:p>
          <a:p>
            <a:pPr marL="203200" indent="-203200">
              <a:spcAft>
                <a:spcPts val="600"/>
              </a:spcAft>
              <a:buSzPct val="100000"/>
              <a:buChar char="•"/>
            </a:pPr>
            <a:r>
              <a:rPr lang="en-US" sz="1350" b="1" dirty="0">
                <a:solidFill>
                  <a:srgbClr val="27363D"/>
                </a:solidFill>
                <a:latin typeface="Calibri" pitchFamily="34" charset="0"/>
                <a:ea typeface="Calibri" pitchFamily="34" charset="-122"/>
                <a:cs typeface="Calibri" pitchFamily="34" charset="-120"/>
              </a:rPr>
              <a:t>Gate 3 (190): </a:t>
            </a:r>
            <a:pPr indent="0" marL="0">
              <a:buNone/>
            </a:pPr>
            <a:r>
              <a:rPr lang="en-US" sz="1350" dirty="0">
                <a:solidFill>
                  <a:srgbClr val="27363D"/>
                </a:solidFill>
                <a:latin typeface="Calibri" pitchFamily="34" charset="0"/>
                <a:ea typeface="Calibri" pitchFamily="34" charset="-122"/>
                <a:cs typeface="Calibri" pitchFamily="34" charset="-120"/>
              </a:rPr>
              <a:t>clinical plausibility</a:t>
            </a:r>
            <a:endParaRPr lang="en-US" sz="1350" dirty="0"/>
          </a:p>
          <a:p>
            <a:pPr marL="203200" indent="-203200">
              <a:spcAft>
                <a:spcPts val="600"/>
              </a:spcAft>
              <a:buSzPct val="100000"/>
              <a:buChar char="•"/>
            </a:pPr>
            <a:r>
              <a:rPr lang="en-US" sz="1350" b="1" dirty="0">
                <a:solidFill>
                  <a:srgbClr val="27363D"/>
                </a:solidFill>
                <a:latin typeface="Calibri" pitchFamily="34" charset="0"/>
                <a:ea typeface="Calibri" pitchFamily="34" charset="-122"/>
                <a:cs typeface="Calibri" pitchFamily="34" charset="-120"/>
              </a:rPr>
              <a:t>Outputs (200-230): </a:t>
            </a:r>
            <a:pPr indent="0" marL="0">
              <a:buNone/>
            </a:pPr>
            <a:r>
              <a:rPr lang="en-US" sz="1350" dirty="0">
                <a:solidFill>
                  <a:srgbClr val="27363D"/>
                </a:solidFill>
                <a:latin typeface="Calibri" pitchFamily="34" charset="0"/>
                <a:ea typeface="Calibri" pitchFamily="34" charset="-122"/>
                <a:cs typeface="Calibri" pitchFamily="34" charset="-120"/>
              </a:rPr>
              <a:t>note, review queue, calibration store, audit log</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ENVIRONMENT SETUP</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Environment setup</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[2][3] Whisper / faster-whisper; [4][5] DeBERTa NLI; [17] Gemini API; [18] RapidFuzz</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406640" cy="914400"/>
        </p:xfrm>
        <a:graphic>
          <a:graphicData uri="http://schemas.openxmlformats.org/drawingml/2006/table">
            <a:tbl>
              <a:tblPr/>
              <a:tblGrid>
                <a:gridCol w="1737360"/>
                <a:gridCol w="3108960"/>
                <a:gridCol w="256032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Layer</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Technology</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r>
              <a:tr h="45720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Language / backend</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Python 3.13, FastAPI, Uvicorn</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async API, background pipeline jobs</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45720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Speech recognition</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faster-whisper (Whisper base.en, int8, CPU) [2][3]</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local: audio never leaves the machine; word-level probabilities</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45720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Entailment</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PyTorch 2.8 + Transformers; DeBERTa-v3 NLI [4][5]</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local P(entail / neutral / contradict)</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45720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Quote alignment</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RapidFuzz partial-ratio alignment [18]</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fuzzy match quote inside segment</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45720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Fact extraction</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Rule-based, or Gemini 3.6 Flash with JSON schema [17]; Claude optional</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structured, cited output</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45720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Storage</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SQLite (users, patients, cases); JSON case files; JSONL audit log</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simple, inspectable</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45720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Front end</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HTML / CSS / JavaScript</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upload, live progress, review, audio replay</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bl>
          </a:graphicData>
        </a:graphic>
      </p:graphicFrame>
      <p:sp>
        <p:nvSpPr>
          <p:cNvPr id="7" name="Shape 4"/>
          <p:cNvSpPr/>
          <p:nvPr/>
        </p:nvSpPr>
        <p:spPr>
          <a:xfrm>
            <a:off x="8229600" y="1417320"/>
            <a:ext cx="3383280" cy="4160520"/>
          </a:xfrm>
          <a:prstGeom prst="roundRect">
            <a:avLst>
              <a:gd name="adj" fmla="val 2162"/>
            </a:avLst>
          </a:prstGeom>
          <a:solidFill>
            <a:srgbClr val="E3F1EE"/>
          </a:solidFill>
          <a:ln w="12700">
            <a:solidFill>
              <a:srgbClr val="E3F1EE"/>
            </a:solidFill>
            <a:prstDash val="solid"/>
          </a:ln>
        </p:spPr>
      </p:sp>
      <p:sp>
        <p:nvSpPr>
          <p:cNvPr id="8" name="Text 5"/>
          <p:cNvSpPr txBox="1"/>
          <p:nvPr/>
        </p:nvSpPr>
        <p:spPr>
          <a:xfrm>
            <a:off x="8458200" y="1572768"/>
            <a:ext cx="2926080" cy="365760"/>
          </a:xfrm>
          <a:prstGeom prst="rect">
            <a:avLst/>
          </a:prstGeom>
          <a:noFill/>
          <a:ln/>
        </p:spPr>
        <p:txBody>
          <a:bodyPr wrap="square" lIns="0" tIns="0" rIns="0" bIns="0" rtlCol="0" anchor="t"/>
          <a:lstStyle/>
          <a:p>
            <a:pPr indent="0" marL="0">
              <a:buNone/>
            </a:pPr>
            <a:r>
              <a:rPr lang="en-US" sz="1500" b="1" dirty="0">
                <a:solidFill>
                  <a:srgbClr val="2A7F6F"/>
                </a:solidFill>
                <a:latin typeface="Calibri" pitchFamily="34" charset="0"/>
                <a:ea typeface="Calibri" pitchFamily="34" charset="-122"/>
                <a:cs typeface="Calibri" pitchFamily="34" charset="-120"/>
              </a:rPr>
              <a:t>Test machine</a:t>
            </a:r>
            <a:endParaRPr lang="en-US" sz="1500" dirty="0"/>
          </a:p>
        </p:txBody>
      </p:sp>
      <p:sp>
        <p:nvSpPr>
          <p:cNvPr id="9" name="Text 6"/>
          <p:cNvSpPr txBox="1"/>
          <p:nvPr/>
        </p:nvSpPr>
        <p:spPr>
          <a:xfrm>
            <a:off x="8458200" y="1965960"/>
            <a:ext cx="292608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8-core CPU</a:t>
            </a:r>
            <a:endParaRPr lang="en-US" sz="4000" dirty="0"/>
          </a:p>
        </p:txBody>
      </p:sp>
      <p:sp>
        <p:nvSpPr>
          <p:cNvPr id="10" name="Text 7"/>
          <p:cNvSpPr txBox="1"/>
          <p:nvPr/>
        </p:nvSpPr>
        <p:spPr>
          <a:xfrm>
            <a:off x="8458200" y="2715768"/>
            <a:ext cx="29260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no GPU</a:t>
            </a:r>
            <a:endParaRPr lang="en-US" sz="1250" dirty="0"/>
          </a:p>
        </p:txBody>
      </p:sp>
      <p:sp>
        <p:nvSpPr>
          <p:cNvPr id="11" name="Text 8"/>
          <p:cNvSpPr txBox="1"/>
          <p:nvPr/>
        </p:nvSpPr>
        <p:spPr>
          <a:xfrm>
            <a:off x="8458200" y="3246120"/>
            <a:ext cx="292608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7.8 GB RAM</a:t>
            </a:r>
            <a:endParaRPr lang="en-US" sz="4000" dirty="0"/>
          </a:p>
        </p:txBody>
      </p:sp>
      <p:sp>
        <p:nvSpPr>
          <p:cNvPr id="12" name="Text 9"/>
          <p:cNvSpPr txBox="1"/>
          <p:nvPr/>
        </p:nvSpPr>
        <p:spPr>
          <a:xfrm>
            <a:off x="8458200" y="3995928"/>
            <a:ext cx="29260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Windows 11; models cached locally</a:t>
            </a:r>
            <a:endParaRPr lang="en-US" sz="1250" dirty="0"/>
          </a:p>
        </p:txBody>
      </p:sp>
      <p:sp>
        <p:nvSpPr>
          <p:cNvPr id="13" name="Text 10"/>
          <p:cNvSpPr txBox="1"/>
          <p:nvPr/>
        </p:nvSpPr>
        <p:spPr>
          <a:xfrm>
            <a:off x="8458200" y="4800600"/>
            <a:ext cx="2926080" cy="548640"/>
          </a:xfrm>
          <a:prstGeom prst="rect">
            <a:avLst/>
          </a:prstGeom>
          <a:noFill/>
          <a:ln/>
        </p:spPr>
        <p:txBody>
          <a:bodyPr wrap="square" lIns="0" tIns="0" rIns="0" bIns="0" rtlCol="0" anchor="t"/>
          <a:lstStyle/>
          <a:p>
            <a:pPr indent="0" marL="0">
              <a:buNone/>
            </a:pPr>
            <a:r>
              <a:rPr lang="en-US" sz="1250" i="1" dirty="0">
                <a:solidFill>
                  <a:srgbClr val="5E6E75"/>
                </a:solidFill>
                <a:latin typeface="Calibri" pitchFamily="34" charset="0"/>
                <a:ea typeface="Calibri" pitchFamily="34" charset="-122"/>
                <a:cs typeface="Calibri" pitchFamily="34" charset="-120"/>
              </a:rPr>
              <a:t>Everything runs on a student laptop.</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DATASET COLLECTION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Dataset: PriMock57 (real audio, real transcripts)</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[1] Papadopoulos Korfiatis et al., ACL 2022 - Babylon Health, CC BY 4.0; statistics computed by us from the released transcripts</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14</a:t>
            </a:r>
            <a:endParaRPr lang="en-US" sz="900" dirty="0"/>
          </a:p>
        </p:txBody>
      </p:sp>
      <p:sp>
        <p:nvSpPr>
          <p:cNvPr id="6" name="Text 4"/>
          <p:cNvSpPr txBox="1"/>
          <p:nvPr/>
        </p:nvSpPr>
        <p:spPr>
          <a:xfrm>
            <a:off x="548640" y="1417320"/>
            <a:ext cx="11064240" cy="822960"/>
          </a:xfrm>
          <a:prstGeom prst="rect">
            <a:avLst/>
          </a:prstGeom>
          <a:noFill/>
          <a:ln/>
        </p:spPr>
        <p:txBody>
          <a:bodyPr wrap="square" lIns="0" tIns="0" rIns="0" bIns="0" rtlCol="0" anchor="t"/>
          <a:lstStyle/>
          <a:p>
            <a:pPr indent="0" marL="0">
              <a:buNone/>
            </a:pPr>
            <a:r>
              <a:rPr lang="en-US" sz="1500" dirty="0">
                <a:solidFill>
                  <a:srgbClr val="27363D"/>
                </a:solidFill>
                <a:latin typeface="Calibri" pitchFamily="34" charset="0"/>
                <a:ea typeface="Calibri" pitchFamily="34" charset="-122"/>
                <a:cs typeface="Calibri" pitchFamily="34" charset="-120"/>
              </a:rPr>
              <a:t>57 mock primary-care consultations recorded by Babylon Health: real clinicians, actors as patients, separate doctor and patient audio channels, human transcripts and reference clinical notes. We use it because it is real speech with ground truth, and freely licensed [1].</a:t>
            </a:r>
            <a:endParaRPr lang="en-US" sz="1500" dirty="0"/>
          </a:p>
        </p:txBody>
      </p:sp>
      <p:sp>
        <p:nvSpPr>
          <p:cNvPr id="7" name="Shape 5"/>
          <p:cNvSpPr/>
          <p:nvPr/>
        </p:nvSpPr>
        <p:spPr>
          <a:xfrm>
            <a:off x="548640" y="2468880"/>
            <a:ext cx="2057400" cy="1645920"/>
          </a:xfrm>
          <a:prstGeom prst="roundRect">
            <a:avLst>
              <a:gd name="adj" fmla="val 4444"/>
            </a:avLst>
          </a:prstGeom>
          <a:solidFill>
            <a:srgbClr val="E3F1EE"/>
          </a:solidFill>
          <a:ln w="12700">
            <a:solidFill>
              <a:srgbClr val="E3F1EE"/>
            </a:solidFill>
            <a:prstDash val="solid"/>
          </a:ln>
        </p:spPr>
      </p:sp>
      <p:sp>
        <p:nvSpPr>
          <p:cNvPr id="8" name="Text 6"/>
          <p:cNvSpPr txBox="1"/>
          <p:nvPr/>
        </p:nvSpPr>
        <p:spPr>
          <a:xfrm>
            <a:off x="731520" y="2606040"/>
            <a:ext cx="1783080" cy="731520"/>
          </a:xfrm>
          <a:prstGeom prst="rect">
            <a:avLst/>
          </a:prstGeom>
          <a:noFill/>
          <a:ln/>
        </p:spPr>
        <p:txBody>
          <a:bodyPr wrap="square" lIns="0" tIns="0" rIns="0" bIns="0" rtlCol="0" anchor="t"/>
          <a:lstStyle/>
          <a:p>
            <a:pPr indent="0" marL="0">
              <a:buNone/>
            </a:pPr>
            <a:r>
              <a:rPr lang="en-US" sz="4000" b="1" dirty="0">
                <a:solidFill>
                  <a:srgbClr val="D1432B"/>
                </a:solidFill>
                <a:latin typeface="Cambria" pitchFamily="34" charset="0"/>
                <a:ea typeface="Cambria" pitchFamily="34" charset="-122"/>
                <a:cs typeface="Cambria" pitchFamily="34" charset="-120"/>
              </a:rPr>
              <a:t>57</a:t>
            </a:r>
            <a:endParaRPr lang="en-US" sz="4000" dirty="0"/>
          </a:p>
        </p:txBody>
      </p:sp>
      <p:sp>
        <p:nvSpPr>
          <p:cNvPr id="9" name="Text 7"/>
          <p:cNvSpPr txBox="1"/>
          <p:nvPr/>
        </p:nvSpPr>
        <p:spPr>
          <a:xfrm>
            <a:off x="731520" y="3355848"/>
            <a:ext cx="17830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consultations</a:t>
            </a:r>
            <a:endParaRPr lang="en-US" sz="1250" dirty="0"/>
          </a:p>
        </p:txBody>
      </p:sp>
      <p:sp>
        <p:nvSpPr>
          <p:cNvPr id="10" name="Shape 8"/>
          <p:cNvSpPr/>
          <p:nvPr/>
        </p:nvSpPr>
        <p:spPr>
          <a:xfrm>
            <a:off x="2788920" y="2468880"/>
            <a:ext cx="2057400" cy="1645920"/>
          </a:xfrm>
          <a:prstGeom prst="roundRect">
            <a:avLst>
              <a:gd name="adj" fmla="val 4444"/>
            </a:avLst>
          </a:prstGeom>
          <a:solidFill>
            <a:srgbClr val="E3F1EE"/>
          </a:solidFill>
          <a:ln w="12700">
            <a:solidFill>
              <a:srgbClr val="E3F1EE"/>
            </a:solidFill>
            <a:prstDash val="solid"/>
          </a:ln>
        </p:spPr>
      </p:sp>
      <p:sp>
        <p:nvSpPr>
          <p:cNvPr id="11" name="Text 9"/>
          <p:cNvSpPr txBox="1"/>
          <p:nvPr/>
        </p:nvSpPr>
        <p:spPr>
          <a:xfrm>
            <a:off x="2971800" y="2606040"/>
            <a:ext cx="178308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8.6 h</a:t>
            </a:r>
            <a:endParaRPr lang="en-US" sz="4000" dirty="0"/>
          </a:p>
        </p:txBody>
      </p:sp>
      <p:sp>
        <p:nvSpPr>
          <p:cNvPr id="12" name="Text 10"/>
          <p:cNvSpPr txBox="1"/>
          <p:nvPr/>
        </p:nvSpPr>
        <p:spPr>
          <a:xfrm>
            <a:off x="2971800" y="3355848"/>
            <a:ext cx="17830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total conversation time</a:t>
            </a:r>
            <a:endParaRPr lang="en-US" sz="1250" dirty="0"/>
          </a:p>
        </p:txBody>
      </p:sp>
      <p:sp>
        <p:nvSpPr>
          <p:cNvPr id="13" name="Shape 11"/>
          <p:cNvSpPr/>
          <p:nvPr/>
        </p:nvSpPr>
        <p:spPr>
          <a:xfrm>
            <a:off x="5029200" y="2468880"/>
            <a:ext cx="2057400" cy="1645920"/>
          </a:xfrm>
          <a:prstGeom prst="roundRect">
            <a:avLst>
              <a:gd name="adj" fmla="val 4444"/>
            </a:avLst>
          </a:prstGeom>
          <a:solidFill>
            <a:srgbClr val="E3F1EE"/>
          </a:solidFill>
          <a:ln w="12700">
            <a:solidFill>
              <a:srgbClr val="E3F1EE"/>
            </a:solidFill>
            <a:prstDash val="solid"/>
          </a:ln>
        </p:spPr>
      </p:sp>
      <p:sp>
        <p:nvSpPr>
          <p:cNvPr id="14" name="Text 12"/>
          <p:cNvSpPr txBox="1"/>
          <p:nvPr/>
        </p:nvSpPr>
        <p:spPr>
          <a:xfrm>
            <a:off x="5212080" y="2606040"/>
            <a:ext cx="178308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6,727</a:t>
            </a:r>
            <a:endParaRPr lang="en-US" sz="4000" dirty="0"/>
          </a:p>
        </p:txBody>
      </p:sp>
      <p:sp>
        <p:nvSpPr>
          <p:cNvPr id="15" name="Text 13"/>
          <p:cNvSpPr txBox="1"/>
          <p:nvPr/>
        </p:nvSpPr>
        <p:spPr>
          <a:xfrm>
            <a:off x="5212080" y="3355848"/>
            <a:ext cx="17830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human-transcribed utterances</a:t>
            </a:r>
            <a:endParaRPr lang="en-US" sz="1250" dirty="0"/>
          </a:p>
        </p:txBody>
      </p:sp>
      <p:sp>
        <p:nvSpPr>
          <p:cNvPr id="16" name="Shape 14"/>
          <p:cNvSpPr/>
          <p:nvPr/>
        </p:nvSpPr>
        <p:spPr>
          <a:xfrm>
            <a:off x="7269480" y="2468880"/>
            <a:ext cx="2057400" cy="1645920"/>
          </a:xfrm>
          <a:prstGeom prst="roundRect">
            <a:avLst>
              <a:gd name="adj" fmla="val 4444"/>
            </a:avLst>
          </a:prstGeom>
          <a:solidFill>
            <a:srgbClr val="E3F1EE"/>
          </a:solidFill>
          <a:ln w="12700">
            <a:solidFill>
              <a:srgbClr val="E3F1EE"/>
            </a:solidFill>
            <a:prstDash val="solid"/>
          </a:ln>
        </p:spPr>
      </p:sp>
      <p:sp>
        <p:nvSpPr>
          <p:cNvPr id="17" name="Text 15"/>
          <p:cNvSpPr txBox="1"/>
          <p:nvPr/>
        </p:nvSpPr>
        <p:spPr>
          <a:xfrm>
            <a:off x="7452360" y="2606040"/>
            <a:ext cx="178308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85,914</a:t>
            </a:r>
            <a:endParaRPr lang="en-US" sz="4000" dirty="0"/>
          </a:p>
        </p:txBody>
      </p:sp>
      <p:sp>
        <p:nvSpPr>
          <p:cNvPr id="18" name="Text 16"/>
          <p:cNvSpPr txBox="1"/>
          <p:nvPr/>
        </p:nvSpPr>
        <p:spPr>
          <a:xfrm>
            <a:off x="7452360" y="3355848"/>
            <a:ext cx="17830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words</a:t>
            </a:r>
            <a:endParaRPr lang="en-US" sz="1250" dirty="0"/>
          </a:p>
        </p:txBody>
      </p:sp>
      <p:sp>
        <p:nvSpPr>
          <p:cNvPr id="19" name="Shape 17"/>
          <p:cNvSpPr/>
          <p:nvPr/>
        </p:nvSpPr>
        <p:spPr>
          <a:xfrm>
            <a:off x="9509760" y="2468880"/>
            <a:ext cx="2057400" cy="1645920"/>
          </a:xfrm>
          <a:prstGeom prst="roundRect">
            <a:avLst>
              <a:gd name="adj" fmla="val 4444"/>
            </a:avLst>
          </a:prstGeom>
          <a:solidFill>
            <a:srgbClr val="E3F1EE"/>
          </a:solidFill>
          <a:ln w="12700">
            <a:solidFill>
              <a:srgbClr val="E3F1EE"/>
            </a:solidFill>
            <a:prstDash val="solid"/>
          </a:ln>
        </p:spPr>
      </p:sp>
      <p:sp>
        <p:nvSpPr>
          <p:cNvPr id="20" name="Text 18"/>
          <p:cNvSpPr txBox="1"/>
          <p:nvPr/>
        </p:nvSpPr>
        <p:spPr>
          <a:xfrm>
            <a:off x="9692640" y="2606040"/>
            <a:ext cx="178308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9.1 min</a:t>
            </a:r>
            <a:endParaRPr lang="en-US" sz="4000" dirty="0"/>
          </a:p>
        </p:txBody>
      </p:sp>
      <p:sp>
        <p:nvSpPr>
          <p:cNvPr id="21" name="Text 19"/>
          <p:cNvSpPr txBox="1"/>
          <p:nvPr/>
        </p:nvSpPr>
        <p:spPr>
          <a:xfrm>
            <a:off x="9692640" y="3355848"/>
            <a:ext cx="17830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mean length (3.8 - 14.3)</a:t>
            </a:r>
            <a:endParaRPr lang="en-US" sz="12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4343400"/>
          <a:ext cx="11064240" cy="914400"/>
        </p:xfrm>
        <a:graphic>
          <a:graphicData uri="http://schemas.openxmlformats.org/drawingml/2006/table">
            <a:tbl>
              <a:tblPr/>
              <a:tblGrid>
                <a:gridCol w="2926080"/>
                <a:gridCol w="4023360"/>
                <a:gridCol w="411480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 consultation we use</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Format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Used for</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r>
              <a:tr h="34747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Doctor + patient audio</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16 kHz mono WAV, one speaker per channel</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ASR input, acoustic signal, speaker roles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34747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Human transcript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TextGrid (converted to JSON segments)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text-input pipeline; WER reference</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34747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Reference clinical note</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text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future: fact-level accuracy of drafts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PREPROCESSING</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Preprocessing</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[1] PriMock57 format; [2][3] Whisper / faster-whisper VAD and word timestamps; medical-term list: prototype/src/medical_terms.py</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48640" y="1463040"/>
            <a:ext cx="411480" cy="411480"/>
          </a:xfrm>
          <a:prstGeom prst="ellipse">
            <a:avLst/>
          </a:prstGeom>
          <a:solidFill>
            <a:srgbClr val="2A7F6F"/>
          </a:solidFill>
          <a:ln w="12700">
            <a:solidFill>
              <a:srgbClr val="2A7F6F"/>
            </a:solidFill>
            <a:prstDash val="solid"/>
          </a:ln>
        </p:spPr>
      </p:sp>
      <p:sp>
        <p:nvSpPr>
          <p:cNvPr id="7" name="Text 5"/>
          <p:cNvSpPr txBox="1"/>
          <p:nvPr/>
        </p:nvSpPr>
        <p:spPr>
          <a:xfrm>
            <a:off x="548640" y="14630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43000" y="1435608"/>
            <a:ext cx="2377440" cy="457200"/>
          </a:xfrm>
          <a:prstGeom prst="rect">
            <a:avLst/>
          </a:prstGeom>
          <a:noFill/>
          <a:ln/>
        </p:spPr>
        <p:txBody>
          <a:bodyPr wrap="square" lIns="0" tIns="0" rIns="0" bIns="0" rtlCol="0" anchor="t"/>
          <a:lstStyle/>
          <a:p>
            <a:pPr indent="0" marL="0">
              <a:buNone/>
            </a:pPr>
            <a:r>
              <a:rPr lang="en-US" sz="1500" b="1" dirty="0">
                <a:solidFill>
                  <a:srgbClr val="0F2A36"/>
                </a:solidFill>
                <a:latin typeface="Calibri" pitchFamily="34" charset="0"/>
                <a:ea typeface="Calibri" pitchFamily="34" charset="-122"/>
                <a:cs typeface="Calibri" pitchFamily="34" charset="-120"/>
              </a:rPr>
              <a:t>Transcripts</a:t>
            </a:r>
            <a:endParaRPr lang="en-US" sz="1500" dirty="0"/>
          </a:p>
        </p:txBody>
      </p:sp>
      <p:sp>
        <p:nvSpPr>
          <p:cNvPr id="9" name="Text 7"/>
          <p:cNvSpPr txBox="1"/>
          <p:nvPr/>
        </p:nvSpPr>
        <p:spPr>
          <a:xfrm>
            <a:off x="3566160" y="1435608"/>
            <a:ext cx="8046720" cy="68580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PriMock57 TextGrid files converted to JSON segments {id, start, end, speaker, text}; 57 cases indexed by presenting complaint.</a:t>
            </a:r>
            <a:endParaRPr lang="en-US" sz="1350" dirty="0"/>
          </a:p>
        </p:txBody>
      </p:sp>
      <p:sp>
        <p:nvSpPr>
          <p:cNvPr id="10" name="Shape 8"/>
          <p:cNvSpPr/>
          <p:nvPr/>
        </p:nvSpPr>
        <p:spPr>
          <a:xfrm>
            <a:off x="548640" y="2221992"/>
            <a:ext cx="411480" cy="411480"/>
          </a:xfrm>
          <a:prstGeom prst="ellipse">
            <a:avLst/>
          </a:prstGeom>
          <a:solidFill>
            <a:srgbClr val="2A7F6F"/>
          </a:solidFill>
          <a:ln w="12700">
            <a:solidFill>
              <a:srgbClr val="2A7F6F"/>
            </a:solidFill>
            <a:prstDash val="solid"/>
          </a:ln>
        </p:spPr>
      </p:sp>
      <p:sp>
        <p:nvSpPr>
          <p:cNvPr id="11" name="Text 9"/>
          <p:cNvSpPr txBox="1"/>
          <p:nvPr/>
        </p:nvSpPr>
        <p:spPr>
          <a:xfrm>
            <a:off x="548640" y="22219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143000" y="2194560"/>
            <a:ext cx="2377440" cy="457200"/>
          </a:xfrm>
          <a:prstGeom prst="rect">
            <a:avLst/>
          </a:prstGeom>
          <a:noFill/>
          <a:ln/>
        </p:spPr>
        <p:txBody>
          <a:bodyPr wrap="square" lIns="0" tIns="0" rIns="0" bIns="0" rtlCol="0" anchor="t"/>
          <a:lstStyle/>
          <a:p>
            <a:pPr indent="0" marL="0">
              <a:buNone/>
            </a:pPr>
            <a:r>
              <a:rPr lang="en-US" sz="1500" b="1" dirty="0">
                <a:solidFill>
                  <a:srgbClr val="0F2A36"/>
                </a:solidFill>
                <a:latin typeface="Calibri" pitchFamily="34" charset="0"/>
                <a:ea typeface="Calibri" pitchFamily="34" charset="-122"/>
                <a:cs typeface="Calibri" pitchFamily="34" charset="-120"/>
              </a:rPr>
              <a:t>Audio decoding</a:t>
            </a:r>
            <a:endParaRPr lang="en-US" sz="1500" dirty="0"/>
          </a:p>
        </p:txBody>
      </p:sp>
      <p:sp>
        <p:nvSpPr>
          <p:cNvPr id="13" name="Text 11"/>
          <p:cNvSpPr txBox="1"/>
          <p:nvPr/>
        </p:nvSpPr>
        <p:spPr>
          <a:xfrm>
            <a:off x="3566160" y="2194560"/>
            <a:ext cx="8046720" cy="68580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16 kHz mono PCM; voice-activity detection skips silence while the other party speaks.</a:t>
            </a:r>
            <a:endParaRPr lang="en-US" sz="1350" dirty="0"/>
          </a:p>
        </p:txBody>
      </p:sp>
      <p:sp>
        <p:nvSpPr>
          <p:cNvPr id="14" name="Shape 12"/>
          <p:cNvSpPr/>
          <p:nvPr/>
        </p:nvSpPr>
        <p:spPr>
          <a:xfrm>
            <a:off x="548640" y="2980944"/>
            <a:ext cx="411480" cy="411480"/>
          </a:xfrm>
          <a:prstGeom prst="ellipse">
            <a:avLst/>
          </a:prstGeom>
          <a:solidFill>
            <a:srgbClr val="2A7F6F"/>
          </a:solidFill>
          <a:ln w="12700">
            <a:solidFill>
              <a:srgbClr val="2A7F6F"/>
            </a:solidFill>
            <a:prstDash val="solid"/>
          </a:ln>
        </p:spPr>
      </p:sp>
      <p:sp>
        <p:nvSpPr>
          <p:cNvPr id="15" name="Text 13"/>
          <p:cNvSpPr txBox="1"/>
          <p:nvPr/>
        </p:nvSpPr>
        <p:spPr>
          <a:xfrm>
            <a:off x="548640" y="298094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143000" y="2953512"/>
            <a:ext cx="2377440" cy="457200"/>
          </a:xfrm>
          <a:prstGeom prst="rect">
            <a:avLst/>
          </a:prstGeom>
          <a:noFill/>
          <a:ln/>
        </p:spPr>
        <p:txBody>
          <a:bodyPr wrap="square" lIns="0" tIns="0" rIns="0" bIns="0" rtlCol="0" anchor="t"/>
          <a:lstStyle/>
          <a:p>
            <a:pPr indent="0" marL="0">
              <a:buNone/>
            </a:pPr>
            <a:r>
              <a:rPr lang="en-US" sz="1500" b="1" dirty="0">
                <a:solidFill>
                  <a:srgbClr val="0F2A36"/>
                </a:solidFill>
                <a:latin typeface="Calibri" pitchFamily="34" charset="0"/>
                <a:ea typeface="Calibri" pitchFamily="34" charset="-122"/>
                <a:cs typeface="Calibri" pitchFamily="34" charset="-120"/>
              </a:rPr>
              <a:t>Utterance segmentation</a:t>
            </a:r>
            <a:endParaRPr lang="en-US" sz="1500" dirty="0"/>
          </a:p>
        </p:txBody>
      </p:sp>
      <p:sp>
        <p:nvSpPr>
          <p:cNvPr id="17" name="Text 15"/>
          <p:cNvSpPr txBox="1"/>
          <p:nvPr/>
        </p:nvSpPr>
        <p:spPr>
          <a:xfrm>
            <a:off x="3566160" y="2953512"/>
            <a:ext cx="8046720" cy="68580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Whisper segments re-split at pauses &gt;= 0.8 s using word timestamps, so doctor/patient turns interleave correctly.</a:t>
            </a:r>
            <a:endParaRPr lang="en-US" sz="1350" dirty="0"/>
          </a:p>
        </p:txBody>
      </p:sp>
      <p:sp>
        <p:nvSpPr>
          <p:cNvPr id="18" name="Shape 16"/>
          <p:cNvSpPr/>
          <p:nvPr/>
        </p:nvSpPr>
        <p:spPr>
          <a:xfrm>
            <a:off x="548640" y="3739896"/>
            <a:ext cx="411480" cy="411480"/>
          </a:xfrm>
          <a:prstGeom prst="ellipse">
            <a:avLst/>
          </a:prstGeom>
          <a:solidFill>
            <a:srgbClr val="2A7F6F"/>
          </a:solidFill>
          <a:ln w="12700">
            <a:solidFill>
              <a:srgbClr val="2A7F6F"/>
            </a:solidFill>
            <a:prstDash val="solid"/>
          </a:ln>
        </p:spPr>
      </p:sp>
      <p:sp>
        <p:nvSpPr>
          <p:cNvPr id="19" name="Text 17"/>
          <p:cNvSpPr txBox="1"/>
          <p:nvPr/>
        </p:nvSpPr>
        <p:spPr>
          <a:xfrm>
            <a:off x="548640" y="373989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143000" y="3712464"/>
            <a:ext cx="2377440" cy="457200"/>
          </a:xfrm>
          <a:prstGeom prst="rect">
            <a:avLst/>
          </a:prstGeom>
          <a:noFill/>
          <a:ln/>
        </p:spPr>
        <p:txBody>
          <a:bodyPr wrap="square" lIns="0" tIns="0" rIns="0" bIns="0" rtlCol="0" anchor="t"/>
          <a:lstStyle/>
          <a:p>
            <a:pPr indent="0" marL="0">
              <a:buNone/>
            </a:pPr>
            <a:r>
              <a:rPr lang="en-US" sz="1500" b="1" dirty="0">
                <a:solidFill>
                  <a:srgbClr val="0F2A36"/>
                </a:solidFill>
                <a:latin typeface="Calibri" pitchFamily="34" charset="0"/>
                <a:ea typeface="Calibri" pitchFamily="34" charset="-122"/>
                <a:cs typeface="Calibri" pitchFamily="34" charset="-120"/>
              </a:rPr>
              <a:t>Word features</a:t>
            </a:r>
            <a:endParaRPr lang="en-US" sz="1500" dirty="0"/>
          </a:p>
        </p:txBody>
      </p:sp>
      <p:sp>
        <p:nvSpPr>
          <p:cNvPr id="21" name="Text 19"/>
          <p:cNvSpPr txBox="1"/>
          <p:nvPr/>
        </p:nvSpPr>
        <p:spPr>
          <a:xfrm>
            <a:off x="3566160" y="3712464"/>
            <a:ext cx="8046720" cy="68580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each word keeps probability, start/end time and character offsets in the segment text (needed to score quoted spans).</a:t>
            </a:r>
            <a:endParaRPr lang="en-US" sz="1350" dirty="0"/>
          </a:p>
        </p:txBody>
      </p:sp>
      <p:sp>
        <p:nvSpPr>
          <p:cNvPr id="22" name="Shape 20"/>
          <p:cNvSpPr/>
          <p:nvPr/>
        </p:nvSpPr>
        <p:spPr>
          <a:xfrm>
            <a:off x="548640" y="4498848"/>
            <a:ext cx="411480" cy="411480"/>
          </a:xfrm>
          <a:prstGeom prst="ellipse">
            <a:avLst/>
          </a:prstGeom>
          <a:solidFill>
            <a:srgbClr val="2A7F6F"/>
          </a:solidFill>
          <a:ln w="12700">
            <a:solidFill>
              <a:srgbClr val="2A7F6F"/>
            </a:solidFill>
            <a:prstDash val="solid"/>
          </a:ln>
        </p:spPr>
      </p:sp>
      <p:sp>
        <p:nvSpPr>
          <p:cNvPr id="23" name="Text 21"/>
          <p:cNvSpPr txBox="1"/>
          <p:nvPr/>
        </p:nvSpPr>
        <p:spPr>
          <a:xfrm>
            <a:off x="548640" y="449884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2"/>
          <p:cNvSpPr txBox="1"/>
          <p:nvPr/>
        </p:nvSpPr>
        <p:spPr>
          <a:xfrm>
            <a:off x="1143000" y="4471416"/>
            <a:ext cx="2377440" cy="457200"/>
          </a:xfrm>
          <a:prstGeom prst="rect">
            <a:avLst/>
          </a:prstGeom>
          <a:noFill/>
          <a:ln/>
        </p:spPr>
        <p:txBody>
          <a:bodyPr wrap="square" lIns="0" tIns="0" rIns="0" bIns="0" rtlCol="0" anchor="t"/>
          <a:lstStyle/>
          <a:p>
            <a:pPr indent="0" marL="0">
              <a:buNone/>
            </a:pPr>
            <a:r>
              <a:rPr lang="en-US" sz="1500" b="1" dirty="0">
                <a:solidFill>
                  <a:srgbClr val="0F2A36"/>
                </a:solidFill>
                <a:latin typeface="Calibri" pitchFamily="34" charset="0"/>
                <a:ea typeface="Calibri" pitchFamily="34" charset="-122"/>
                <a:cs typeface="Calibri" pitchFamily="34" charset="-120"/>
              </a:rPr>
              <a:t>Medical vocabulary</a:t>
            </a:r>
            <a:endParaRPr lang="en-US" sz="1500" dirty="0"/>
          </a:p>
        </p:txBody>
      </p:sp>
      <p:sp>
        <p:nvSpPr>
          <p:cNvPr id="25" name="Text 23"/>
          <p:cNvSpPr txBox="1"/>
          <p:nvPr/>
        </p:nvSpPr>
        <p:spPr>
          <a:xfrm>
            <a:off x="3566160" y="4471416"/>
            <a:ext cx="8046720" cy="68580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decoding biased with a drug/symptom prompt; only words with ASR probability &lt; 0.70 are fuzzy-corrected, original word kept.</a:t>
            </a:r>
            <a:endParaRPr lang="en-US" sz="1350" dirty="0"/>
          </a:p>
        </p:txBody>
      </p:sp>
      <p:sp>
        <p:nvSpPr>
          <p:cNvPr id="26" name="Shape 24"/>
          <p:cNvSpPr/>
          <p:nvPr/>
        </p:nvSpPr>
        <p:spPr>
          <a:xfrm>
            <a:off x="548640" y="5257800"/>
            <a:ext cx="411480" cy="411480"/>
          </a:xfrm>
          <a:prstGeom prst="ellipse">
            <a:avLst/>
          </a:prstGeom>
          <a:solidFill>
            <a:srgbClr val="2A7F6F"/>
          </a:solidFill>
          <a:ln w="12700">
            <a:solidFill>
              <a:srgbClr val="2A7F6F"/>
            </a:solidFill>
            <a:prstDash val="solid"/>
          </a:ln>
        </p:spPr>
      </p:sp>
      <p:sp>
        <p:nvSpPr>
          <p:cNvPr id="27" name="Text 25"/>
          <p:cNvSpPr txBox="1"/>
          <p:nvPr/>
        </p:nvSpPr>
        <p:spPr>
          <a:xfrm>
            <a:off x="548640" y="52578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8" name="Text 26"/>
          <p:cNvSpPr txBox="1"/>
          <p:nvPr/>
        </p:nvSpPr>
        <p:spPr>
          <a:xfrm>
            <a:off x="1143000" y="5230368"/>
            <a:ext cx="2377440" cy="457200"/>
          </a:xfrm>
          <a:prstGeom prst="rect">
            <a:avLst/>
          </a:prstGeom>
          <a:noFill/>
          <a:ln/>
        </p:spPr>
        <p:txBody>
          <a:bodyPr wrap="square" lIns="0" tIns="0" rIns="0" bIns="0" rtlCol="0" anchor="t"/>
          <a:lstStyle/>
          <a:p>
            <a:pPr indent="0" marL="0">
              <a:buNone/>
            </a:pPr>
            <a:r>
              <a:rPr lang="en-US" sz="1500" b="1" dirty="0">
                <a:solidFill>
                  <a:srgbClr val="0F2A36"/>
                </a:solidFill>
                <a:latin typeface="Calibri" pitchFamily="34" charset="0"/>
                <a:ea typeface="Calibri" pitchFamily="34" charset="-122"/>
                <a:cs typeface="Calibri" pitchFamily="34" charset="-120"/>
              </a:rPr>
              <a:t>WER normalisation</a:t>
            </a:r>
            <a:endParaRPr lang="en-US" sz="1500" dirty="0"/>
          </a:p>
        </p:txBody>
      </p:sp>
      <p:sp>
        <p:nvSpPr>
          <p:cNvPr id="29" name="Text 27"/>
          <p:cNvSpPr txBox="1"/>
          <p:nvPr/>
        </p:nvSpPr>
        <p:spPr>
          <a:xfrm>
            <a:off x="3566160" y="5230368"/>
            <a:ext cx="8046720" cy="685800"/>
          </a:xfrm>
          <a:prstGeom prst="rect">
            <a:avLst/>
          </a:prstGeom>
          <a:noFill/>
          <a:ln/>
        </p:spPr>
        <p:txBody>
          <a:bodyPr wrap="square" lIns="0" tIns="0" rIns="0" bIns="0" rtlCol="0" anchor="t"/>
          <a:lstStyle/>
          <a:p>
            <a:pPr indent="0" marL="0">
              <a:buNone/>
            </a:pPr>
            <a:r>
              <a:rPr lang="en-US" sz="1350" dirty="0">
                <a:solidFill>
                  <a:srgbClr val="27363D"/>
                </a:solidFill>
                <a:latin typeface="Calibri" pitchFamily="34" charset="0"/>
                <a:ea typeface="Calibri" pitchFamily="34" charset="-122"/>
                <a:cs typeface="Calibri" pitchFamily="34" charset="-120"/>
              </a:rPr>
              <a:t>lower-case, strip punctuation, drop fillers (um, uh, erm), unify UK/US spelling before comparing.</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DATA DIVISION AND AUGMENTATION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Data division and augmentation</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[1] PriMock57; [2][4][5] pretrained models used as released</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417320"/>
            <a:ext cx="5394960" cy="4206240"/>
          </a:xfrm>
          <a:prstGeom prst="roundRect">
            <a:avLst>
              <a:gd name="adj" fmla="val 1739"/>
            </a:avLst>
          </a:prstGeom>
          <a:solidFill>
            <a:srgbClr val="E3F1EE"/>
          </a:solidFill>
          <a:ln w="12700">
            <a:solidFill>
              <a:srgbClr val="E3F1EE"/>
            </a:solidFill>
            <a:prstDash val="solid"/>
          </a:ln>
        </p:spPr>
      </p:sp>
      <p:sp>
        <p:nvSpPr>
          <p:cNvPr id="7" name="Text 5"/>
          <p:cNvSpPr txBox="1"/>
          <p:nvPr/>
        </p:nvSpPr>
        <p:spPr>
          <a:xfrm>
            <a:off x="777240" y="1572768"/>
            <a:ext cx="4937760" cy="411480"/>
          </a:xfrm>
          <a:prstGeom prst="rect">
            <a:avLst/>
          </a:prstGeom>
          <a:noFill/>
          <a:ln/>
        </p:spPr>
        <p:txBody>
          <a:bodyPr wrap="square" lIns="0" tIns="0" rIns="0" bIns="0" rtlCol="0" anchor="t"/>
          <a:lstStyle/>
          <a:p>
            <a:pPr indent="0" marL="0">
              <a:buNone/>
            </a:pPr>
            <a:r>
              <a:rPr lang="en-US" sz="1900" b="1" dirty="0">
                <a:solidFill>
                  <a:srgbClr val="0F2A36"/>
                </a:solidFill>
                <a:latin typeface="Cambria" pitchFamily="34" charset="0"/>
                <a:ea typeface="Cambria" pitchFamily="34" charset="-122"/>
                <a:cs typeface="Cambria" pitchFamily="34" charset="-120"/>
              </a:rPr>
              <a:t>No model is trained</a:t>
            </a:r>
            <a:endParaRPr lang="en-US" sz="1900" dirty="0"/>
          </a:p>
        </p:txBody>
      </p:sp>
      <p:sp>
        <p:nvSpPr>
          <p:cNvPr id="8" name="Text 6"/>
          <p:cNvSpPr txBox="1"/>
          <p:nvPr/>
        </p:nvSpPr>
        <p:spPr>
          <a:xfrm>
            <a:off x="777240" y="2011680"/>
            <a:ext cx="4937760" cy="146304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Whisper, the DeBERTa NLI model and Gemini are used exactly as released [2][4][5][17]. The contribution is the verification method, so there is no training set and no train / test split for model weights.</a:t>
            </a:r>
            <a:endParaRPr lang="en-US" sz="1400" dirty="0"/>
          </a:p>
        </p:txBody>
      </p:sp>
      <p:sp>
        <p:nvSpPr>
          <p:cNvPr id="9" name="Text 7"/>
          <p:cNvSpPr txBox="1"/>
          <p:nvPr/>
        </p:nvSpPr>
        <p:spPr>
          <a:xfrm>
            <a:off x="777240" y="3474720"/>
            <a:ext cx="4937760" cy="365760"/>
          </a:xfrm>
          <a:prstGeom prst="rect">
            <a:avLst/>
          </a:prstGeom>
          <a:noFill/>
          <a:ln/>
        </p:spPr>
        <p:txBody>
          <a:bodyPr wrap="square" lIns="0" tIns="0" rIns="0" bIns="0" rtlCol="0" anchor="t"/>
          <a:lstStyle/>
          <a:p>
            <a:pPr indent="0" marL="0">
              <a:buNone/>
            </a:pPr>
            <a:r>
              <a:rPr lang="en-US" sz="1400" b="1" dirty="0">
                <a:solidFill>
                  <a:srgbClr val="2A7F6F"/>
                </a:solidFill>
                <a:latin typeface="Calibri" pitchFamily="34" charset="0"/>
                <a:ea typeface="Calibri" pitchFamily="34" charset="-122"/>
                <a:cs typeface="Calibri" pitchFamily="34" charset="-120"/>
              </a:rPr>
              <a:t>What the data is used for today</a:t>
            </a:r>
            <a:endParaRPr lang="en-US" sz="1400" dirty="0"/>
          </a:p>
        </p:txBody>
      </p:sp>
      <p:sp>
        <p:nvSpPr>
          <p:cNvPr id="10" name="Text 8"/>
          <p:cNvSpPr txBox="1"/>
          <p:nvPr/>
        </p:nvSpPr>
        <p:spPr>
          <a:xfrm>
            <a:off x="777240" y="3840480"/>
            <a:ext cx="4937760" cy="164592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1 consultation end to end from audio (both channels)</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57 human transcripts for text-input runs</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Synthetic transcripts only for unsafe-prescription tests</a:t>
            </a:r>
            <a:endParaRPr lang="en-US" sz="1350" dirty="0"/>
          </a:p>
        </p:txBody>
      </p:sp>
      <p:sp>
        <p:nvSpPr>
          <p:cNvPr id="11" name="Shape 9"/>
          <p:cNvSpPr/>
          <p:nvPr/>
        </p:nvSpPr>
        <p:spPr>
          <a:xfrm>
            <a:off x="6217920" y="1417320"/>
            <a:ext cx="5394960" cy="4206240"/>
          </a:xfrm>
          <a:prstGeom prst="roundRect">
            <a:avLst>
              <a:gd name="adj" fmla="val 1739"/>
            </a:avLst>
          </a:prstGeom>
          <a:solidFill>
            <a:srgbClr val="F4F4F4"/>
          </a:solidFill>
          <a:ln w="12700">
            <a:solidFill>
              <a:srgbClr val="F4F4F4"/>
            </a:solidFill>
            <a:prstDash val="solid"/>
          </a:ln>
        </p:spPr>
      </p:sp>
      <p:sp>
        <p:nvSpPr>
          <p:cNvPr id="12" name="Text 10"/>
          <p:cNvSpPr txBox="1"/>
          <p:nvPr/>
        </p:nvSpPr>
        <p:spPr>
          <a:xfrm>
            <a:off x="6446520" y="1572768"/>
            <a:ext cx="4937760" cy="365760"/>
          </a:xfrm>
          <a:prstGeom prst="rect">
            <a:avLst/>
          </a:prstGeom>
          <a:noFill/>
          <a:ln/>
        </p:spPr>
        <p:txBody>
          <a:bodyPr wrap="square" lIns="0" tIns="0" rIns="0" bIns="0" rtlCol="0" anchor="ctr"/>
          <a:lstStyle/>
          <a:p>
            <a:pPr indent="0" marL="0">
              <a:buNone/>
            </a:pPr>
            <a:r>
              <a:rPr lang="en-US" sz="1300" b="1" dirty="0">
                <a:solidFill>
                  <a:srgbClr val="C00000"/>
                </a:solidFill>
                <a:latin typeface="Calibri" pitchFamily="34" charset="0"/>
                <a:ea typeface="Calibri" pitchFamily="34" charset="-122"/>
                <a:cs typeface="Calibri" pitchFamily="34" charset="-120"/>
              </a:rPr>
              <a:t>PLANNED, not yet done</a:t>
            </a:r>
            <a:endParaRPr lang="en-US" sz="1300" dirty="0"/>
          </a:p>
        </p:txBody>
      </p:sp>
      <p:sp>
        <p:nvSpPr>
          <p:cNvPr id="13" name="Text 11"/>
          <p:cNvSpPr txBox="1"/>
          <p:nvPr/>
        </p:nvSpPr>
        <p:spPr>
          <a:xfrm>
            <a:off x="6446520" y="1920240"/>
            <a:ext cx="4937760" cy="411480"/>
          </a:xfrm>
          <a:prstGeom prst="rect">
            <a:avLst/>
          </a:prstGeom>
          <a:noFill/>
          <a:ln/>
        </p:spPr>
        <p:txBody>
          <a:bodyPr wrap="square" lIns="0" tIns="0" rIns="0" bIns="0" rtlCol="0" anchor="t"/>
          <a:lstStyle/>
          <a:p>
            <a:pPr indent="0" marL="0">
              <a:buNone/>
            </a:pPr>
            <a:r>
              <a:rPr lang="en-US" sz="1900" b="1" dirty="0">
                <a:solidFill>
                  <a:srgbClr val="0F2A36"/>
                </a:solidFill>
                <a:latin typeface="Cambria" pitchFamily="34" charset="0"/>
                <a:ea typeface="Cambria" pitchFamily="34" charset="-122"/>
                <a:cs typeface="Cambria" pitchFamily="34" charset="-120"/>
              </a:rPr>
              <a:t>Division for tuning the gate</a:t>
            </a:r>
            <a:endParaRPr lang="en-US" sz="1900" dirty="0"/>
          </a:p>
        </p:txBody>
      </p:sp>
      <p:sp>
        <p:nvSpPr>
          <p:cNvPr id="14" name="Text 12"/>
          <p:cNvSpPr txBox="1"/>
          <p:nvPr/>
        </p:nvSpPr>
        <p:spPr>
          <a:xfrm>
            <a:off x="6446520" y="2377440"/>
            <a:ext cx="4937760" cy="164592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Split the 57 consultations by consultation (not by utterance) into a development set for tuning thresholds / weights and a held-out test set.</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Label each drafted fact correct / incorrect against the transcript and reference note to measure the gate.</a:t>
            </a:r>
            <a:endParaRPr lang="en-US" sz="1350" dirty="0"/>
          </a:p>
        </p:txBody>
      </p:sp>
      <p:sp>
        <p:nvSpPr>
          <p:cNvPr id="15" name="Text 13"/>
          <p:cNvSpPr txBox="1"/>
          <p:nvPr/>
        </p:nvSpPr>
        <p:spPr>
          <a:xfrm>
            <a:off x="6446520" y="4023360"/>
            <a:ext cx="4937760" cy="365760"/>
          </a:xfrm>
          <a:prstGeom prst="rect">
            <a:avLst/>
          </a:prstGeom>
          <a:noFill/>
          <a:ln/>
        </p:spPr>
        <p:txBody>
          <a:bodyPr wrap="square" lIns="0" tIns="0" rIns="0" bIns="0" rtlCol="0" anchor="t"/>
          <a:lstStyle/>
          <a:p>
            <a:pPr indent="0" marL="0">
              <a:buNone/>
            </a:pPr>
            <a:r>
              <a:rPr lang="en-US" sz="1400" b="1" dirty="0">
                <a:solidFill>
                  <a:srgbClr val="2A7F6F"/>
                </a:solidFill>
                <a:latin typeface="Calibri" pitchFamily="34" charset="0"/>
                <a:ea typeface="Calibri" pitchFamily="34" charset="-122"/>
                <a:cs typeface="Calibri" pitchFamily="34" charset="-120"/>
              </a:rPr>
              <a:t>Augmentation (stress tests)</a:t>
            </a:r>
            <a:endParaRPr lang="en-US" sz="1400" dirty="0"/>
          </a:p>
        </p:txBody>
      </p:sp>
      <p:sp>
        <p:nvSpPr>
          <p:cNvPr id="16" name="Text 14"/>
          <p:cNvSpPr txBox="1"/>
          <p:nvPr/>
        </p:nvSpPr>
        <p:spPr>
          <a:xfrm>
            <a:off x="6446520" y="4389120"/>
            <a:ext cx="4937760" cy="109728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Add background noise / change speed to the audio to test that the acoustic gate reacts to degraded speech.</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MACHINE LEARNING / DEEP LEARNING MODELS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Models used (all pretrained, none fine-tuned)</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[2] Whisper; [3] faster-whisper; [4] DeBERTaV3; [5] NLI model card; [17] Gemini API; parameter counts from the model papers / cards</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48640" y="1417320"/>
            <a:ext cx="3474720" cy="4297680"/>
          </a:xfrm>
          <a:prstGeom prst="roundRect">
            <a:avLst>
              <a:gd name="adj" fmla="val 2105"/>
            </a:avLst>
          </a:prstGeom>
          <a:solidFill>
            <a:srgbClr val="E3F1EE"/>
          </a:solidFill>
          <a:ln w="12700">
            <a:solidFill>
              <a:srgbClr val="E3F1EE"/>
            </a:solidFill>
            <a:prstDash val="solid"/>
          </a:ln>
        </p:spPr>
      </p:sp>
      <p:sp>
        <p:nvSpPr>
          <p:cNvPr id="7" name="Text 5"/>
          <p:cNvSpPr txBox="1"/>
          <p:nvPr/>
        </p:nvSpPr>
        <p:spPr>
          <a:xfrm>
            <a:off x="777240" y="1572768"/>
            <a:ext cx="3017520" cy="411480"/>
          </a:xfrm>
          <a:prstGeom prst="rect">
            <a:avLst/>
          </a:prstGeom>
          <a:noFill/>
          <a:ln/>
        </p:spPr>
        <p:txBody>
          <a:bodyPr wrap="square" lIns="0" tIns="0" rIns="0" bIns="0" rtlCol="0" anchor="t"/>
          <a:lstStyle/>
          <a:p>
            <a:pPr indent="0" marL="0">
              <a:buNone/>
            </a:pPr>
            <a:r>
              <a:rPr lang="en-US" sz="1900" b="1" dirty="0">
                <a:solidFill>
                  <a:srgbClr val="0F2A36"/>
                </a:solidFill>
                <a:latin typeface="Cambria" pitchFamily="34" charset="0"/>
                <a:ea typeface="Cambria" pitchFamily="34" charset="-122"/>
                <a:cs typeface="Cambria" pitchFamily="34" charset="-120"/>
              </a:rPr>
              <a:t>Whisper base.en</a:t>
            </a:r>
            <a:endParaRPr lang="en-US" sz="1900" dirty="0"/>
          </a:p>
        </p:txBody>
      </p:sp>
      <p:sp>
        <p:nvSpPr>
          <p:cNvPr id="8" name="Text 6"/>
          <p:cNvSpPr txBox="1"/>
          <p:nvPr/>
        </p:nvSpPr>
        <p:spPr>
          <a:xfrm>
            <a:off x="777240" y="2011680"/>
            <a:ext cx="3017520" cy="365760"/>
          </a:xfrm>
          <a:prstGeom prst="rect">
            <a:avLst/>
          </a:prstGeom>
          <a:noFill/>
          <a:ln/>
        </p:spPr>
        <p:txBody>
          <a:bodyPr wrap="square" lIns="0" tIns="0" rIns="0" bIns="0" rtlCol="0" anchor="t"/>
          <a:lstStyle/>
          <a:p>
            <a:pPr indent="0" marL="0">
              <a:buNone/>
            </a:pPr>
            <a:r>
              <a:rPr lang="en-US" sz="1300" b="1" dirty="0">
                <a:solidFill>
                  <a:srgbClr val="2A7F6F"/>
                </a:solidFill>
                <a:latin typeface="Calibri" pitchFamily="34" charset="0"/>
                <a:ea typeface="Calibri" pitchFamily="34" charset="-122"/>
                <a:cs typeface="Calibri" pitchFamily="34" charset="-120"/>
              </a:rPr>
              <a:t>Speech recognition</a:t>
            </a:r>
            <a:endParaRPr lang="en-US" sz="1300" dirty="0"/>
          </a:p>
        </p:txBody>
      </p:sp>
      <p:sp>
        <p:nvSpPr>
          <p:cNvPr id="9" name="Text 7"/>
          <p:cNvSpPr txBox="1"/>
          <p:nvPr/>
        </p:nvSpPr>
        <p:spPr>
          <a:xfrm>
            <a:off x="777240" y="2423160"/>
            <a:ext cx="3017520" cy="2103120"/>
          </a:xfrm>
          <a:prstGeom prst="rect">
            <a:avLst/>
          </a:prstGeom>
          <a:noFill/>
          <a:ln/>
        </p:spPr>
        <p:txBody>
          <a:bodyPr wrap="square" lIns="0" tIns="0" rIns="0" bIns="0" rtlCol="0" anchor="t"/>
          <a:lstStyle/>
          <a:p>
            <a:pPr indent="0" marL="0">
              <a:buNone/>
            </a:pPr>
            <a:r>
              <a:rPr lang="en-US" sz="1300" dirty="0">
                <a:solidFill>
                  <a:srgbClr val="27363D"/>
                </a:solidFill>
                <a:latin typeface="Calibri" pitchFamily="34" charset="0"/>
                <a:ea typeface="Calibri" pitchFamily="34" charset="-122"/>
                <a:cs typeface="Calibri" pitchFamily="34" charset="-120"/>
              </a:rPr>
              <a:t>Transformer encoder-decoder, ~74 M parameters, trained on 680k h of weakly supervised audio [2]; run int8 on CPU via faster-whisper [3].</a:t>
            </a:r>
            <a:endParaRPr lang="en-US" sz="1300" dirty="0"/>
          </a:p>
        </p:txBody>
      </p:sp>
      <p:sp>
        <p:nvSpPr>
          <p:cNvPr id="10" name="Text 8"/>
          <p:cNvSpPr txBox="1"/>
          <p:nvPr/>
        </p:nvSpPr>
        <p:spPr>
          <a:xfrm>
            <a:off x="777240" y="4617720"/>
            <a:ext cx="3017520" cy="914400"/>
          </a:xfrm>
          <a:prstGeom prst="rect">
            <a:avLst/>
          </a:prstGeom>
          <a:noFill/>
          <a:ln/>
        </p:spPr>
        <p:txBody>
          <a:bodyPr wrap="square" lIns="0" tIns="0" rIns="0" bIns="0" rtlCol="0" anchor="t"/>
          <a:lstStyle/>
          <a:p>
            <a:pPr indent="0" marL="0">
              <a:buNone/>
            </a:pPr>
            <a:r>
              <a:rPr lang="en-US" sz="1250" b="1" dirty="0">
                <a:solidFill>
                  <a:srgbClr val="27363D"/>
                </a:solidFill>
                <a:latin typeface="Calibri" pitchFamily="34" charset="0"/>
                <a:ea typeface="Calibri" pitchFamily="34" charset="-122"/>
                <a:cs typeface="Calibri" pitchFamily="34" charset="-120"/>
              </a:rPr>
              <a:t>Output: </a:t>
            </a:r>
            <a:pPr indent="0" marL="0">
              <a:buNone/>
            </a:pPr>
            <a:r>
              <a:rPr lang="en-US" sz="1250" dirty="0">
                <a:solidFill>
                  <a:srgbClr val="27363D"/>
                </a:solidFill>
                <a:latin typeface="Calibri" pitchFamily="34" charset="0"/>
                <a:ea typeface="Calibri" pitchFamily="34" charset="-122"/>
                <a:cs typeface="Calibri" pitchFamily="34" charset="-120"/>
              </a:rPr>
              <a:t>per-word probability = acoustic signal</a:t>
            </a:r>
            <a:endParaRPr lang="en-US" sz="1250" dirty="0"/>
          </a:p>
        </p:txBody>
      </p:sp>
      <p:sp>
        <p:nvSpPr>
          <p:cNvPr id="11" name="Shape 9"/>
          <p:cNvSpPr/>
          <p:nvPr/>
        </p:nvSpPr>
        <p:spPr>
          <a:xfrm>
            <a:off x="4297680" y="1417320"/>
            <a:ext cx="3474720" cy="4297680"/>
          </a:xfrm>
          <a:prstGeom prst="roundRect">
            <a:avLst>
              <a:gd name="adj" fmla="val 2105"/>
            </a:avLst>
          </a:prstGeom>
          <a:solidFill>
            <a:srgbClr val="E3F1EE"/>
          </a:solidFill>
          <a:ln w="12700">
            <a:solidFill>
              <a:srgbClr val="E3F1EE"/>
            </a:solidFill>
            <a:prstDash val="solid"/>
          </a:ln>
        </p:spPr>
      </p:sp>
      <p:sp>
        <p:nvSpPr>
          <p:cNvPr id="12" name="Text 10"/>
          <p:cNvSpPr txBox="1"/>
          <p:nvPr/>
        </p:nvSpPr>
        <p:spPr>
          <a:xfrm>
            <a:off x="4526280" y="1572768"/>
            <a:ext cx="3017520" cy="411480"/>
          </a:xfrm>
          <a:prstGeom prst="rect">
            <a:avLst/>
          </a:prstGeom>
          <a:noFill/>
          <a:ln/>
        </p:spPr>
        <p:txBody>
          <a:bodyPr wrap="square" lIns="0" tIns="0" rIns="0" bIns="0" rtlCol="0" anchor="t"/>
          <a:lstStyle/>
          <a:p>
            <a:pPr indent="0" marL="0">
              <a:buNone/>
            </a:pPr>
            <a:r>
              <a:rPr lang="en-US" sz="1900" b="1" dirty="0">
                <a:solidFill>
                  <a:srgbClr val="0F2A36"/>
                </a:solidFill>
                <a:latin typeface="Cambria" pitchFamily="34" charset="0"/>
                <a:ea typeface="Cambria" pitchFamily="34" charset="-122"/>
                <a:cs typeface="Cambria" pitchFamily="34" charset="-120"/>
              </a:rPr>
              <a:t>DeBERTa-v3-base NLI</a:t>
            </a:r>
            <a:endParaRPr lang="en-US" sz="1900" dirty="0"/>
          </a:p>
        </p:txBody>
      </p:sp>
      <p:sp>
        <p:nvSpPr>
          <p:cNvPr id="13" name="Text 11"/>
          <p:cNvSpPr txBox="1"/>
          <p:nvPr/>
        </p:nvSpPr>
        <p:spPr>
          <a:xfrm>
            <a:off x="4526280" y="2011680"/>
            <a:ext cx="3017520" cy="365760"/>
          </a:xfrm>
          <a:prstGeom prst="rect">
            <a:avLst/>
          </a:prstGeom>
          <a:noFill/>
          <a:ln/>
        </p:spPr>
        <p:txBody>
          <a:bodyPr wrap="square" lIns="0" tIns="0" rIns="0" bIns="0" rtlCol="0" anchor="t"/>
          <a:lstStyle/>
          <a:p>
            <a:pPr indent="0" marL="0">
              <a:buNone/>
            </a:pPr>
            <a:r>
              <a:rPr lang="en-US" sz="1300" b="1" dirty="0">
                <a:solidFill>
                  <a:srgbClr val="2A7F6F"/>
                </a:solidFill>
                <a:latin typeface="Calibri" pitchFamily="34" charset="0"/>
                <a:ea typeface="Calibri" pitchFamily="34" charset="-122"/>
                <a:cs typeface="Calibri" pitchFamily="34" charset="-120"/>
              </a:rPr>
              <a:t>Entailment</a:t>
            </a:r>
            <a:endParaRPr lang="en-US" sz="1300" dirty="0"/>
          </a:p>
        </p:txBody>
      </p:sp>
      <p:sp>
        <p:nvSpPr>
          <p:cNvPr id="14" name="Text 12"/>
          <p:cNvSpPr txBox="1"/>
          <p:nvPr/>
        </p:nvSpPr>
        <p:spPr>
          <a:xfrm>
            <a:off x="4526280" y="2423160"/>
            <a:ext cx="3017520" cy="2103120"/>
          </a:xfrm>
          <a:prstGeom prst="rect">
            <a:avLst/>
          </a:prstGeom>
          <a:noFill/>
          <a:ln/>
        </p:spPr>
        <p:txBody>
          <a:bodyPr wrap="square" lIns="0" tIns="0" rIns="0" bIns="0" rtlCol="0" anchor="t"/>
          <a:lstStyle/>
          <a:p>
            <a:pPr indent="0" marL="0">
              <a:buNone/>
            </a:pPr>
            <a:r>
              <a:rPr lang="en-US" sz="1300" dirty="0">
                <a:solidFill>
                  <a:srgbClr val="27363D"/>
                </a:solidFill>
                <a:latin typeface="Calibri" pitchFamily="34" charset="0"/>
                <a:ea typeface="Calibri" pitchFamily="34" charset="-122"/>
                <a:cs typeface="Calibri" pitchFamily="34" charset="-120"/>
              </a:rPr>
              <a:t>DeBERTaV3 encoder [4] fine-tuned by its authors on MNLI, FEVER-NLI, ANLI [5]; ~184 M parameters. Cross-encodes (evidence, statement).</a:t>
            </a:r>
            <a:endParaRPr lang="en-US" sz="1300" dirty="0"/>
          </a:p>
        </p:txBody>
      </p:sp>
      <p:sp>
        <p:nvSpPr>
          <p:cNvPr id="15" name="Text 13"/>
          <p:cNvSpPr txBox="1"/>
          <p:nvPr/>
        </p:nvSpPr>
        <p:spPr>
          <a:xfrm>
            <a:off x="4526280" y="4617720"/>
            <a:ext cx="3017520" cy="914400"/>
          </a:xfrm>
          <a:prstGeom prst="rect">
            <a:avLst/>
          </a:prstGeom>
          <a:noFill/>
          <a:ln/>
        </p:spPr>
        <p:txBody>
          <a:bodyPr wrap="square" lIns="0" tIns="0" rIns="0" bIns="0" rtlCol="0" anchor="t"/>
          <a:lstStyle/>
          <a:p>
            <a:pPr indent="0" marL="0">
              <a:buNone/>
            </a:pPr>
            <a:r>
              <a:rPr lang="en-US" sz="1250" b="1" dirty="0">
                <a:solidFill>
                  <a:srgbClr val="27363D"/>
                </a:solidFill>
                <a:latin typeface="Calibri" pitchFamily="34" charset="0"/>
                <a:ea typeface="Calibri" pitchFamily="34" charset="-122"/>
                <a:cs typeface="Calibri" pitchFamily="34" charset="-120"/>
              </a:rPr>
              <a:t>Output: </a:t>
            </a:r>
            <a:pPr indent="0" marL="0">
              <a:buNone/>
            </a:pPr>
            <a:r>
              <a:rPr lang="en-US" sz="1250" dirty="0">
                <a:solidFill>
                  <a:srgbClr val="27363D"/>
                </a:solidFill>
                <a:latin typeface="Calibri" pitchFamily="34" charset="0"/>
                <a:ea typeface="Calibri" pitchFamily="34" charset="-122"/>
                <a:cs typeface="Calibri" pitchFamily="34" charset="-120"/>
              </a:rPr>
              <a:t>P(entailment), P(contradiction) = semantic signal</a:t>
            </a:r>
            <a:endParaRPr lang="en-US" sz="1250" dirty="0"/>
          </a:p>
        </p:txBody>
      </p:sp>
      <p:sp>
        <p:nvSpPr>
          <p:cNvPr id="16" name="Shape 14"/>
          <p:cNvSpPr/>
          <p:nvPr/>
        </p:nvSpPr>
        <p:spPr>
          <a:xfrm>
            <a:off x="8046720" y="1417320"/>
            <a:ext cx="3474720" cy="4297680"/>
          </a:xfrm>
          <a:prstGeom prst="roundRect">
            <a:avLst>
              <a:gd name="adj" fmla="val 2105"/>
            </a:avLst>
          </a:prstGeom>
          <a:solidFill>
            <a:srgbClr val="E3F1EE"/>
          </a:solidFill>
          <a:ln w="12700">
            <a:solidFill>
              <a:srgbClr val="E3F1EE"/>
            </a:solidFill>
            <a:prstDash val="solid"/>
          </a:ln>
        </p:spPr>
      </p:sp>
      <p:sp>
        <p:nvSpPr>
          <p:cNvPr id="17" name="Text 15"/>
          <p:cNvSpPr txBox="1"/>
          <p:nvPr/>
        </p:nvSpPr>
        <p:spPr>
          <a:xfrm>
            <a:off x="8275320" y="1572768"/>
            <a:ext cx="3017520" cy="411480"/>
          </a:xfrm>
          <a:prstGeom prst="rect">
            <a:avLst/>
          </a:prstGeom>
          <a:noFill/>
          <a:ln/>
        </p:spPr>
        <p:txBody>
          <a:bodyPr wrap="square" lIns="0" tIns="0" rIns="0" bIns="0" rtlCol="0" anchor="t"/>
          <a:lstStyle/>
          <a:p>
            <a:pPr indent="0" marL="0">
              <a:buNone/>
            </a:pPr>
            <a:r>
              <a:rPr lang="en-US" sz="1900" b="1" dirty="0">
                <a:solidFill>
                  <a:srgbClr val="0F2A36"/>
                </a:solidFill>
                <a:latin typeface="Cambria" pitchFamily="34" charset="0"/>
                <a:ea typeface="Cambria" pitchFamily="34" charset="-122"/>
                <a:cs typeface="Cambria" pitchFamily="34" charset="-120"/>
              </a:rPr>
              <a:t>Gemini 3.6 Flash</a:t>
            </a:r>
            <a:endParaRPr lang="en-US" sz="1900" dirty="0"/>
          </a:p>
        </p:txBody>
      </p:sp>
      <p:sp>
        <p:nvSpPr>
          <p:cNvPr id="18" name="Text 16"/>
          <p:cNvSpPr txBox="1"/>
          <p:nvPr/>
        </p:nvSpPr>
        <p:spPr>
          <a:xfrm>
            <a:off x="8275320" y="2011680"/>
            <a:ext cx="3017520" cy="365760"/>
          </a:xfrm>
          <a:prstGeom prst="rect">
            <a:avLst/>
          </a:prstGeom>
          <a:noFill/>
          <a:ln/>
        </p:spPr>
        <p:txBody>
          <a:bodyPr wrap="square" lIns="0" tIns="0" rIns="0" bIns="0" rtlCol="0" anchor="t"/>
          <a:lstStyle/>
          <a:p>
            <a:pPr indent="0" marL="0">
              <a:buNone/>
            </a:pPr>
            <a:r>
              <a:rPr lang="en-US" sz="1300" b="1" dirty="0">
                <a:solidFill>
                  <a:srgbClr val="2A7F6F"/>
                </a:solidFill>
                <a:latin typeface="Calibri" pitchFamily="34" charset="0"/>
                <a:ea typeface="Calibri" pitchFamily="34" charset="-122"/>
                <a:cs typeface="Calibri" pitchFamily="34" charset="-120"/>
              </a:rPr>
              <a:t>Fact extraction; speaker roles for mixed audio</a:t>
            </a:r>
            <a:endParaRPr lang="en-US" sz="1300" dirty="0"/>
          </a:p>
        </p:txBody>
      </p:sp>
      <p:sp>
        <p:nvSpPr>
          <p:cNvPr id="19" name="Text 17"/>
          <p:cNvSpPr txBox="1"/>
          <p:nvPr/>
        </p:nvSpPr>
        <p:spPr>
          <a:xfrm>
            <a:off x="8275320" y="2423160"/>
            <a:ext cx="3017520" cy="2103120"/>
          </a:xfrm>
          <a:prstGeom prst="rect">
            <a:avLst/>
          </a:prstGeom>
          <a:noFill/>
          <a:ln/>
        </p:spPr>
        <p:txBody>
          <a:bodyPr wrap="square" lIns="0" tIns="0" rIns="0" bIns="0" rtlCol="0" anchor="t"/>
          <a:lstStyle/>
          <a:p>
            <a:pPr indent="0" marL="0">
              <a:buNone/>
            </a:pPr>
            <a:r>
              <a:rPr lang="en-US" sz="1300" dirty="0">
                <a:solidFill>
                  <a:srgbClr val="27363D"/>
                </a:solidFill>
                <a:latin typeface="Calibri" pitchFamily="34" charset="0"/>
                <a:ea typeface="Calibri" pitchFamily="34" charset="-122"/>
                <a:cs typeface="Calibri" pitchFamily="34" charset="-120"/>
              </a:rPr>
              <a:t>Hosted LLM, prompted to return facts with citations and verbatim quotes under a JSON schema [17]. Optional; a rule-based extractor also works.</a:t>
            </a:r>
            <a:endParaRPr lang="en-US" sz="1300" dirty="0"/>
          </a:p>
        </p:txBody>
      </p:sp>
      <p:sp>
        <p:nvSpPr>
          <p:cNvPr id="20" name="Text 18"/>
          <p:cNvSpPr txBox="1"/>
          <p:nvPr/>
        </p:nvSpPr>
        <p:spPr>
          <a:xfrm>
            <a:off x="8275320" y="4617720"/>
            <a:ext cx="3017520" cy="914400"/>
          </a:xfrm>
          <a:prstGeom prst="rect">
            <a:avLst/>
          </a:prstGeom>
          <a:noFill/>
          <a:ln/>
        </p:spPr>
        <p:txBody>
          <a:bodyPr wrap="square" lIns="0" tIns="0" rIns="0" bIns="0" rtlCol="0" anchor="t"/>
          <a:lstStyle/>
          <a:p>
            <a:pPr indent="0" marL="0">
              <a:buNone/>
            </a:pPr>
            <a:r>
              <a:rPr lang="en-US" sz="1250" b="1" dirty="0">
                <a:solidFill>
                  <a:srgbClr val="27363D"/>
                </a:solidFill>
                <a:latin typeface="Calibri" pitchFamily="34" charset="0"/>
                <a:ea typeface="Calibri" pitchFamily="34" charset="-122"/>
                <a:cs typeface="Calibri" pitchFamily="34" charset="-120"/>
              </a:rPr>
              <a:t>Output: </a:t>
            </a:r>
            <a:pPr indent="0" marL="0">
              <a:buNone/>
            </a:pPr>
            <a:r>
              <a:rPr lang="en-US" sz="1250" dirty="0">
                <a:solidFill>
                  <a:srgbClr val="27363D"/>
                </a:solidFill>
                <a:latin typeface="Calibri" pitchFamily="34" charset="0"/>
                <a:ea typeface="Calibri" pitchFamily="34" charset="-122"/>
                <a:cs typeface="Calibri" pitchFamily="34" charset="-120"/>
              </a:rPr>
              <a:t>drafts; never trusted without the gate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[2][3] Whisper / faster-whisper; WER computed by us against the PriMock57 human transcript [1]</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18</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Audio capture and speech recognition</a:t>
            </a:r>
            <a:endParaRPr lang="en-US" sz="2800" dirty="0"/>
          </a:p>
        </p:txBody>
      </p:sp>
      <p:sp>
        <p:nvSpPr>
          <p:cNvPr id="7" name="Shape 5"/>
          <p:cNvSpPr/>
          <p:nvPr/>
        </p:nvSpPr>
        <p:spPr>
          <a:xfrm>
            <a:off x="934060" y="5815584"/>
            <a:ext cx="237744" cy="237744"/>
          </a:xfrm>
          <a:prstGeom prst="ellipse">
            <a:avLst/>
          </a:prstGeom>
          <a:solidFill>
            <a:srgbClr val="D1432B"/>
          </a:solidFill>
          <a:ln w="12700">
            <a:solidFill>
              <a:srgbClr val="D1432B"/>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FFFFF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FFFFF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FFFFF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FFFFF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FFFFF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FFFFF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FFFFF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FFFFF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Text 27"/>
          <p:cNvSpPr txBox="1"/>
          <p:nvPr/>
        </p:nvSpPr>
        <p:spPr>
          <a:xfrm>
            <a:off x="548640" y="1463040"/>
            <a:ext cx="6035040" cy="41148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Upload doctor + patient recordings (or one mixed recording).</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Local faster-whisper transcribes each channel with voice-activity detection and word timestamps [3].</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Decoding is biased with a medical vocabulary prompt.</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Words scored &lt; 0.70 that are near a known drug / symptom are corrected; original kept for audit.</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Output: utterances with per-word probability and character offsets.</a:t>
            </a:r>
            <a:endParaRPr lang="en-US" sz="1450" dirty="0"/>
          </a:p>
        </p:txBody>
      </p:sp>
      <p:sp>
        <p:nvSpPr>
          <p:cNvPr id="30" name="Shape 28"/>
          <p:cNvSpPr/>
          <p:nvPr/>
        </p:nvSpPr>
        <p:spPr>
          <a:xfrm>
            <a:off x="6949440" y="1463040"/>
            <a:ext cx="4663440" cy="4069080"/>
          </a:xfrm>
          <a:prstGeom prst="roundRect">
            <a:avLst>
              <a:gd name="adj" fmla="val 1798"/>
            </a:avLst>
          </a:prstGeom>
          <a:solidFill>
            <a:srgbClr val="E3F1EE"/>
          </a:solidFill>
          <a:ln w="12700">
            <a:solidFill>
              <a:srgbClr val="E3F1EE"/>
            </a:solidFill>
            <a:prstDash val="solid"/>
          </a:ln>
        </p:spPr>
      </p:sp>
      <p:sp>
        <p:nvSpPr>
          <p:cNvPr id="31" name="Text 29"/>
          <p:cNvSpPr txBox="1"/>
          <p:nvPr/>
        </p:nvSpPr>
        <p:spPr>
          <a:xfrm>
            <a:off x="7178040" y="1600200"/>
            <a:ext cx="4206240" cy="365760"/>
          </a:xfrm>
          <a:prstGeom prst="rect">
            <a:avLst/>
          </a:prstGeom>
          <a:noFill/>
          <a:ln/>
        </p:spPr>
        <p:txBody>
          <a:bodyPr wrap="square" lIns="0" tIns="0" rIns="0" bIns="0" rtlCol="0" anchor="t"/>
          <a:lstStyle/>
          <a:p>
            <a:pPr indent="0" marL="0">
              <a:buNone/>
            </a:pPr>
            <a:r>
              <a:rPr lang="en-US" sz="1350" b="1" dirty="0">
                <a:solidFill>
                  <a:srgbClr val="2A7F6F"/>
                </a:solidFill>
                <a:latin typeface="Calibri" pitchFamily="34" charset="0"/>
                <a:ea typeface="Calibri" pitchFamily="34" charset="-122"/>
                <a:cs typeface="Calibri" pitchFamily="34" charset="-120"/>
              </a:rPr>
              <a:t>Real run: day1_consultation01</a:t>
            </a:r>
            <a:endParaRPr lang="en-US" sz="1350" dirty="0"/>
          </a:p>
        </p:txBody>
      </p:sp>
      <p:sp>
        <p:nvSpPr>
          <p:cNvPr id="32" name="Text 30"/>
          <p:cNvSpPr txBox="1"/>
          <p:nvPr/>
        </p:nvSpPr>
        <p:spPr>
          <a:xfrm>
            <a:off x="7178040" y="1965960"/>
            <a:ext cx="201168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186</a:t>
            </a:r>
            <a:endParaRPr lang="en-US" sz="4000" dirty="0"/>
          </a:p>
        </p:txBody>
      </p:sp>
      <p:sp>
        <p:nvSpPr>
          <p:cNvPr id="33" name="Text 31"/>
          <p:cNvSpPr txBox="1"/>
          <p:nvPr/>
        </p:nvSpPr>
        <p:spPr>
          <a:xfrm>
            <a:off x="7178040" y="2715768"/>
            <a:ext cx="20116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utterances (2 x 7:38)</a:t>
            </a:r>
            <a:endParaRPr lang="en-US" sz="1250" dirty="0"/>
          </a:p>
        </p:txBody>
      </p:sp>
      <p:sp>
        <p:nvSpPr>
          <p:cNvPr id="34" name="Text 32"/>
          <p:cNvSpPr txBox="1"/>
          <p:nvPr/>
        </p:nvSpPr>
        <p:spPr>
          <a:xfrm>
            <a:off x="9326880" y="1965960"/>
            <a:ext cx="2103120" cy="731520"/>
          </a:xfrm>
          <a:prstGeom prst="rect">
            <a:avLst/>
          </a:prstGeom>
          <a:noFill/>
          <a:ln/>
        </p:spPr>
        <p:txBody>
          <a:bodyPr wrap="square" lIns="0" tIns="0" rIns="0" bIns="0" rtlCol="0" anchor="t"/>
          <a:lstStyle/>
          <a:p>
            <a:pPr indent="0" marL="0">
              <a:buNone/>
            </a:pPr>
            <a:r>
              <a:rPr lang="en-US" sz="4000" b="1" dirty="0">
                <a:solidFill>
                  <a:srgbClr val="D1432B"/>
                </a:solidFill>
                <a:latin typeface="Cambria" pitchFamily="34" charset="0"/>
                <a:ea typeface="Cambria" pitchFamily="34" charset="-122"/>
                <a:cs typeface="Cambria" pitchFamily="34" charset="-120"/>
              </a:rPr>
              <a:t>17.5 %</a:t>
            </a:r>
            <a:endParaRPr lang="en-US" sz="4000" dirty="0"/>
          </a:p>
        </p:txBody>
      </p:sp>
      <p:sp>
        <p:nvSpPr>
          <p:cNvPr id="35" name="Text 33"/>
          <p:cNvSpPr txBox="1"/>
          <p:nvPr/>
        </p:nvSpPr>
        <p:spPr>
          <a:xfrm>
            <a:off x="9326880" y="2715768"/>
            <a:ext cx="210312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word error rate vs human transcript</a:t>
            </a:r>
            <a:endParaRPr lang="en-US" sz="1250" dirty="0"/>
          </a:p>
        </p:txBody>
      </p:sp>
      <p:sp>
        <p:nvSpPr>
          <p:cNvPr id="36" name="Text 34"/>
          <p:cNvSpPr txBox="1"/>
          <p:nvPr/>
        </p:nvSpPr>
        <p:spPr>
          <a:xfrm>
            <a:off x="7178040" y="3337560"/>
            <a:ext cx="201168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0.853</a:t>
            </a:r>
            <a:endParaRPr lang="en-US" sz="4000" dirty="0"/>
          </a:p>
        </p:txBody>
      </p:sp>
      <p:sp>
        <p:nvSpPr>
          <p:cNvPr id="37" name="Text 35"/>
          <p:cNvSpPr txBox="1"/>
          <p:nvPr/>
        </p:nvSpPr>
        <p:spPr>
          <a:xfrm>
            <a:off x="7178040" y="4087368"/>
            <a:ext cx="201168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mean word probability</a:t>
            </a:r>
            <a:endParaRPr lang="en-US" sz="1250" dirty="0"/>
          </a:p>
        </p:txBody>
      </p:sp>
      <p:sp>
        <p:nvSpPr>
          <p:cNvPr id="38" name="Text 36"/>
          <p:cNvSpPr txBox="1"/>
          <p:nvPr/>
        </p:nvSpPr>
        <p:spPr>
          <a:xfrm>
            <a:off x="9326880" y="3337560"/>
            <a:ext cx="2103120" cy="731520"/>
          </a:xfrm>
          <a:prstGeom prst="rect">
            <a:avLst/>
          </a:prstGeom>
          <a:noFill/>
          <a:ln/>
        </p:spPr>
        <p:txBody>
          <a:bodyPr wrap="square" lIns="0" tIns="0" rIns="0" bIns="0" rtlCol="0" anchor="t"/>
          <a:lstStyle/>
          <a:p>
            <a:pPr indent="0" marL="0">
              <a:buNone/>
            </a:pPr>
            <a:r>
              <a:rPr lang="en-US" sz="4000" b="1" dirty="0">
                <a:solidFill>
                  <a:srgbClr val="C98311"/>
                </a:solidFill>
                <a:latin typeface="Cambria" pitchFamily="34" charset="0"/>
                <a:ea typeface="Cambria" pitchFamily="34" charset="-122"/>
                <a:cs typeface="Cambria" pitchFamily="34" charset="-120"/>
              </a:rPr>
              <a:t>9.5 %</a:t>
            </a:r>
            <a:endParaRPr lang="en-US" sz="4000" dirty="0"/>
          </a:p>
        </p:txBody>
      </p:sp>
      <p:sp>
        <p:nvSpPr>
          <p:cNvPr id="39" name="Text 37"/>
          <p:cNvSpPr txBox="1"/>
          <p:nvPr/>
        </p:nvSpPr>
        <p:spPr>
          <a:xfrm>
            <a:off x="9326880" y="4087368"/>
            <a:ext cx="210312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words below 0.5 probability</a:t>
            </a:r>
            <a:endParaRPr lang="en-US" sz="1250" dirty="0"/>
          </a:p>
        </p:txBody>
      </p:sp>
      <p:sp>
        <p:nvSpPr>
          <p:cNvPr id="40" name="Text 38"/>
          <p:cNvSpPr txBox="1"/>
          <p:nvPr/>
        </p:nvSpPr>
        <p:spPr>
          <a:xfrm>
            <a:off x="7178040" y="4709160"/>
            <a:ext cx="4206240" cy="640080"/>
          </a:xfrm>
          <a:prstGeom prst="rect">
            <a:avLst/>
          </a:prstGeom>
          <a:noFill/>
          <a:ln/>
        </p:spPr>
        <p:txBody>
          <a:bodyPr wrap="square" lIns="0" tIns="0" rIns="0" bIns="0" rtlCol="0" anchor="t"/>
          <a:lstStyle/>
          <a:p>
            <a:pPr indent="0" marL="0">
              <a:buNone/>
            </a:pPr>
            <a:r>
              <a:rPr lang="en-US" sz="1150" i="1" dirty="0">
                <a:solidFill>
                  <a:srgbClr val="5E6E75"/>
                </a:solidFill>
                <a:latin typeface="Calibri" pitchFamily="34" charset="0"/>
                <a:ea typeface="Calibri" pitchFamily="34" charset="-122"/>
                <a:cs typeface="Calibri" pitchFamily="34" charset="-120"/>
              </a:rPr>
              <a:t>WER: 231 errors / 1,319 words (doctor 17.5 %, patient 17.6 %), fillers removed.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[1] PriMock57 separate channels; [17] Gemini API for mixed recordings</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19</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Speaker roles</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D1432B"/>
          </a:solidFill>
          <a:ln w="12700">
            <a:solidFill>
              <a:srgbClr val="D1432B"/>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FFFFF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FFFFF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FFFFF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FFFFF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FFFFF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FFFFF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FFFFF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Shape 27"/>
          <p:cNvSpPr/>
          <p:nvPr/>
        </p:nvSpPr>
        <p:spPr>
          <a:xfrm>
            <a:off x="548640" y="1463040"/>
            <a:ext cx="5394960" cy="4023360"/>
          </a:xfrm>
          <a:prstGeom prst="roundRect">
            <a:avLst>
              <a:gd name="adj" fmla="val 1818"/>
            </a:avLst>
          </a:prstGeom>
          <a:solidFill>
            <a:srgbClr val="E3F1EE"/>
          </a:solidFill>
          <a:ln w="12700">
            <a:solidFill>
              <a:srgbClr val="E3F1EE"/>
            </a:solidFill>
            <a:prstDash val="solid"/>
          </a:ln>
        </p:spPr>
      </p:sp>
      <p:sp>
        <p:nvSpPr>
          <p:cNvPr id="30" name="Text 28"/>
          <p:cNvSpPr txBox="1"/>
          <p:nvPr/>
        </p:nvSpPr>
        <p:spPr>
          <a:xfrm>
            <a:off x="777240" y="1627632"/>
            <a:ext cx="4937760" cy="411480"/>
          </a:xfrm>
          <a:prstGeom prst="rect">
            <a:avLst/>
          </a:prstGeom>
          <a:noFill/>
          <a:ln/>
        </p:spPr>
        <p:txBody>
          <a:bodyPr wrap="square" lIns="0" tIns="0" rIns="0" bIns="0" rtlCol="0" anchor="t"/>
          <a:lstStyle/>
          <a:p>
            <a:pPr indent="0" marL="0">
              <a:buNone/>
            </a:pPr>
            <a:r>
              <a:rPr lang="en-US" sz="1800" b="1" dirty="0">
                <a:solidFill>
                  <a:srgbClr val="0F2A36"/>
                </a:solidFill>
                <a:latin typeface="Cambria" pitchFamily="34" charset="0"/>
                <a:ea typeface="Cambria" pitchFamily="34" charset="-122"/>
                <a:cs typeface="Cambria" pitchFamily="34" charset="-120"/>
              </a:rPr>
              <a:t>Separate channels (default)</a:t>
            </a:r>
            <a:endParaRPr lang="en-US" sz="1800" dirty="0"/>
          </a:p>
        </p:txBody>
      </p:sp>
      <p:sp>
        <p:nvSpPr>
          <p:cNvPr id="31" name="Text 29"/>
          <p:cNvSpPr txBox="1"/>
          <p:nvPr/>
        </p:nvSpPr>
        <p:spPr>
          <a:xfrm>
            <a:off x="777240" y="2103120"/>
            <a:ext cx="4937760" cy="182880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Each recording holds one speaker, so every utterance from the doctor channel is DOCTOR and from the patient channel is PATIENT. Channels are merged in time order. This is exact, as in PriMock57 [1].</a:t>
            </a:r>
            <a:endParaRPr lang="en-US" sz="1400" dirty="0"/>
          </a:p>
        </p:txBody>
      </p:sp>
      <p:sp>
        <p:nvSpPr>
          <p:cNvPr id="32" name="Text 30"/>
          <p:cNvSpPr txBox="1"/>
          <p:nvPr/>
        </p:nvSpPr>
        <p:spPr>
          <a:xfrm>
            <a:off x="777240" y="4389120"/>
            <a:ext cx="4937760" cy="457200"/>
          </a:xfrm>
          <a:prstGeom prst="rect">
            <a:avLst/>
          </a:prstGeom>
          <a:noFill/>
          <a:ln/>
        </p:spPr>
        <p:txBody>
          <a:bodyPr wrap="square" lIns="0" tIns="0" rIns="0" bIns="0" rtlCol="0" anchor="t"/>
          <a:lstStyle/>
          <a:p>
            <a:pPr indent="0" marL="0">
              <a:buNone/>
            </a:pPr>
            <a:r>
              <a:rPr lang="en-US" sz="1350" b="1" dirty="0">
                <a:solidFill>
                  <a:srgbClr val="2A7F6F"/>
                </a:solidFill>
                <a:latin typeface="Calibri" pitchFamily="34" charset="0"/>
                <a:ea typeface="Calibri" pitchFamily="34" charset="-122"/>
                <a:cs typeface="Calibri" pitchFamily="34" charset="-120"/>
              </a:rPr>
              <a:t>Real run: 106 doctor + 82 patient utterances.</a:t>
            </a:r>
            <a:endParaRPr lang="en-US" sz="1350" dirty="0"/>
          </a:p>
        </p:txBody>
      </p:sp>
      <p:sp>
        <p:nvSpPr>
          <p:cNvPr id="33" name="Shape 31"/>
          <p:cNvSpPr/>
          <p:nvPr/>
        </p:nvSpPr>
        <p:spPr>
          <a:xfrm>
            <a:off x="6217920" y="1463040"/>
            <a:ext cx="5394960" cy="4023360"/>
          </a:xfrm>
          <a:prstGeom prst="roundRect">
            <a:avLst>
              <a:gd name="adj" fmla="val 1818"/>
            </a:avLst>
          </a:prstGeom>
          <a:solidFill>
            <a:srgbClr val="F4F4F4"/>
          </a:solidFill>
          <a:ln w="12700">
            <a:solidFill>
              <a:srgbClr val="F4F4F4"/>
            </a:solidFill>
            <a:prstDash val="solid"/>
          </a:ln>
        </p:spPr>
      </p:sp>
      <p:sp>
        <p:nvSpPr>
          <p:cNvPr id="34" name="Text 32"/>
          <p:cNvSpPr txBox="1"/>
          <p:nvPr/>
        </p:nvSpPr>
        <p:spPr>
          <a:xfrm>
            <a:off x="6446520" y="1627632"/>
            <a:ext cx="4937760" cy="411480"/>
          </a:xfrm>
          <a:prstGeom prst="rect">
            <a:avLst/>
          </a:prstGeom>
          <a:noFill/>
          <a:ln/>
        </p:spPr>
        <p:txBody>
          <a:bodyPr wrap="square" lIns="0" tIns="0" rIns="0" bIns="0" rtlCol="0" anchor="t"/>
          <a:lstStyle/>
          <a:p>
            <a:pPr indent="0" marL="0">
              <a:buNone/>
            </a:pPr>
            <a:r>
              <a:rPr lang="en-US" sz="1800" b="1" dirty="0">
                <a:solidFill>
                  <a:srgbClr val="0F2A36"/>
                </a:solidFill>
                <a:latin typeface="Cambria" pitchFamily="34" charset="0"/>
                <a:ea typeface="Cambria" pitchFamily="34" charset="-122"/>
                <a:cs typeface="Cambria" pitchFamily="34" charset="-120"/>
              </a:rPr>
              <a:t>Single mixed recording</a:t>
            </a:r>
            <a:endParaRPr lang="en-US" sz="1800" dirty="0"/>
          </a:p>
        </p:txBody>
      </p:sp>
      <p:sp>
        <p:nvSpPr>
          <p:cNvPr id="35" name="Text 33"/>
          <p:cNvSpPr txBox="1"/>
          <p:nvPr/>
        </p:nvSpPr>
        <p:spPr>
          <a:xfrm>
            <a:off x="6446520" y="2103120"/>
            <a:ext cx="4937760" cy="1645920"/>
          </a:xfrm>
          <a:prstGeom prst="rect">
            <a:avLst/>
          </a:prstGeom>
          <a:noFill/>
          <a:ln/>
        </p:spPr>
        <p:txBody>
          <a:bodyPr wrap="square" lIns="0" tIns="0" rIns="0" bIns="0" rtlCol="0" anchor="t"/>
          <a:lstStyle/>
          <a:p>
            <a:pPr indent="0" marL="0">
              <a:buNone/>
            </a:pPr>
            <a:r>
              <a:rPr lang="en-US" sz="1400" dirty="0">
                <a:solidFill>
                  <a:srgbClr val="27363D"/>
                </a:solidFill>
                <a:latin typeface="Calibri" pitchFamily="34" charset="0"/>
                <a:ea typeface="Calibri" pitchFamily="34" charset="-122"/>
                <a:cs typeface="Calibri" pitchFamily="34" charset="-120"/>
              </a:rPr>
              <a:t>No channel information, so an LLM labels each utterance DOCTOR / PATIENT / OTHER from what is said (questions vs. symptoms) [17]. Roles are marked "inferred" in the note's provenance.</a:t>
            </a:r>
            <a:endParaRPr lang="en-US" sz="1400" dirty="0"/>
          </a:p>
        </p:txBody>
      </p:sp>
      <p:sp>
        <p:nvSpPr>
          <p:cNvPr id="36" name="Text 34"/>
          <p:cNvSpPr txBox="1"/>
          <p:nvPr/>
        </p:nvSpPr>
        <p:spPr>
          <a:xfrm>
            <a:off x="6446520" y="4114800"/>
            <a:ext cx="4937760" cy="1097280"/>
          </a:xfrm>
          <a:prstGeom prst="rect">
            <a:avLst/>
          </a:prstGeom>
          <a:noFill/>
          <a:ln/>
        </p:spPr>
        <p:txBody>
          <a:bodyPr wrap="square" lIns="0" tIns="0" rIns="0" bIns="0" rtlCol="0" anchor="t"/>
          <a:lstStyle/>
          <a:p>
            <a:pPr indent="0" marL="0">
              <a:buNone/>
            </a:pPr>
            <a:r>
              <a:rPr lang="en-US" sz="1250" i="1" dirty="0">
                <a:solidFill>
                  <a:srgbClr val="D1432B"/>
                </a:solidFill>
                <a:latin typeface="Calibri" pitchFamily="34" charset="0"/>
                <a:ea typeface="Calibri" pitchFamily="34" charset="-122"/>
                <a:cs typeface="Calibri" pitchFamily="34" charset="-120"/>
              </a:rPr>
              <a:t>Tested up to attribution; extraction step not completed (API quota). Limitation: an utterance spanning a turn change gets one role.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[17] Gemini structured output; fact from our real run on PriMock57 audio [1], citations abridged (4 in the original)</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20</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Fact extraction with citations and verbatim quotes</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D1432B"/>
          </a:solidFill>
          <a:ln w="12700">
            <a:solidFill>
              <a:srgbClr val="D1432B"/>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FFFFF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FFFFF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FFFFF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FFFFF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FFFFF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FFFFF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Text 27"/>
          <p:cNvSpPr txBox="1"/>
          <p:nvPr/>
        </p:nvSpPr>
        <p:spPr>
          <a:xfrm>
            <a:off x="548640" y="1463040"/>
            <a:ext cx="5394960" cy="420624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Extractor drafts facts in 7 fields: complaint, history, medications, allergies, vitals, assessment, plan.</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Each fact must cite the segment(s) it relies on and quote them character-for-character.</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Questions are cited with their answers ("Do you smoke?" + "No").</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Output is forced into a JSON schema [17], so it always parses.</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The extractor is untrusted: its citations and quotes are exactly what the gates check next.</a:t>
            </a:r>
            <a:endParaRPr lang="en-US" sz="1450" dirty="0"/>
          </a:p>
        </p:txBody>
      </p:sp>
      <p:sp>
        <p:nvSpPr>
          <p:cNvPr id="30" name="Shape 28"/>
          <p:cNvSpPr/>
          <p:nvPr/>
        </p:nvSpPr>
        <p:spPr>
          <a:xfrm>
            <a:off x="6217920" y="1463040"/>
            <a:ext cx="5394960" cy="4023360"/>
          </a:xfrm>
          <a:prstGeom prst="roundRect">
            <a:avLst>
              <a:gd name="adj" fmla="val 1818"/>
            </a:avLst>
          </a:prstGeom>
          <a:solidFill>
            <a:srgbClr val="1B2B33"/>
          </a:solidFill>
          <a:ln w="12700">
            <a:solidFill>
              <a:srgbClr val="1B2B33"/>
            </a:solidFill>
            <a:prstDash val="solid"/>
          </a:ln>
        </p:spPr>
      </p:sp>
      <p:sp>
        <p:nvSpPr>
          <p:cNvPr id="31" name="Text 29"/>
          <p:cNvSpPr txBox="1"/>
          <p:nvPr/>
        </p:nvSpPr>
        <p:spPr>
          <a:xfrm>
            <a:off x="6446520" y="1645920"/>
            <a:ext cx="4937760" cy="3657600"/>
          </a:xfrm>
          <a:prstGeom prst="rect">
            <a:avLst/>
          </a:prstGeom>
          <a:noFill/>
          <a:ln/>
        </p:spPr>
        <p:txBody>
          <a:bodyPr wrap="square" lIns="0" tIns="0" rIns="0" bIns="0" rtlCol="0" anchor="t"/>
          <a:lstStyle/>
          <a:p>
            <a:pPr indent="0" marL="0">
              <a:buNone/>
            </a:pPr>
            <a:r>
              <a:rPr lang="en-US" sz="1300" dirty="0">
                <a:solidFill>
                  <a:srgbClr val="D7F0EA"/>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"field": "plan",</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"value": "Take two to three days off</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work to rest.",</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"citations": [</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{"segment_id": 154,</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"quote": "some type of work."},</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{"segment_id": 157,</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"quote": "take some time off and rest."}</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D7F0EA"/>
                </a:solidFill>
                <a:latin typeface="Courier New" pitchFamily="34" charset="0"/>
                <a:ea typeface="Courier New" pitchFamily="34" charset="-122"/>
                <a:cs typeface="Courier New" pitchFamily="34" charset="-120"/>
              </a:rPr>
              <a: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[18] RapidFuzz partial-ratio alignment; example from our gate regression suite on real ASR output [1]</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21</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Gate 0: citation integrity</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2A7F6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D1432B"/>
          </a:solidFill>
          <a:ln w="12700">
            <a:solidFill>
              <a:srgbClr val="D1432B"/>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FFFFF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FFFFF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FFFFF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FFFFF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FFFFF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Text 27"/>
          <p:cNvSpPr txBox="1"/>
          <p:nvPr/>
        </p:nvSpPr>
        <p:spPr>
          <a:xfrm>
            <a:off x="548640" y="1417320"/>
            <a:ext cx="11064240" cy="457200"/>
          </a:xfrm>
          <a:prstGeom prst="rect">
            <a:avLst/>
          </a:prstGeom>
          <a:noFill/>
          <a:ln/>
        </p:spPr>
        <p:txBody>
          <a:bodyPr wrap="square" lIns="0" tIns="0" rIns="0" bIns="0" rtlCol="0" anchor="t"/>
          <a:lstStyle/>
          <a:p>
            <a:pPr indent="0" marL="0">
              <a:buNone/>
            </a:pPr>
            <a:r>
              <a:rPr lang="en-US" sz="1600" b="1" dirty="0">
                <a:solidFill>
                  <a:srgbClr val="0F2A36"/>
                </a:solidFill>
                <a:latin typeface="Calibri" pitchFamily="34" charset="0"/>
                <a:ea typeface="Calibri" pitchFamily="34" charset="-122"/>
                <a:cs typeface="Calibri" pitchFamily="34" charset="-120"/>
              </a:rPr>
              <a:t>Before any scoring, every quote must actually occur in the segment it cites.</a:t>
            </a:r>
            <a:endParaRPr lang="en-US" sz="1600" dirty="0"/>
          </a:p>
        </p:txBody>
      </p:sp>
      <p:sp>
        <p:nvSpPr>
          <p:cNvPr id="30" name="Text 28"/>
          <p:cNvSpPr txBox="1"/>
          <p:nvPr/>
        </p:nvSpPr>
        <p:spPr>
          <a:xfrm>
            <a:off x="548640" y="2011680"/>
            <a:ext cx="5394960" cy="32004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Fuzzy-align the quote inside the segment text (RapidFuzz partial ratio [18]).</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Score &gt;= 90 / 100 required for every quote.</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Otherwise: REJECTED as invented or mis-attributed evidence.</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The aligned character span is kept: it tells Gate 1 which words to score.</a:t>
            </a:r>
            <a:endParaRPr lang="en-US" sz="1450" dirty="0"/>
          </a:p>
        </p:txBody>
      </p:sp>
      <p:sp>
        <p:nvSpPr>
          <p:cNvPr id="31" name="Shape 29"/>
          <p:cNvSpPr/>
          <p:nvPr/>
        </p:nvSpPr>
        <p:spPr>
          <a:xfrm>
            <a:off x="6217920" y="2011680"/>
            <a:ext cx="5394960" cy="3474720"/>
          </a:xfrm>
          <a:prstGeom prst="roundRect">
            <a:avLst>
              <a:gd name="adj" fmla="val 2105"/>
            </a:avLst>
          </a:prstGeom>
          <a:solidFill>
            <a:srgbClr val="E3F1EE"/>
          </a:solidFill>
          <a:ln w="12700">
            <a:solidFill>
              <a:srgbClr val="E3F1EE"/>
            </a:solidFill>
            <a:prstDash val="solid"/>
          </a:ln>
        </p:spPr>
      </p:sp>
      <p:sp>
        <p:nvSpPr>
          <p:cNvPr id="32" name="Text 30"/>
          <p:cNvSpPr txBox="1"/>
          <p:nvPr/>
        </p:nvSpPr>
        <p:spPr>
          <a:xfrm>
            <a:off x="6446520" y="2148840"/>
            <a:ext cx="4937760" cy="320040"/>
          </a:xfrm>
          <a:prstGeom prst="rect">
            <a:avLst/>
          </a:prstGeom>
          <a:noFill/>
          <a:ln/>
        </p:spPr>
        <p:txBody>
          <a:bodyPr wrap="square" lIns="0" tIns="0" rIns="0" bIns="0" rtlCol="0" anchor="t"/>
          <a:lstStyle/>
          <a:p>
            <a:pPr indent="0" marL="0">
              <a:buNone/>
            </a:pPr>
            <a:r>
              <a:rPr lang="en-US" sz="1250" b="1" dirty="0">
                <a:solidFill>
                  <a:srgbClr val="2A7F6F"/>
                </a:solidFill>
                <a:latin typeface="Calibri" pitchFamily="34" charset="0"/>
                <a:ea typeface="Calibri" pitchFamily="34" charset="-122"/>
                <a:cs typeface="Calibri" pitchFamily="34" charset="-120"/>
              </a:rPr>
              <a:t>Segment #6 (patient, real ASR)</a:t>
            </a:r>
            <a:endParaRPr lang="en-US" sz="1250" dirty="0"/>
          </a:p>
        </p:txBody>
      </p:sp>
      <p:sp>
        <p:nvSpPr>
          <p:cNvPr id="33" name="Text 31"/>
          <p:cNvSpPr txBox="1"/>
          <p:nvPr/>
        </p:nvSpPr>
        <p:spPr>
          <a:xfrm>
            <a:off x="6446520" y="2468880"/>
            <a:ext cx="4937760" cy="731520"/>
          </a:xfrm>
          <a:prstGeom prst="rect">
            <a:avLst/>
          </a:prstGeom>
          <a:noFill/>
          <a:ln/>
        </p:spPr>
        <p:txBody>
          <a:bodyPr wrap="square" lIns="0" tIns="0" rIns="0" bIns="0" rtlCol="0" anchor="t"/>
          <a:lstStyle/>
          <a:p>
            <a:pPr indent="0" marL="0">
              <a:buNone/>
            </a:pPr>
            <a:r>
              <a:rPr lang="en-US" sz="1300" i="1" dirty="0">
                <a:solidFill>
                  <a:srgbClr val="27363D"/>
                </a:solidFill>
                <a:latin typeface="Calibri" pitchFamily="34" charset="0"/>
                <a:ea typeface="Calibri" pitchFamily="34" charset="-122"/>
                <a:cs typeface="Calibri" pitchFamily="34" charset="-120"/>
              </a:rPr>
              <a:t>"I've just had some diarrhea for the last three days, and it's been affecting me..."</a:t>
            </a:r>
            <a:endParaRPr lang="en-US" sz="1300" dirty="0"/>
          </a:p>
        </p:txBody>
      </p:sp>
      <p:sp>
        <p:nvSpPr>
          <p:cNvPr id="34" name="Text 32"/>
          <p:cNvSpPr txBox="1"/>
          <p:nvPr/>
        </p:nvSpPr>
        <p:spPr>
          <a:xfrm>
            <a:off x="6446520" y="3246120"/>
            <a:ext cx="4937760" cy="548640"/>
          </a:xfrm>
          <a:prstGeom prst="rect">
            <a:avLst/>
          </a:prstGeom>
          <a:noFill/>
          <a:ln/>
        </p:spPr>
        <p:txBody>
          <a:bodyPr wrap="square" lIns="0" tIns="0" rIns="0" bIns="0" rtlCol="0" anchor="t"/>
          <a:lstStyle/>
          <a:p>
            <a:pPr indent="0" marL="0">
              <a:buNone/>
            </a:pPr>
            <a:r>
              <a:rPr lang="en-US" sz="1300" b="1" dirty="0">
                <a:solidFill>
                  <a:srgbClr val="27363D"/>
                </a:solidFill>
                <a:latin typeface="Calibri" pitchFamily="34" charset="0"/>
                <a:ea typeface="Calibri" pitchFamily="34" charset="-122"/>
                <a:cs typeface="Calibri" pitchFamily="34" charset="-120"/>
              </a:rPr>
              <a:t>Quote: </a:t>
            </a:r>
            <a:pPr indent="0" marL="0">
              <a:buNone/>
            </a:pPr>
            <a:r>
              <a:rPr lang="en-US" sz="1300" dirty="0">
                <a:solidFill>
                  <a:srgbClr val="27363D"/>
                </a:solidFill>
                <a:latin typeface="Calibri" pitchFamily="34" charset="0"/>
                <a:ea typeface="Calibri" pitchFamily="34" charset="-122"/>
                <a:cs typeface="Calibri" pitchFamily="34" charset="-120"/>
              </a:rPr>
              <a:t>"I've just had some diarrhea for the last three days"</a:t>
            </a:r>
            <a:endParaRPr lang="en-US" sz="1300" dirty="0"/>
          </a:p>
        </p:txBody>
      </p:sp>
      <p:sp>
        <p:nvSpPr>
          <p:cNvPr id="35" name="Text 33"/>
          <p:cNvSpPr txBox="1"/>
          <p:nvPr/>
        </p:nvSpPr>
        <p:spPr>
          <a:xfrm>
            <a:off x="6446520" y="3749040"/>
            <a:ext cx="4937760" cy="320040"/>
          </a:xfrm>
          <a:prstGeom prst="rect">
            <a:avLst/>
          </a:prstGeom>
          <a:noFill/>
          <a:ln/>
        </p:spPr>
        <p:txBody>
          <a:bodyPr wrap="square" lIns="0" tIns="0" rIns="0" bIns="0" rtlCol="0" anchor="t"/>
          <a:lstStyle/>
          <a:p>
            <a:pPr indent="0" marL="0">
              <a:buNone/>
            </a:pPr>
            <a:r>
              <a:rPr lang="en-US" sz="1300" b="1" dirty="0">
                <a:solidFill>
                  <a:srgbClr val="1E8A4C"/>
                </a:solidFill>
                <a:latin typeface="Calibri" pitchFamily="34" charset="0"/>
                <a:ea typeface="Calibri" pitchFamily="34" charset="-122"/>
                <a:cs typeface="Calibri" pitchFamily="34" charset="-120"/>
              </a:rPr>
              <a:t>alignment 100 / 100  -&gt;  continue</a:t>
            </a:r>
            <a:endParaRPr lang="en-US" sz="1300" dirty="0"/>
          </a:p>
        </p:txBody>
      </p:sp>
      <p:sp>
        <p:nvSpPr>
          <p:cNvPr id="36" name="Text 34"/>
          <p:cNvSpPr txBox="1"/>
          <p:nvPr/>
        </p:nvSpPr>
        <p:spPr>
          <a:xfrm>
            <a:off x="6446520" y="4206240"/>
            <a:ext cx="4937760" cy="548640"/>
          </a:xfrm>
          <a:prstGeom prst="rect">
            <a:avLst/>
          </a:prstGeom>
          <a:noFill/>
          <a:ln/>
        </p:spPr>
        <p:txBody>
          <a:bodyPr wrap="square" lIns="0" tIns="0" rIns="0" bIns="0" rtlCol="0" anchor="t"/>
          <a:lstStyle/>
          <a:p>
            <a:pPr indent="0" marL="0">
              <a:buNone/>
            </a:pPr>
            <a:r>
              <a:rPr lang="en-US" sz="1300" b="1" dirty="0">
                <a:solidFill>
                  <a:srgbClr val="27363D"/>
                </a:solidFill>
                <a:latin typeface="Calibri" pitchFamily="34" charset="0"/>
                <a:ea typeface="Calibri" pitchFamily="34" charset="-122"/>
                <a:cs typeface="Calibri" pitchFamily="34" charset="-120"/>
              </a:rPr>
              <a:t>Quote: </a:t>
            </a:r>
            <a:pPr indent="0" marL="0">
              <a:buNone/>
            </a:pPr>
            <a:r>
              <a:rPr lang="en-US" sz="1300" dirty="0">
                <a:solidFill>
                  <a:srgbClr val="27363D"/>
                </a:solidFill>
                <a:latin typeface="Calibri" pitchFamily="34" charset="0"/>
                <a:ea typeface="Calibri" pitchFamily="34" charset="-122"/>
                <a:cs typeface="Calibri" pitchFamily="34" charset="-120"/>
              </a:rPr>
              <a:t>"I take metformin 500 mg twice a day"</a:t>
            </a:r>
            <a:endParaRPr lang="en-US" sz="1300" dirty="0"/>
          </a:p>
        </p:txBody>
      </p:sp>
      <p:sp>
        <p:nvSpPr>
          <p:cNvPr id="37" name="Text 35"/>
          <p:cNvSpPr txBox="1"/>
          <p:nvPr/>
        </p:nvSpPr>
        <p:spPr>
          <a:xfrm>
            <a:off x="6446520" y="4709160"/>
            <a:ext cx="4937760" cy="320040"/>
          </a:xfrm>
          <a:prstGeom prst="rect">
            <a:avLst/>
          </a:prstGeom>
          <a:noFill/>
          <a:ln/>
        </p:spPr>
        <p:txBody>
          <a:bodyPr wrap="square" lIns="0" tIns="0" rIns="0" bIns="0" rtlCol="0" anchor="t"/>
          <a:lstStyle/>
          <a:p>
            <a:pPr indent="0" marL="0">
              <a:buNone/>
            </a:pPr>
            <a:r>
              <a:rPr lang="en-US" sz="1300" b="1" dirty="0">
                <a:solidFill>
                  <a:srgbClr val="D1432B"/>
                </a:solidFill>
                <a:latin typeface="Calibri" pitchFamily="34" charset="0"/>
                <a:ea typeface="Calibri" pitchFamily="34" charset="-122"/>
                <a:cs typeface="Calibri" pitchFamily="34" charset="-120"/>
              </a:rPr>
              <a:t>alignment 46 / 100  -&gt;  REJECTED</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Word probabilities from faster-whisper [3]; example from our real run on PriMock57 day1_consultation01 [1]</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22</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Gate 1: acoustic confidence of the quoted words</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2A7F6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2A7F6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D1432B"/>
          </a:solidFill>
          <a:ln w="12700">
            <a:solidFill>
              <a:srgbClr val="D1432B"/>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FFFFF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FFFFF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FFFFF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FFFFF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Shape 27"/>
          <p:cNvSpPr/>
          <p:nvPr/>
        </p:nvSpPr>
        <p:spPr>
          <a:xfrm>
            <a:off x="548640" y="1463040"/>
            <a:ext cx="5394960" cy="1417320"/>
          </a:xfrm>
          <a:prstGeom prst="roundRect">
            <a:avLst>
              <a:gd name="adj" fmla="val 5161"/>
            </a:avLst>
          </a:prstGeom>
          <a:solidFill>
            <a:srgbClr val="E8ECEE"/>
          </a:solidFill>
          <a:ln w="12700">
            <a:solidFill>
              <a:srgbClr val="E8ECEE"/>
            </a:solidFill>
            <a:prstDash val="solid"/>
          </a:ln>
        </p:spPr>
      </p:sp>
      <p:sp>
        <p:nvSpPr>
          <p:cNvPr id="30" name="Text 28"/>
          <p:cNvSpPr txBox="1"/>
          <p:nvPr/>
        </p:nvSpPr>
        <p:spPr>
          <a:xfrm>
            <a:off x="777240" y="1600200"/>
            <a:ext cx="4937760" cy="548640"/>
          </a:xfrm>
          <a:prstGeom prst="rect">
            <a:avLst/>
          </a:prstGeom>
          <a:noFill/>
          <a:ln/>
        </p:spPr>
        <p:txBody>
          <a:bodyPr wrap="square" lIns="0" tIns="0" rIns="0" bIns="0" rtlCol="0" anchor="ctr"/>
          <a:lstStyle/>
          <a:p>
            <a:pPr indent="0" marL="0">
              <a:buNone/>
            </a:pPr>
            <a:r>
              <a:rPr lang="en-US" sz="2200" dirty="0">
                <a:solidFill>
                  <a:srgbClr val="0F2A36"/>
                </a:solidFill>
                <a:latin typeface="Cambria Math" pitchFamily="34" charset="0"/>
                <a:ea typeface="Cambria Math" pitchFamily="34" charset="-122"/>
                <a:cs typeface="Cambria Math" pitchFamily="34" charset="-120"/>
              </a:rPr>
              <a:t>A = (1 / |Q|)  Σ</a:t>
            </a:r>
            <a:pPr indent="0" marL="0">
              <a:buNone/>
            </a:pPr>
            <a:r>
              <a:rPr lang="en-US" sz="1300" baseline="-40000" dirty="0">
                <a:solidFill>
                  <a:srgbClr val="0F2A36"/>
                </a:solidFill>
                <a:latin typeface="Cambria Math" pitchFamily="34" charset="0"/>
                <a:ea typeface="Cambria Math" pitchFamily="34" charset="-122"/>
                <a:cs typeface="Cambria Math" pitchFamily="34" charset="-120"/>
              </a:rPr>
              <a:t>w ∈ Q</a:t>
            </a:r>
            <a:pPr indent="0" marL="0">
              <a:buNone/>
            </a:pPr>
            <a:r>
              <a:rPr lang="en-US" sz="2200" dirty="0">
                <a:solidFill>
                  <a:srgbClr val="0F2A36"/>
                </a:solidFill>
                <a:latin typeface="Cambria Math" pitchFamily="34" charset="0"/>
                <a:ea typeface="Cambria Math" pitchFamily="34" charset="-122"/>
                <a:cs typeface="Cambria Math" pitchFamily="34" charset="-120"/>
              </a:rPr>
              <a:t>  p(w)</a:t>
            </a:r>
            <a:endParaRPr lang="en-US" sz="2200" dirty="0"/>
          </a:p>
        </p:txBody>
      </p:sp>
      <p:sp>
        <p:nvSpPr>
          <p:cNvPr id="31" name="Text 29"/>
          <p:cNvSpPr txBox="1"/>
          <p:nvPr/>
        </p:nvSpPr>
        <p:spPr>
          <a:xfrm>
            <a:off x="777240" y="2194560"/>
            <a:ext cx="4937760" cy="64008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Q = ASR words whose character span overlaps the aligned quotes; p(w) = Whisper's word probability.</a:t>
            </a:r>
            <a:endParaRPr lang="en-US" sz="1250" dirty="0"/>
          </a:p>
        </p:txBody>
      </p:sp>
      <p:sp>
        <p:nvSpPr>
          <p:cNvPr id="32" name="Text 30"/>
          <p:cNvSpPr txBox="1"/>
          <p:nvPr/>
        </p:nvSpPr>
        <p:spPr>
          <a:xfrm>
            <a:off x="548640" y="3108960"/>
            <a:ext cx="5394960" cy="23774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A &lt; 0.50 -&gt; REJECTED, weakest words listed.</a:t>
            </a:r>
            <a:endParaRPr lang="en-US" sz="1400" dirty="0"/>
          </a:p>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Only the words the fact relies on count, not the whole transcript.</a:t>
            </a:r>
            <a:endParaRPr lang="en-US" sz="1400" dirty="0"/>
          </a:p>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Text input (no audio): A is recorded as unavailable, never invented.</a:t>
            </a:r>
            <a:endParaRPr lang="en-US" sz="1400" dirty="0"/>
          </a:p>
        </p:txBody>
      </p:sp>
      <p:sp>
        <p:nvSpPr>
          <p:cNvPr id="33" name="Shape 31"/>
          <p:cNvSpPr/>
          <p:nvPr/>
        </p:nvSpPr>
        <p:spPr>
          <a:xfrm>
            <a:off x="6217920" y="1463040"/>
            <a:ext cx="5394960" cy="4023360"/>
          </a:xfrm>
          <a:prstGeom prst="roundRect">
            <a:avLst>
              <a:gd name="adj" fmla="val 1818"/>
            </a:avLst>
          </a:prstGeom>
          <a:solidFill>
            <a:srgbClr val="E3F1EE"/>
          </a:solidFill>
          <a:ln w="12700">
            <a:solidFill>
              <a:srgbClr val="E3F1EE"/>
            </a:solidFill>
            <a:prstDash val="solid"/>
          </a:ln>
        </p:spPr>
      </p:sp>
      <p:sp>
        <p:nvSpPr>
          <p:cNvPr id="34" name="Text 32"/>
          <p:cNvSpPr txBox="1"/>
          <p:nvPr/>
        </p:nvSpPr>
        <p:spPr>
          <a:xfrm>
            <a:off x="6446520" y="1572768"/>
            <a:ext cx="4937760" cy="320040"/>
          </a:xfrm>
          <a:prstGeom prst="rect">
            <a:avLst/>
          </a:prstGeom>
          <a:noFill/>
          <a:ln/>
        </p:spPr>
        <p:txBody>
          <a:bodyPr wrap="square" lIns="0" tIns="0" rIns="0" bIns="0" rtlCol="0" anchor="t"/>
          <a:lstStyle/>
          <a:p>
            <a:pPr indent="0" marL="0">
              <a:buNone/>
            </a:pPr>
            <a:r>
              <a:rPr lang="en-US" sz="1250" b="1" dirty="0">
                <a:solidFill>
                  <a:srgbClr val="2A7F6F"/>
                </a:solidFill>
                <a:latin typeface="Calibri" pitchFamily="34" charset="0"/>
                <a:ea typeface="Calibri" pitchFamily="34" charset="-122"/>
                <a:cs typeface="Calibri" pitchFamily="34" charset="-120"/>
              </a:rPr>
              <a:t>Real Whisper word probabilities, segments #153-154</a:t>
            </a:r>
            <a:endParaRPr lang="en-US" sz="1250" dirty="0"/>
          </a:p>
        </p:txBody>
      </p:sp>
      <p:sp>
        <p:nvSpPr>
          <p:cNvPr id="35" name="Text 33"/>
          <p:cNvSpPr txBox="1"/>
          <p:nvPr/>
        </p:nvSpPr>
        <p:spPr>
          <a:xfrm>
            <a:off x="6446520" y="1874520"/>
            <a:ext cx="4937760" cy="365760"/>
          </a:xfrm>
          <a:prstGeom prst="rect">
            <a:avLst/>
          </a:prstGeom>
          <a:noFill/>
          <a:ln/>
        </p:spPr>
        <p:txBody>
          <a:bodyPr wrap="square" lIns="0" tIns="0" rIns="0" bIns="0" rtlCol="0" anchor="t"/>
          <a:lstStyle/>
          <a:p>
            <a:pPr indent="0" marL="0">
              <a:buNone/>
            </a:pPr>
            <a:r>
              <a:rPr lang="en-US" sz="1250" i="1" dirty="0">
                <a:solidFill>
                  <a:srgbClr val="27363D"/>
                </a:solidFill>
                <a:latin typeface="Calibri" pitchFamily="34" charset="0"/>
                <a:ea typeface="Calibri" pitchFamily="34" charset="-122"/>
                <a:cs typeface="Calibri" pitchFamily="34" charset="-120"/>
              </a:rPr>
              <a:t>Said: "take some time off work"   Heard: "take some type of work"</a:t>
            </a:r>
            <a:endParaRPr lang="en-US" sz="1250" dirty="0"/>
          </a:p>
        </p:txBody>
      </p:sp>
      <p:graphicFrame>
        <p:nvGraphicFramePr>
          <p:cNvPr id="36" name="Chart 0" descr=""/>
          <p:cNvGraphicFramePr/>
          <p:nvPr/>
        </p:nvGraphicFramePr>
        <p:xfrm>
          <a:off x="6400800" y="2240280"/>
          <a:ext cx="5029200" cy="2286000"/>
        </p:xfrm>
        <a:graphic xmlns:a="http://schemas.openxmlformats.org/drawingml/2006/main">
          <a:graphicData uri="http://schemas.openxmlformats.org/drawingml/2006/chart">
            <c:chart xmlns:c="http://schemas.openxmlformats.org/drawingml/2006/chart" r:id="rId1"/>
          </a:graphicData>
        </a:graphic>
      </p:graphicFrame>
      <p:sp>
        <p:nvSpPr>
          <p:cNvPr id="37" name="Text 34"/>
          <p:cNvSpPr txBox="1"/>
          <p:nvPr/>
        </p:nvSpPr>
        <p:spPr>
          <a:xfrm>
            <a:off x="6446520" y="4617720"/>
            <a:ext cx="4937760" cy="82296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The misheard word is the least confident one. The fact's quoted span averaged A = 0.85, and its entailment fell to 0.43 (Gate 2), so it was held for review.</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[4] DeBERTaV3; [5] NLI model card; [6] SummaC (NLI for consistency); probabilities measured by us with the model</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23</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Gate 2: semantic entailment (NLI)</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2A7F6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2A7F6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2A7F6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D1432B"/>
          </a:solidFill>
          <a:ln w="12700">
            <a:solidFill>
              <a:srgbClr val="D1432B"/>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FFFFF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FFFFF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FFFFF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Text 27"/>
          <p:cNvSpPr txBox="1"/>
          <p:nvPr/>
        </p:nvSpPr>
        <p:spPr>
          <a:xfrm>
            <a:off x="548640" y="1417320"/>
            <a:ext cx="11064240" cy="548640"/>
          </a:xfrm>
          <a:prstGeom prst="rect">
            <a:avLst/>
          </a:prstGeom>
          <a:noFill/>
          <a:ln/>
        </p:spPr>
        <p:txBody>
          <a:bodyPr wrap="square" lIns="0" tIns="0" rIns="0" bIns="0" rtlCol="0" anchor="t"/>
          <a:lstStyle/>
          <a:p>
            <a:pPr indent="0" marL="0">
              <a:buNone/>
            </a:pPr>
            <a:r>
              <a:rPr lang="en-US" sz="1500" dirty="0">
                <a:solidFill>
                  <a:srgbClr val="27363D"/>
                </a:solidFill>
                <a:latin typeface="Calibri" pitchFamily="34" charset="0"/>
                <a:ea typeface="Calibri" pitchFamily="34" charset="-122"/>
                <a:cs typeface="Calibri" pitchFamily="34" charset="-120"/>
              </a:rPr>
              <a:t>Premise = cited segments ("Doctor: ... Patient: ..."); hypothesis = drafted fact. The NLI model [4][5] returns three probabilities.</a:t>
            </a:r>
            <a:endParaRPr lang="en-US" sz="1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64240" cy="914400"/>
        </p:xfrm>
        <a:graphic>
          <a:graphicData uri="http://schemas.openxmlformats.org/drawingml/2006/table">
            <a:tbl>
              <a:tblPr/>
              <a:tblGrid>
                <a:gridCol w="4206240"/>
                <a:gridCol w="3291840"/>
                <a:gridCol w="1097280"/>
                <a:gridCol w="1097280"/>
                <a:gridCol w="137160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Premise (cited evidence)</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Drafted fact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P(entail)</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P(contra)</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r>
              <a:tr h="43891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Patient: I've just had some diarrhea for the last three days.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Patient reports diarrhea for 3 days.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0.997</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b="1" dirty="0">
                          <a:solidFill>
                            <a:srgbClr val="1E8A4C"/>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43891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Doctor: Do you smoke? Patient: No, I don't.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Denies smoking.</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0.994</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b="1" dirty="0">
                          <a:solidFill>
                            <a:srgbClr val="1E8A4C"/>
                          </a:solidFill>
                          <a:latin typeface="Calibri" pitchFamily="34" charset="0"/>
                          <a:ea typeface="Calibri" pitchFamily="34" charset="-122"/>
                          <a:cs typeface="Calibri" pitchFamily="34" charset="-120"/>
                        </a:rPr>
                        <a:t>pass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43891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Patient: I have really bad chest pain.</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Denies chest pain.</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0.006</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0.990</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b="1" dirty="0">
                          <a:solidFill>
                            <a:srgbClr val="D1432B"/>
                          </a:solidFill>
                          <a:latin typeface="Calibri" pitchFamily="34" charset="0"/>
                          <a:ea typeface="Calibri" pitchFamily="34" charset="-122"/>
                          <a:cs typeface="Calibri" pitchFamily="34" charset="-120"/>
                        </a:rPr>
                        <a:t>REJECT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43891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Doctor: I'll start you on metformin 500 mg twice a day.</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Metformin 1000 mg three times a day.</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0.997</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b="1" dirty="0">
                          <a:solidFill>
                            <a:srgbClr val="D1432B"/>
                          </a:solidFill>
                          <a:latin typeface="Calibri" pitchFamily="34" charset="0"/>
                          <a:ea typeface="Calibri" pitchFamily="34" charset="-122"/>
                          <a:cs typeface="Calibri" pitchFamily="34" charset="-120"/>
                        </a:rPr>
                        <a:t>REJECT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438912">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Patient: I've been coughing for a week.</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Patient has a history of asthma.</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0.000</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b="1" dirty="0">
                          <a:solidFill>
                            <a:srgbClr val="D1432B"/>
                          </a:solidFill>
                          <a:latin typeface="Calibri" pitchFamily="34" charset="0"/>
                          <a:ea typeface="Calibri" pitchFamily="34" charset="-122"/>
                          <a:cs typeface="Calibri" pitchFamily="34" charset="-120"/>
                        </a:rPr>
                        <a:t>REJECT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bl>
          </a:graphicData>
        </a:graphic>
      </p:graphicFrame>
      <p:sp>
        <p:nvSpPr>
          <p:cNvPr id="31" name="Text 28"/>
          <p:cNvSpPr txBox="1"/>
          <p:nvPr/>
        </p:nvSpPr>
        <p:spPr>
          <a:xfrm>
            <a:off x="548640" y="4892040"/>
            <a:ext cx="11064240" cy="640080"/>
          </a:xfrm>
          <a:prstGeom prst="rect">
            <a:avLst/>
          </a:prstGeom>
          <a:noFill/>
          <a:ln/>
        </p:spPr>
        <p:txBody>
          <a:bodyPr wrap="square" lIns="0" tIns="0" rIns="0" bIns="0" rtlCol="0" anchor="t"/>
          <a:lstStyle/>
          <a:p>
            <a:pPr indent="0" marL="0">
              <a:buNone/>
            </a:pPr>
            <a:r>
              <a:rPr lang="en-US" sz="1300" b="1" dirty="0">
                <a:solidFill>
                  <a:srgbClr val="0F2A36"/>
                </a:solidFill>
                <a:latin typeface="Calibri" pitchFamily="34" charset="0"/>
                <a:ea typeface="Calibri" pitchFamily="34" charset="-122"/>
                <a:cs typeface="Calibri" pitchFamily="34" charset="-120"/>
              </a:rPr>
              <a:t>Rules: P(contradiction) &gt;= 0.50 -&gt; REJECTED;  P(entailment) &lt; 0.30 -&gt; REJECTED.  Replaced a word-overlap proxy that blocked correct paraphrases (0 of 21 passed).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Parameters set by design (not yet tuned on data); values from prototype/src/grounding.py and calibration.py</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24</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Combining the signals against a per-field threshold</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2A7F6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2A7F6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2A7F6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2A7F6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D1432B"/>
          </a:solidFill>
          <a:ln w="12700">
            <a:solidFill>
              <a:srgbClr val="D1432B"/>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FFFFF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FFFFF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Shape 27"/>
          <p:cNvSpPr/>
          <p:nvPr/>
        </p:nvSpPr>
        <p:spPr>
          <a:xfrm>
            <a:off x="548640" y="1463040"/>
            <a:ext cx="5760720" cy="1371600"/>
          </a:xfrm>
          <a:prstGeom prst="roundRect">
            <a:avLst>
              <a:gd name="adj" fmla="val 5333"/>
            </a:avLst>
          </a:prstGeom>
          <a:solidFill>
            <a:srgbClr val="E8ECEE"/>
          </a:solidFill>
          <a:ln w="12700">
            <a:solidFill>
              <a:srgbClr val="E8ECEE"/>
            </a:solidFill>
            <a:prstDash val="solid"/>
          </a:ln>
        </p:spPr>
      </p:sp>
      <p:sp>
        <p:nvSpPr>
          <p:cNvPr id="30" name="Text 28"/>
          <p:cNvSpPr txBox="1"/>
          <p:nvPr/>
        </p:nvSpPr>
        <p:spPr>
          <a:xfrm>
            <a:off x="777240" y="1572768"/>
            <a:ext cx="5394960" cy="1188720"/>
          </a:xfrm>
          <a:prstGeom prst="rect">
            <a:avLst/>
          </a:prstGeom>
          <a:noFill/>
          <a:ln/>
        </p:spPr>
        <p:txBody>
          <a:bodyPr wrap="square" lIns="0" tIns="0" rIns="0" bIns="0" rtlCol="0" anchor="ctr"/>
          <a:lstStyle/>
          <a:p>
            <a:pPr indent="0" marL="0">
              <a:buNone/>
            </a:pPr>
            <a:r>
              <a:rPr lang="en-US" sz="2400" dirty="0">
                <a:solidFill>
                  <a:srgbClr val="0F2A36"/>
                </a:solidFill>
                <a:latin typeface="Cambria Math" pitchFamily="34" charset="0"/>
                <a:ea typeface="Cambria Math" pitchFamily="34" charset="-122"/>
                <a:cs typeface="Cambria Math" pitchFamily="34" charset="-120"/>
              </a:rPr>
              <a:t>S = 0.6 · E + 0.4 · A</a:t>
            </a:r>
            <a:endParaRPr lang="en-US" sz="2400" dirty="0"/>
          </a:p>
          <a:p>
            <a:pPr indent="0" marL="0">
              <a:buNone/>
            </a:pPr>
            <a:r>
              <a:rPr lang="en-US" sz="1600" dirty="0">
                <a:solidFill>
                  <a:srgbClr val="0F2A36"/>
                </a:solidFill>
                <a:latin typeface="Cambria Math" pitchFamily="34" charset="0"/>
                <a:ea typeface="Cambria Math" pitchFamily="34" charset="-122"/>
                <a:cs typeface="Cambria Math" pitchFamily="34" charset="-120"/>
              </a:rPr>
              <a:t>S = E   (text input, no audio)</a:t>
            </a:r>
            <a:endParaRPr lang="en-US" sz="2400" dirty="0"/>
          </a:p>
        </p:txBody>
      </p:sp>
      <p:sp>
        <p:nvSpPr>
          <p:cNvPr id="31" name="Text 29"/>
          <p:cNvSpPr txBox="1"/>
          <p:nvPr/>
        </p:nvSpPr>
        <p:spPr>
          <a:xfrm>
            <a:off x="548640" y="3063240"/>
            <a:ext cx="5760720" cy="24688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E = P(entailment), A = acoustic score.</a:t>
            </a:r>
            <a:endParaRPr lang="en-US" sz="1400" dirty="0"/>
          </a:p>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S &gt;= t(clinician, field) -&gt; VERIFIED (auto-insert).</a:t>
            </a:r>
            <a:endParaRPr lang="en-US" sz="1400" dirty="0"/>
          </a:p>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S &lt; t -&gt; NEEDS_REVIEW (blocked, queued).</a:t>
            </a:r>
            <a:endParaRPr lang="en-US" sz="1400" dirty="0"/>
          </a:p>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t starts at 0.75 per field; floors (0.30, 0.50) and contradiction limit never adapt.</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5029200" cy="914400"/>
        </p:xfrm>
        <a:graphic>
          <a:graphicData uri="http://schemas.openxmlformats.org/drawingml/2006/table">
            <a:tbl>
              <a:tblPr/>
              <a:tblGrid>
                <a:gridCol w="2377440"/>
                <a:gridCol w="640080"/>
                <a:gridCol w="640080"/>
                <a:gridCol w="548640"/>
                <a:gridCol w="822960"/>
              </a:tblGrid>
              <a:tr h="50292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Real fact (audio run, wording abridged)</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r>
              <a:tr h="50292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Diarrhea for the last three days.</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0.996</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0.896</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0.96</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b="1" dirty="0">
                          <a:solidFill>
                            <a:srgbClr val="1E8A4C"/>
                          </a:solidFill>
                          <a:latin typeface="Calibri" pitchFamily="34" charset="0"/>
                          <a:ea typeface="Calibri" pitchFamily="34" charset="-122"/>
                          <a:cs typeface="Calibri" pitchFamily="34" charset="-120"/>
                        </a:rPr>
                        <a:t>VERIFIED</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50292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Fever at onset, none now.</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0.631</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0.967</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0.77</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b="1" dirty="0">
                          <a:solidFill>
                            <a:srgbClr val="1E8A4C"/>
                          </a:solidFill>
                          <a:latin typeface="Calibri" pitchFamily="34" charset="0"/>
                          <a:ea typeface="Calibri" pitchFamily="34" charset="-122"/>
                          <a:cs typeface="Calibri" pitchFamily="34" charset="-120"/>
                        </a:rPr>
                        <a:t>VERIFIED</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50292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Take 2-3 days off work to rest.</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0.426</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0.853</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0.60</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150" b="1" dirty="0">
                          <a:solidFill>
                            <a:srgbClr val="C98311"/>
                          </a:solidFill>
                          <a:latin typeface="Calibri" pitchFamily="34" charset="0"/>
                          <a:ea typeface="Calibri" pitchFamily="34" charset="-122"/>
                          <a:cs typeface="Calibri" pitchFamily="34" charset="-120"/>
                        </a:rPr>
                        <a:t>REVIEW</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502920">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History of asthma, well controlled.</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0.384</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0.784</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dirty="0">
                          <a:solidFill>
                            <a:srgbClr val="27363D"/>
                          </a:solidFill>
                          <a:latin typeface="Calibri" pitchFamily="34" charset="0"/>
                          <a:ea typeface="Calibri" pitchFamily="34" charset="-122"/>
                          <a:cs typeface="Calibri" pitchFamily="34" charset="-120"/>
                        </a:rPr>
                        <a:t>0.54</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150" b="1" dirty="0">
                          <a:solidFill>
                            <a:srgbClr val="C98311"/>
                          </a:solidFill>
                          <a:latin typeface="Calibri" pitchFamily="34" charset="0"/>
                          <a:ea typeface="Calibri" pitchFamily="34" charset="-122"/>
                          <a:cs typeface="Calibri" pitchFamily="34" charset="-120"/>
                        </a:rPr>
                        <a:t>REVIEW</a:t>
                      </a:r>
                      <a:endParaRPr lang="en-US" sz="115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[19] BNF for indications / contraindications / interactions (curated subset, not exhaustive); examples from our plausibility tests</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25</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Gate 3: clinical plausibility</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2A7F6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2A7F6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2A7F6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2A7F6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2A7F6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D1432B"/>
          </a:solidFill>
          <a:ln w="12700">
            <a:solidFill>
              <a:srgbClr val="D1432B"/>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FFFFF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Text 27"/>
          <p:cNvSpPr txBox="1"/>
          <p:nvPr/>
        </p:nvSpPr>
        <p:spPr>
          <a:xfrm>
            <a:off x="548640" y="1417320"/>
            <a:ext cx="11064240" cy="548640"/>
          </a:xfrm>
          <a:prstGeom prst="rect">
            <a:avLst/>
          </a:prstGeom>
          <a:noFill/>
          <a:ln/>
        </p:spPr>
        <p:txBody>
          <a:bodyPr wrap="square" lIns="0" tIns="0" rIns="0" bIns="0" rtlCol="0" anchor="t"/>
          <a:lstStyle/>
          <a:p>
            <a:pPr indent="0" marL="0">
              <a:buNone/>
            </a:pPr>
            <a:r>
              <a:rPr lang="en-US" sz="1500" dirty="0">
                <a:solidFill>
                  <a:srgbClr val="27363D"/>
                </a:solidFill>
                <a:latin typeface="Calibri" pitchFamily="34" charset="0"/>
                <a:ea typeface="Calibri" pitchFamily="34" charset="-122"/>
                <a:cs typeface="Calibri" pitchFamily="34" charset="-120"/>
              </a:rPr>
              <a:t>Catches statements that are faithful to the audio but clinically unsafe. Runs on every non-rejected medication / plan fact, against the encounter's other facts.</a:t>
            </a:r>
            <a:endParaRPr lang="en-US" sz="1500" dirty="0"/>
          </a:p>
        </p:txBody>
      </p:sp>
      <p:sp>
        <p:nvSpPr>
          <p:cNvPr id="30" name="Shape 28"/>
          <p:cNvSpPr/>
          <p:nvPr/>
        </p:nvSpPr>
        <p:spPr>
          <a:xfrm>
            <a:off x="548640" y="2148840"/>
            <a:ext cx="2057400" cy="1828800"/>
          </a:xfrm>
          <a:prstGeom prst="roundRect">
            <a:avLst>
              <a:gd name="adj" fmla="val 4000"/>
            </a:avLst>
          </a:prstGeom>
          <a:solidFill>
            <a:srgbClr val="E3F1EE"/>
          </a:solidFill>
          <a:ln w="12700">
            <a:solidFill>
              <a:srgbClr val="E3F1EE"/>
            </a:solidFill>
            <a:prstDash val="solid"/>
          </a:ln>
        </p:spPr>
      </p:sp>
      <p:sp>
        <p:nvSpPr>
          <p:cNvPr id="31" name="Text 29"/>
          <p:cNvSpPr txBox="1"/>
          <p:nvPr/>
        </p:nvSpPr>
        <p:spPr>
          <a:xfrm>
            <a:off x="713232" y="2286000"/>
            <a:ext cx="1783080" cy="548640"/>
          </a:xfrm>
          <a:prstGeom prst="rect">
            <a:avLst/>
          </a:prstGeom>
          <a:noFill/>
          <a:ln/>
        </p:spPr>
        <p:txBody>
          <a:bodyPr wrap="square" lIns="0" tIns="0" rIns="0" bIns="0" rtlCol="0" anchor="t"/>
          <a:lstStyle/>
          <a:p>
            <a:pPr indent="0" marL="0">
              <a:buNone/>
            </a:pPr>
            <a:r>
              <a:rPr lang="en-US" sz="1450" b="1" dirty="0">
                <a:solidFill>
                  <a:srgbClr val="D1432B"/>
                </a:solidFill>
                <a:latin typeface="Calibri" pitchFamily="34" charset="0"/>
                <a:ea typeface="Calibri" pitchFamily="34" charset="-122"/>
                <a:cs typeface="Calibri" pitchFamily="34" charset="-120"/>
              </a:rPr>
              <a:t>Allergy conflict</a:t>
            </a:r>
            <a:endParaRPr lang="en-US" sz="1450" dirty="0"/>
          </a:p>
        </p:txBody>
      </p:sp>
      <p:sp>
        <p:nvSpPr>
          <p:cNvPr id="32" name="Text 30"/>
          <p:cNvSpPr txBox="1"/>
          <p:nvPr/>
        </p:nvSpPr>
        <p:spPr>
          <a:xfrm>
            <a:off x="713232" y="2880360"/>
            <a:ext cx="1783080" cy="100584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amoxicillin + documented penicillin allergy</a:t>
            </a:r>
            <a:endParaRPr lang="en-US" sz="1250" dirty="0"/>
          </a:p>
        </p:txBody>
      </p:sp>
      <p:sp>
        <p:nvSpPr>
          <p:cNvPr id="33" name="Shape 31"/>
          <p:cNvSpPr/>
          <p:nvPr/>
        </p:nvSpPr>
        <p:spPr>
          <a:xfrm>
            <a:off x="2788920" y="2148840"/>
            <a:ext cx="2057400" cy="1828800"/>
          </a:xfrm>
          <a:prstGeom prst="roundRect">
            <a:avLst>
              <a:gd name="adj" fmla="val 4000"/>
            </a:avLst>
          </a:prstGeom>
          <a:solidFill>
            <a:srgbClr val="E3F1EE"/>
          </a:solidFill>
          <a:ln w="12700">
            <a:solidFill>
              <a:srgbClr val="E3F1EE"/>
            </a:solidFill>
            <a:prstDash val="solid"/>
          </a:ln>
        </p:spPr>
      </p:sp>
      <p:sp>
        <p:nvSpPr>
          <p:cNvPr id="34" name="Text 32"/>
          <p:cNvSpPr txBox="1"/>
          <p:nvPr/>
        </p:nvSpPr>
        <p:spPr>
          <a:xfrm>
            <a:off x="2953512" y="2286000"/>
            <a:ext cx="1783080" cy="548640"/>
          </a:xfrm>
          <a:prstGeom prst="rect">
            <a:avLst/>
          </a:prstGeom>
          <a:noFill/>
          <a:ln/>
        </p:spPr>
        <p:txBody>
          <a:bodyPr wrap="square" lIns="0" tIns="0" rIns="0" bIns="0" rtlCol="0" anchor="t"/>
          <a:lstStyle/>
          <a:p>
            <a:pPr indent="0" marL="0">
              <a:buNone/>
            </a:pPr>
            <a:r>
              <a:rPr lang="en-US" sz="1450" b="1" dirty="0">
                <a:solidFill>
                  <a:srgbClr val="D1432B"/>
                </a:solidFill>
                <a:latin typeface="Calibri" pitchFamily="34" charset="0"/>
                <a:ea typeface="Calibri" pitchFamily="34" charset="-122"/>
                <a:cs typeface="Calibri" pitchFamily="34" charset="-120"/>
              </a:rPr>
              <a:t>Antibiotic for viral</a:t>
            </a:r>
            <a:endParaRPr lang="en-US" sz="1450" dirty="0"/>
          </a:p>
        </p:txBody>
      </p:sp>
      <p:sp>
        <p:nvSpPr>
          <p:cNvPr id="35" name="Text 33"/>
          <p:cNvSpPr txBox="1"/>
          <p:nvPr/>
        </p:nvSpPr>
        <p:spPr>
          <a:xfrm>
            <a:off x="2953512" y="2880360"/>
            <a:ext cx="1783080" cy="100584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antibiotic while assessment says viral</a:t>
            </a:r>
            <a:endParaRPr lang="en-US" sz="1250" dirty="0"/>
          </a:p>
        </p:txBody>
      </p:sp>
      <p:sp>
        <p:nvSpPr>
          <p:cNvPr id="36" name="Shape 34"/>
          <p:cNvSpPr/>
          <p:nvPr/>
        </p:nvSpPr>
        <p:spPr>
          <a:xfrm>
            <a:off x="5029200" y="2148840"/>
            <a:ext cx="2057400" cy="1828800"/>
          </a:xfrm>
          <a:prstGeom prst="roundRect">
            <a:avLst>
              <a:gd name="adj" fmla="val 4000"/>
            </a:avLst>
          </a:prstGeom>
          <a:solidFill>
            <a:srgbClr val="E3F1EE"/>
          </a:solidFill>
          <a:ln w="12700">
            <a:solidFill>
              <a:srgbClr val="E3F1EE"/>
            </a:solidFill>
            <a:prstDash val="solid"/>
          </a:ln>
        </p:spPr>
      </p:sp>
      <p:sp>
        <p:nvSpPr>
          <p:cNvPr id="37" name="Text 35"/>
          <p:cNvSpPr txBox="1"/>
          <p:nvPr/>
        </p:nvSpPr>
        <p:spPr>
          <a:xfrm>
            <a:off x="5193792" y="2286000"/>
            <a:ext cx="1783080" cy="548640"/>
          </a:xfrm>
          <a:prstGeom prst="rect">
            <a:avLst/>
          </a:prstGeom>
          <a:noFill/>
          <a:ln/>
        </p:spPr>
        <p:txBody>
          <a:bodyPr wrap="square" lIns="0" tIns="0" rIns="0" bIns="0" rtlCol="0" anchor="t"/>
          <a:lstStyle/>
          <a:p>
            <a:pPr indent="0" marL="0">
              <a:buNone/>
            </a:pPr>
            <a:r>
              <a:rPr lang="en-US" sz="1450" b="1" dirty="0">
                <a:solidFill>
                  <a:srgbClr val="D1432B"/>
                </a:solidFill>
                <a:latin typeface="Calibri" pitchFamily="34" charset="0"/>
                <a:ea typeface="Calibri" pitchFamily="34" charset="-122"/>
                <a:cs typeface="Calibri" pitchFamily="34" charset="-120"/>
              </a:rPr>
              <a:t>Indication mismatch</a:t>
            </a:r>
            <a:endParaRPr lang="en-US" sz="1450" dirty="0"/>
          </a:p>
        </p:txBody>
      </p:sp>
      <p:sp>
        <p:nvSpPr>
          <p:cNvPr id="38" name="Text 36"/>
          <p:cNvSpPr txBox="1"/>
          <p:nvPr/>
        </p:nvSpPr>
        <p:spPr>
          <a:xfrm>
            <a:off x="5193792" y="2880360"/>
            <a:ext cx="1783080" cy="100584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"aspirin for your diarrhoea"</a:t>
            </a:r>
            <a:endParaRPr lang="en-US" sz="1250" dirty="0"/>
          </a:p>
        </p:txBody>
      </p:sp>
      <p:sp>
        <p:nvSpPr>
          <p:cNvPr id="39" name="Shape 37"/>
          <p:cNvSpPr/>
          <p:nvPr/>
        </p:nvSpPr>
        <p:spPr>
          <a:xfrm>
            <a:off x="7269480" y="2148840"/>
            <a:ext cx="2057400" cy="1828800"/>
          </a:xfrm>
          <a:prstGeom prst="roundRect">
            <a:avLst>
              <a:gd name="adj" fmla="val 4000"/>
            </a:avLst>
          </a:prstGeom>
          <a:solidFill>
            <a:srgbClr val="E3F1EE"/>
          </a:solidFill>
          <a:ln w="12700">
            <a:solidFill>
              <a:srgbClr val="E3F1EE"/>
            </a:solidFill>
            <a:prstDash val="solid"/>
          </a:ln>
        </p:spPr>
      </p:sp>
      <p:sp>
        <p:nvSpPr>
          <p:cNvPr id="40" name="Text 38"/>
          <p:cNvSpPr txBox="1"/>
          <p:nvPr/>
        </p:nvSpPr>
        <p:spPr>
          <a:xfrm>
            <a:off x="7434072" y="2286000"/>
            <a:ext cx="1783080" cy="548640"/>
          </a:xfrm>
          <a:prstGeom prst="rect">
            <a:avLst/>
          </a:prstGeom>
          <a:noFill/>
          <a:ln/>
        </p:spPr>
        <p:txBody>
          <a:bodyPr wrap="square" lIns="0" tIns="0" rIns="0" bIns="0" rtlCol="0" anchor="t"/>
          <a:lstStyle/>
          <a:p>
            <a:pPr indent="0" marL="0">
              <a:buNone/>
            </a:pPr>
            <a:r>
              <a:rPr lang="en-US" sz="1450" b="1" dirty="0">
                <a:solidFill>
                  <a:srgbClr val="D1432B"/>
                </a:solidFill>
                <a:latin typeface="Calibri" pitchFamily="34" charset="0"/>
                <a:ea typeface="Calibri" pitchFamily="34" charset="-122"/>
                <a:cs typeface="Calibri" pitchFamily="34" charset="-120"/>
              </a:rPr>
              <a:t>Contraindication</a:t>
            </a:r>
            <a:endParaRPr lang="en-US" sz="1450" dirty="0"/>
          </a:p>
        </p:txBody>
      </p:sp>
      <p:sp>
        <p:nvSpPr>
          <p:cNvPr id="41" name="Text 39"/>
          <p:cNvSpPr txBox="1"/>
          <p:nvPr/>
        </p:nvSpPr>
        <p:spPr>
          <a:xfrm>
            <a:off x="7434072" y="2880360"/>
            <a:ext cx="1783080" cy="100584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naproxen + history of peptic ulcer</a:t>
            </a:r>
            <a:endParaRPr lang="en-US" sz="1250" dirty="0"/>
          </a:p>
        </p:txBody>
      </p:sp>
      <p:sp>
        <p:nvSpPr>
          <p:cNvPr id="42" name="Shape 40"/>
          <p:cNvSpPr/>
          <p:nvPr/>
        </p:nvSpPr>
        <p:spPr>
          <a:xfrm>
            <a:off x="9509760" y="2148840"/>
            <a:ext cx="2057400" cy="1828800"/>
          </a:xfrm>
          <a:prstGeom prst="roundRect">
            <a:avLst>
              <a:gd name="adj" fmla="val 4000"/>
            </a:avLst>
          </a:prstGeom>
          <a:solidFill>
            <a:srgbClr val="E3F1EE"/>
          </a:solidFill>
          <a:ln w="12700">
            <a:solidFill>
              <a:srgbClr val="E3F1EE"/>
            </a:solidFill>
            <a:prstDash val="solid"/>
          </a:ln>
        </p:spPr>
      </p:sp>
      <p:sp>
        <p:nvSpPr>
          <p:cNvPr id="43" name="Text 41"/>
          <p:cNvSpPr txBox="1"/>
          <p:nvPr/>
        </p:nvSpPr>
        <p:spPr>
          <a:xfrm>
            <a:off x="9674352" y="2286000"/>
            <a:ext cx="1783080" cy="548640"/>
          </a:xfrm>
          <a:prstGeom prst="rect">
            <a:avLst/>
          </a:prstGeom>
          <a:noFill/>
          <a:ln/>
        </p:spPr>
        <p:txBody>
          <a:bodyPr wrap="square" lIns="0" tIns="0" rIns="0" bIns="0" rtlCol="0" anchor="t"/>
          <a:lstStyle/>
          <a:p>
            <a:pPr indent="0" marL="0">
              <a:buNone/>
            </a:pPr>
            <a:r>
              <a:rPr lang="en-US" sz="1450" b="1" dirty="0">
                <a:solidFill>
                  <a:srgbClr val="D1432B"/>
                </a:solidFill>
                <a:latin typeface="Calibri" pitchFamily="34" charset="0"/>
                <a:ea typeface="Calibri" pitchFamily="34" charset="-122"/>
                <a:cs typeface="Calibri" pitchFamily="34" charset="-120"/>
              </a:rPr>
              <a:t>Drug interaction</a:t>
            </a:r>
            <a:endParaRPr lang="en-US" sz="1450" dirty="0"/>
          </a:p>
        </p:txBody>
      </p:sp>
      <p:sp>
        <p:nvSpPr>
          <p:cNvPr id="44" name="Text 42"/>
          <p:cNvSpPr txBox="1"/>
          <p:nvPr/>
        </p:nvSpPr>
        <p:spPr>
          <a:xfrm>
            <a:off x="9674352" y="2880360"/>
            <a:ext cx="1783080" cy="1005840"/>
          </a:xfrm>
          <a:prstGeom prst="rect">
            <a:avLst/>
          </a:prstGeom>
          <a:noFill/>
          <a:ln/>
        </p:spPr>
        <p:txBody>
          <a:bodyPr wrap="square" lIns="0" tIns="0" rIns="0" bIns="0" rtlCol="0" anchor="t"/>
          <a:lstStyle/>
          <a:p>
            <a:pPr indent="0" marL="0">
              <a:buNone/>
            </a:pPr>
            <a:r>
              <a:rPr lang="en-US" sz="1250" dirty="0">
                <a:solidFill>
                  <a:srgbClr val="27363D"/>
                </a:solidFill>
                <a:latin typeface="Calibri" pitchFamily="34" charset="0"/>
                <a:ea typeface="Calibri" pitchFamily="34" charset="-122"/>
                <a:cs typeface="Calibri" pitchFamily="34" charset="-120"/>
              </a:rPr>
              <a:t>warfarin + NSAID</a:t>
            </a:r>
            <a:endParaRPr lang="en-US" sz="1250" dirty="0"/>
          </a:p>
        </p:txBody>
      </p:sp>
      <p:sp>
        <p:nvSpPr>
          <p:cNvPr id="45" name="Text 43"/>
          <p:cNvSpPr txBox="1"/>
          <p:nvPr/>
        </p:nvSpPr>
        <p:spPr>
          <a:xfrm>
            <a:off x="548640" y="4206240"/>
            <a:ext cx="11064240" cy="1463040"/>
          </a:xfrm>
          <a:prstGeom prst="rect">
            <a:avLst/>
          </a:prstGeom>
          <a:noFill/>
          <a:ln/>
        </p:spPr>
        <p:txBody>
          <a:bodyPr wrap="square" lIns="0" tIns="0" rIns="0" bIns="0" rtlCol="0" anchor="t"/>
          <a:lstStyle/>
          <a:p>
            <a:pPr marL="203200" indent="-203200">
              <a:spcAft>
                <a:spcPts val="600"/>
              </a:spcAft>
              <a:buSzPct val="100000"/>
              <a:buChar char="•"/>
            </a:pPr>
            <a:r>
              <a:rPr lang="en-US" sz="1350" b="1" dirty="0">
                <a:solidFill>
                  <a:srgbClr val="27363D"/>
                </a:solidFill>
                <a:latin typeface="Calibri" pitchFamily="34" charset="0"/>
                <a:ea typeface="Calibri" pitchFamily="34" charset="-122"/>
                <a:cs typeface="Calibri" pitchFamily="34" charset="-120"/>
              </a:rPr>
              <a:t>Negation-aware: </a:t>
            </a:r>
            <a:pPr indent="0" marL="0">
              <a:buNone/>
            </a:pPr>
            <a:r>
              <a:rPr lang="en-US" sz="1350" dirty="0">
                <a:solidFill>
                  <a:srgbClr val="27363D"/>
                </a:solidFill>
                <a:latin typeface="Calibri" pitchFamily="34" charset="0"/>
                <a:ea typeface="Calibri" pitchFamily="34" charset="-122"/>
                <a:cs typeface="Calibri" pitchFamily="34" charset="-120"/>
              </a:rPr>
              <a:t>"No known drug allergies", "no history of stomach ulcers" and "you don't need amoxicillin" raise nothing.</a:t>
            </a:r>
            <a:endParaRPr lang="en-US" sz="1350" dirty="0"/>
          </a:p>
          <a:p>
            <a:pPr marL="203200" indent="-203200">
              <a:spcAft>
                <a:spcPts val="600"/>
              </a:spcAft>
              <a:buSzPct val="100000"/>
              <a:buChar char="•"/>
            </a:pPr>
            <a:r>
              <a:rPr lang="en-US" sz="1350" b="1" dirty="0">
                <a:solidFill>
                  <a:srgbClr val="27363D"/>
                </a:solidFill>
                <a:latin typeface="Calibri" pitchFamily="34" charset="0"/>
                <a:ea typeface="Calibri" pitchFamily="34" charset="-122"/>
                <a:cs typeface="Calibri" pitchFamily="34" charset="-120"/>
              </a:rPr>
              <a:t>Effect: </a:t>
            </a:r>
            <a:pPr indent="0" marL="0">
              <a:buNone/>
            </a:pPr>
            <a:r>
              <a:rPr lang="en-US" sz="1350" dirty="0">
                <a:solidFill>
                  <a:srgbClr val="27363D"/>
                </a:solidFill>
                <a:latin typeface="Calibri" pitchFamily="34" charset="0"/>
                <a:ea typeface="Calibri" pitchFamily="34" charset="-122"/>
                <a:cs typeface="Calibri" pitchFamily="34" charset="-120"/>
              </a:rPr>
              <a:t>a conflict demotes VERIFIED -&gt; NEEDS_REVIEW and attaches the reason for the clinician.</a:t>
            </a:r>
            <a:endParaRPr lang="en-US" sz="1350" dirty="0"/>
          </a:p>
          <a:p>
            <a:pPr marL="203200" indent="-203200">
              <a:spcAft>
                <a:spcPts val="600"/>
              </a:spcAft>
              <a:buSzPct val="100000"/>
              <a:buChar char="•"/>
            </a:pPr>
            <a:r>
              <a:rPr lang="en-US" sz="1350" b="1" dirty="0">
                <a:solidFill>
                  <a:srgbClr val="27363D"/>
                </a:solidFill>
                <a:latin typeface="Calibri" pitchFamily="34" charset="0"/>
                <a:ea typeface="Calibri" pitchFamily="34" charset="-122"/>
                <a:cs typeface="Calibri" pitchFamily="34" charset="-120"/>
              </a:rPr>
              <a:t>Knowledge: </a:t>
            </a:r>
            <a:pPr indent="0" marL="0">
              <a:buNone/>
            </a:pPr>
            <a:r>
              <a:rPr lang="en-US" sz="1350" dirty="0">
                <a:solidFill>
                  <a:srgbClr val="27363D"/>
                </a:solidFill>
                <a:latin typeface="Calibri" pitchFamily="34" charset="0"/>
                <a:ea typeface="Calibri" pitchFamily="34" charset="-122"/>
                <a:cs typeface="Calibri" pitchFamily="34" charset="-120"/>
              </a:rPr>
              <a:t>curated drug classes / indications / interactions [19]; production would use RxNorm / openFDA.</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Prototype web app (prototype/web/case.js); speaker-level provenance idea related to evidence linking in [9][10], here attached to blocked facts only</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26</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9</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Clinician review queue with audio replay</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2A7F6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2A7F6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2A7F6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2A7F6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2A7F6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2A7F6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D1432B"/>
          </a:solidFill>
          <a:ln w="12700">
            <a:solidFill>
              <a:srgbClr val="D1432B"/>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FFFFF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Text 27"/>
          <p:cNvSpPr txBox="1"/>
          <p:nvPr/>
        </p:nvSpPr>
        <p:spPr>
          <a:xfrm>
            <a:off x="548640" y="1463040"/>
            <a:ext cx="5760720" cy="420624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Only blocked facts need attention; verified facts are already in the note.</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Each card shows: badge (needs review / blocked), entailment, acoustic, combined score, the quoted evidence, and any plausibility conflict.</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Clicking a fact highlights the exact quoted words in the transcript.</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 on a segment plays only that audio span from the original recording.</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Approve or Reject: recorded under the clinician's name.</a:t>
            </a:r>
            <a:endParaRPr lang="en-US" sz="1450" dirty="0"/>
          </a:p>
        </p:txBody>
      </p:sp>
      <p:sp>
        <p:nvSpPr>
          <p:cNvPr id="30" name="Shape 28"/>
          <p:cNvSpPr/>
          <p:nvPr/>
        </p:nvSpPr>
        <p:spPr>
          <a:xfrm>
            <a:off x="6583680" y="1463040"/>
            <a:ext cx="5029200" cy="4023360"/>
          </a:xfrm>
          <a:prstGeom prst="roundRect">
            <a:avLst>
              <a:gd name="adj" fmla="val 1818"/>
            </a:avLst>
          </a:prstGeom>
          <a:solidFill>
            <a:srgbClr val="E3F1EE"/>
          </a:solidFill>
          <a:ln w="12700">
            <a:solidFill>
              <a:srgbClr val="E3F1EE"/>
            </a:solidFill>
            <a:prstDash val="solid"/>
          </a:ln>
        </p:spPr>
      </p:sp>
      <p:sp>
        <p:nvSpPr>
          <p:cNvPr id="31" name="Text 29"/>
          <p:cNvSpPr txBox="1"/>
          <p:nvPr/>
        </p:nvSpPr>
        <p:spPr>
          <a:xfrm>
            <a:off x="6812280" y="1645920"/>
            <a:ext cx="2011680" cy="320040"/>
          </a:xfrm>
          <a:prstGeom prst="rect">
            <a:avLst/>
          </a:prstGeom>
          <a:noFill/>
          <a:ln/>
        </p:spPr>
        <p:txBody>
          <a:bodyPr wrap="square" lIns="0" tIns="0" rIns="0" bIns="0" rtlCol="0" anchor="t"/>
          <a:lstStyle/>
          <a:p>
            <a:pPr indent="0" marL="0">
              <a:buNone/>
            </a:pPr>
            <a:r>
              <a:rPr lang="en-US" sz="1100" b="1" dirty="0">
                <a:solidFill>
                  <a:srgbClr val="C98311"/>
                </a:solidFill>
                <a:latin typeface="Calibri" pitchFamily="34" charset="0"/>
                <a:ea typeface="Calibri" pitchFamily="34" charset="-122"/>
                <a:cs typeface="Calibri" pitchFamily="34" charset="-120"/>
              </a:rPr>
              <a:t>NEEDS REVIEW</a:t>
            </a:r>
            <a:endParaRPr lang="en-US" sz="1100" dirty="0"/>
          </a:p>
        </p:txBody>
      </p:sp>
      <p:sp>
        <p:nvSpPr>
          <p:cNvPr id="32" name="Text 30"/>
          <p:cNvSpPr txBox="1"/>
          <p:nvPr/>
        </p:nvSpPr>
        <p:spPr>
          <a:xfrm>
            <a:off x="6812280" y="1965960"/>
            <a:ext cx="4572000" cy="457200"/>
          </a:xfrm>
          <a:prstGeom prst="rect">
            <a:avLst/>
          </a:prstGeom>
          <a:noFill/>
          <a:ln/>
        </p:spPr>
        <p:txBody>
          <a:bodyPr wrap="square" lIns="0" tIns="0" rIns="0" bIns="0" rtlCol="0" anchor="t"/>
          <a:lstStyle/>
          <a:p>
            <a:pPr indent="0" marL="0">
              <a:buNone/>
            </a:pPr>
            <a:r>
              <a:rPr lang="en-US" sz="1500" b="1" dirty="0">
                <a:solidFill>
                  <a:srgbClr val="0F2A36"/>
                </a:solidFill>
                <a:latin typeface="Calibri" pitchFamily="34" charset="0"/>
                <a:ea typeface="Calibri" pitchFamily="34" charset="-122"/>
                <a:cs typeface="Calibri" pitchFamily="34" charset="-120"/>
              </a:rPr>
              <a:t>Take two to three days off work to rest.</a:t>
            </a:r>
            <a:endParaRPr lang="en-US" sz="1500" dirty="0"/>
          </a:p>
        </p:txBody>
      </p:sp>
      <p:sp>
        <p:nvSpPr>
          <p:cNvPr id="33" name="Text 31"/>
          <p:cNvSpPr txBox="1"/>
          <p:nvPr/>
        </p:nvSpPr>
        <p:spPr>
          <a:xfrm>
            <a:off x="6812280" y="2423160"/>
            <a:ext cx="4572000" cy="320040"/>
          </a:xfrm>
          <a:prstGeom prst="rect">
            <a:avLst/>
          </a:prstGeom>
          <a:noFill/>
          <a:ln/>
        </p:spPr>
        <p:txBody>
          <a:bodyPr wrap="square" lIns="0" tIns="0" rIns="0" bIns="0" rtlCol="0" anchor="t"/>
          <a:lstStyle/>
          <a:p>
            <a:pPr indent="0" marL="0">
              <a:buNone/>
            </a:pPr>
            <a:r>
              <a:rPr lang="en-US" sz="1200" dirty="0">
                <a:solidFill>
                  <a:srgbClr val="5E6E75"/>
                </a:solidFill>
                <a:latin typeface="Calibri" pitchFamily="34" charset="0"/>
                <a:ea typeface="Calibri" pitchFamily="34" charset="-122"/>
                <a:cs typeface="Calibri" pitchFamily="34" charset="-120"/>
              </a:rPr>
              <a:t>entailment 0.43 · acoustic 0.85 · combined 0.60</a:t>
            </a:r>
            <a:endParaRPr lang="en-US" sz="1200" dirty="0"/>
          </a:p>
        </p:txBody>
      </p:sp>
      <p:sp>
        <p:nvSpPr>
          <p:cNvPr id="34" name="Text 32"/>
          <p:cNvSpPr txBox="1"/>
          <p:nvPr/>
        </p:nvSpPr>
        <p:spPr>
          <a:xfrm>
            <a:off x="6812280" y="2788920"/>
            <a:ext cx="4572000" cy="548640"/>
          </a:xfrm>
          <a:prstGeom prst="rect">
            <a:avLst/>
          </a:prstGeom>
          <a:noFill/>
          <a:ln/>
        </p:spPr>
        <p:txBody>
          <a:bodyPr wrap="square" lIns="0" tIns="0" rIns="0" bIns="0" rtlCol="0" anchor="t"/>
          <a:lstStyle/>
          <a:p>
            <a:pPr indent="0" marL="0">
              <a:buNone/>
            </a:pPr>
            <a:r>
              <a:rPr lang="en-US" sz="1200" i="1" dirty="0">
                <a:solidFill>
                  <a:srgbClr val="27363D"/>
                </a:solidFill>
                <a:latin typeface="Calibri" pitchFamily="34" charset="0"/>
                <a:ea typeface="Calibri" pitchFamily="34" charset="-122"/>
                <a:cs typeface="Calibri" pitchFamily="34" charset="-120"/>
              </a:rPr>
              <a:t>#154 "some type of work."   #157 "take some time off and rest."</a:t>
            </a:r>
            <a:endParaRPr lang="en-US" sz="1200" dirty="0"/>
          </a:p>
        </p:txBody>
      </p:sp>
      <p:sp>
        <p:nvSpPr>
          <p:cNvPr id="35" name="Shape 33"/>
          <p:cNvSpPr/>
          <p:nvPr/>
        </p:nvSpPr>
        <p:spPr>
          <a:xfrm>
            <a:off x="6812280" y="3520440"/>
            <a:ext cx="1188720" cy="411480"/>
          </a:xfrm>
          <a:prstGeom prst="roundRect">
            <a:avLst>
              <a:gd name="adj" fmla="val 13333"/>
            </a:avLst>
          </a:prstGeom>
          <a:solidFill>
            <a:srgbClr val="2A7F6F"/>
          </a:solidFill>
          <a:ln w="12700">
            <a:solidFill>
              <a:srgbClr val="2A7F6F"/>
            </a:solidFill>
            <a:prstDash val="solid"/>
          </a:ln>
        </p:spPr>
      </p:sp>
      <p:sp>
        <p:nvSpPr>
          <p:cNvPr id="36" name="Text 34"/>
          <p:cNvSpPr txBox="1"/>
          <p:nvPr/>
        </p:nvSpPr>
        <p:spPr>
          <a:xfrm>
            <a:off x="6812280" y="3520440"/>
            <a:ext cx="11887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Approve</a:t>
            </a:r>
            <a:endParaRPr lang="en-US" sz="1300" dirty="0"/>
          </a:p>
        </p:txBody>
      </p:sp>
      <p:sp>
        <p:nvSpPr>
          <p:cNvPr id="37" name="Shape 35"/>
          <p:cNvSpPr/>
          <p:nvPr/>
        </p:nvSpPr>
        <p:spPr>
          <a:xfrm>
            <a:off x="8183880" y="3520440"/>
            <a:ext cx="1188720" cy="411480"/>
          </a:xfrm>
          <a:prstGeom prst="roundRect">
            <a:avLst>
              <a:gd name="adj" fmla="val 13333"/>
            </a:avLst>
          </a:prstGeom>
          <a:solidFill>
            <a:srgbClr val="FFFFFF"/>
          </a:solidFill>
          <a:ln w="12700">
            <a:solidFill>
              <a:srgbClr val="D1432B"/>
            </a:solidFill>
            <a:prstDash val="solid"/>
          </a:ln>
        </p:spPr>
      </p:sp>
      <p:sp>
        <p:nvSpPr>
          <p:cNvPr id="38" name="Text 36"/>
          <p:cNvSpPr txBox="1"/>
          <p:nvPr/>
        </p:nvSpPr>
        <p:spPr>
          <a:xfrm>
            <a:off x="8183880" y="3520440"/>
            <a:ext cx="1188720" cy="411480"/>
          </a:xfrm>
          <a:prstGeom prst="rect">
            <a:avLst/>
          </a:prstGeom>
          <a:noFill/>
          <a:ln/>
        </p:spPr>
        <p:txBody>
          <a:bodyPr wrap="square" lIns="0" tIns="0" rIns="0" bIns="0" rtlCol="0" anchor="ctr"/>
          <a:lstStyle/>
          <a:p>
            <a:pPr algn="ctr" indent="0" marL="0">
              <a:buNone/>
            </a:pPr>
            <a:r>
              <a:rPr lang="en-US" sz="1300" b="1" dirty="0">
                <a:solidFill>
                  <a:srgbClr val="D1432B"/>
                </a:solidFill>
                <a:latin typeface="Calibri" pitchFamily="34" charset="0"/>
                <a:ea typeface="Calibri" pitchFamily="34" charset="-122"/>
                <a:cs typeface="Calibri" pitchFamily="34" charset="-120"/>
              </a:rPr>
              <a:t>Reject</a:t>
            </a:r>
            <a:endParaRPr lang="en-US" sz="1300" dirty="0"/>
          </a:p>
        </p:txBody>
      </p:sp>
      <p:sp>
        <p:nvSpPr>
          <p:cNvPr id="39" name="Text 37"/>
          <p:cNvSpPr txBox="1"/>
          <p:nvPr/>
        </p:nvSpPr>
        <p:spPr>
          <a:xfrm>
            <a:off x="6812280" y="4206240"/>
            <a:ext cx="4572000" cy="1097280"/>
          </a:xfrm>
          <a:prstGeom prst="rect">
            <a:avLst/>
          </a:prstGeom>
          <a:noFill/>
          <a:ln/>
        </p:spPr>
        <p:txBody>
          <a:bodyPr wrap="square" lIns="0" tIns="0" rIns="0" bIns="0" rtlCol="0" anchor="ctr"/>
          <a:lstStyle/>
          <a:p>
            <a:pPr indent="0" marL="0">
              <a:buNone/>
            </a:pPr>
            <a:r>
              <a:rPr lang="en-US" sz="1150" b="1" dirty="0">
                <a:solidFill>
                  <a:srgbClr val="C00000"/>
                </a:solidFill>
                <a:latin typeface="Calibri" pitchFamily="34" charset="0"/>
                <a:ea typeface="Calibri" pitchFamily="34" charset="-122"/>
                <a:cs typeface="Calibri" pitchFamily="34" charset="-120"/>
              </a:rPr>
              <a:t>Schematic of the review card with real values. Add a screenshot of the running app here.</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Update rule from prototype/src/calibration.py; result from our web-app test</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27</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10</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Adaptive calibration per clinician</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2A7F6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2A7F6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2A7F6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2A7F6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2A7F6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2A7F6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2A7F6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D1432B"/>
          </a:solidFill>
          <a:ln w="12700">
            <a:solidFill>
              <a:srgbClr val="D1432B"/>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FFFFFF"/>
          </a:solidFill>
          <a:ln w="12700">
            <a:solidFill>
              <a:srgbClr val="2A7F6F"/>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Audit</a:t>
            </a:r>
            <a:endParaRPr lang="en-US" sz="950" dirty="0"/>
          </a:p>
        </p:txBody>
      </p:sp>
      <p:sp>
        <p:nvSpPr>
          <p:cNvPr id="29" name="Shape 27"/>
          <p:cNvSpPr/>
          <p:nvPr/>
        </p:nvSpPr>
        <p:spPr>
          <a:xfrm>
            <a:off x="548640" y="1463040"/>
            <a:ext cx="5760720" cy="1645920"/>
          </a:xfrm>
          <a:prstGeom prst="roundRect">
            <a:avLst>
              <a:gd name="adj" fmla="val 4444"/>
            </a:avLst>
          </a:prstGeom>
          <a:solidFill>
            <a:srgbClr val="E8ECEE"/>
          </a:solidFill>
          <a:ln w="12700">
            <a:solidFill>
              <a:srgbClr val="E8ECEE"/>
            </a:solidFill>
            <a:prstDash val="solid"/>
          </a:ln>
        </p:spPr>
      </p:sp>
      <p:sp>
        <p:nvSpPr>
          <p:cNvPr id="30" name="Text 28"/>
          <p:cNvSpPr txBox="1"/>
          <p:nvPr/>
        </p:nvSpPr>
        <p:spPr>
          <a:xfrm>
            <a:off x="777240" y="1600200"/>
            <a:ext cx="5394960" cy="1371600"/>
          </a:xfrm>
          <a:prstGeom prst="rect">
            <a:avLst/>
          </a:prstGeom>
          <a:noFill/>
          <a:ln/>
        </p:spPr>
        <p:txBody>
          <a:bodyPr wrap="square" lIns="0" tIns="0" rIns="0" bIns="0" rtlCol="0" anchor="ctr"/>
          <a:lstStyle/>
          <a:p>
            <a:pPr indent="0" marL="0">
              <a:buNone/>
            </a:pPr>
            <a:r>
              <a:rPr lang="en-US" sz="2200" dirty="0">
                <a:solidFill>
                  <a:srgbClr val="0F2A36"/>
                </a:solidFill>
                <a:latin typeface="Cambria Math" pitchFamily="34" charset="0"/>
                <a:ea typeface="Cambria Math" pitchFamily="34" charset="-122"/>
                <a:cs typeface="Cambria Math" pitchFamily="34" charset="-120"/>
              </a:rPr>
              <a:t>t ← clip( t + 0.2 · (τ − t), 0.55, 0.95 )</a:t>
            </a:r>
            <a:endParaRPr lang="en-US" sz="2200" dirty="0"/>
          </a:p>
          <a:p>
            <a:pPr indent="0" marL="0">
              <a:buNone/>
            </a:pPr>
            <a:r>
              <a:rPr lang="en-US" sz="1500" dirty="0">
                <a:solidFill>
                  <a:srgbClr val="0F2A36"/>
                </a:solidFill>
                <a:latin typeface="Cambria Math" pitchFamily="34" charset="0"/>
                <a:ea typeface="Cambria Math" pitchFamily="34" charset="-122"/>
                <a:cs typeface="Cambria Math" pitchFamily="34" charset="-120"/>
              </a:rPr>
              <a:t>τ = S of the fact (approve)   ·   τ = 0.95 (reject)</a:t>
            </a:r>
            <a:endParaRPr lang="en-US" sz="2200" dirty="0"/>
          </a:p>
        </p:txBody>
      </p:sp>
      <p:sp>
        <p:nvSpPr>
          <p:cNvPr id="31" name="Text 29"/>
          <p:cNvSpPr txBox="1"/>
          <p:nvPr/>
        </p:nvSpPr>
        <p:spPr>
          <a:xfrm>
            <a:off x="548640" y="3337560"/>
            <a:ext cx="5760720" cy="228600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Stored per clinician and per field, reused on all of that clinician's future cases.</a:t>
            </a:r>
            <a:endParaRPr lang="en-US" sz="1400" dirty="0"/>
          </a:p>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Only NEEDS_REVIEW decisions move t; REJECTED facts failed a fixed floor.</a:t>
            </a:r>
            <a:endParaRPr lang="en-US" sz="1400" dirty="0"/>
          </a:p>
          <a:p>
            <a:pPr marL="203200" indent="-203200">
              <a:spcAft>
                <a:spcPts val="600"/>
              </a:spcAft>
              <a:buSzPct val="100000"/>
              <a:buChar char="•"/>
            </a:pPr>
            <a:r>
              <a:rPr lang="en-US" sz="1400" dirty="0">
                <a:solidFill>
                  <a:srgbClr val="27363D"/>
                </a:solidFill>
                <a:latin typeface="Calibri" pitchFamily="34" charset="0"/>
                <a:ea typeface="Calibri" pitchFamily="34" charset="-122"/>
                <a:cs typeface="Calibri" pitchFamily="34" charset="-120"/>
              </a:rPr>
              <a:t>Approvals relax the bar toward the level the clinician trusts; rejections tighten it.</a:t>
            </a:r>
            <a:endParaRPr lang="en-US" sz="1400" dirty="0"/>
          </a:p>
        </p:txBody>
      </p:sp>
      <p:pic>
        <p:nvPicPr>
          <p:cNvPr id="32" name="Image 0" descr="C:\Users\user\medical-scribe-ai-patent\patent\figures\labeled\fig3_calibration.png">    </p:cNvPr>
          <p:cNvPicPr>
            <a:picLocks noChangeAspect="1"/>
          </p:cNvPicPr>
          <p:nvPr/>
        </p:nvPicPr>
        <p:blipFill>
          <a:blip r:embed="rId1"/>
          <a:srcRect l="0" r="0" t="0" b="0"/>
          <a:stretch/>
        </p:blipFill>
        <p:spPr>
          <a:xfrm>
            <a:off x="6583680" y="1463040"/>
            <a:ext cx="5029200" cy="2743200"/>
          </a:xfrm>
          <a:prstGeom prst="rect">
            <a:avLst/>
          </a:prstGeom>
        </p:spPr>
      </p:pic>
      <p:sp>
        <p:nvSpPr>
          <p:cNvPr id="33" name="Shape 30"/>
          <p:cNvSpPr/>
          <p:nvPr/>
        </p:nvSpPr>
        <p:spPr>
          <a:xfrm>
            <a:off x="6583680" y="4389120"/>
            <a:ext cx="5029200" cy="1188720"/>
          </a:xfrm>
          <a:prstGeom prst="roundRect">
            <a:avLst>
              <a:gd name="adj" fmla="val 6154"/>
            </a:avLst>
          </a:prstGeom>
          <a:solidFill>
            <a:srgbClr val="E3F1EE"/>
          </a:solidFill>
          <a:ln w="12700">
            <a:solidFill>
              <a:srgbClr val="E3F1EE"/>
            </a:solidFill>
            <a:prstDash val="solid"/>
          </a:ln>
        </p:spPr>
      </p:sp>
      <p:sp>
        <p:nvSpPr>
          <p:cNvPr id="34" name="Text 31"/>
          <p:cNvSpPr txBox="1"/>
          <p:nvPr/>
        </p:nvSpPr>
        <p:spPr>
          <a:xfrm>
            <a:off x="6812280" y="4498848"/>
            <a:ext cx="4572000" cy="1005840"/>
          </a:xfrm>
          <a:prstGeom prst="rect">
            <a:avLst/>
          </a:prstGeom>
          <a:noFill/>
          <a:ln/>
        </p:spPr>
        <p:txBody>
          <a:bodyPr wrap="square" lIns="0" tIns="0" rIns="0" bIns="0" rtlCol="0" anchor="t"/>
          <a:lstStyle/>
          <a:p>
            <a:pPr indent="0" marL="0">
              <a:buNone/>
            </a:pPr>
            <a:r>
              <a:rPr lang="en-US" sz="1250" b="1" dirty="0">
                <a:solidFill>
                  <a:srgbClr val="27363D"/>
                </a:solidFill>
                <a:latin typeface="Calibri" pitchFamily="34" charset="0"/>
                <a:ea typeface="Calibri" pitchFamily="34" charset="-122"/>
                <a:cs typeface="Calibri" pitchFamily="34" charset="-120"/>
              </a:rPr>
              <a:t>Real test: </a:t>
            </a:r>
            <a:pPr indent="0" marL="0">
              <a:buNone/>
            </a:pPr>
            <a:r>
              <a:rPr lang="en-US" sz="1250" dirty="0">
                <a:solidFill>
                  <a:srgbClr val="27363D"/>
                </a:solidFill>
                <a:latin typeface="Calibri" pitchFamily="34" charset="0"/>
                <a:ea typeface="Calibri" pitchFamily="34" charset="-122"/>
                <a:cs typeface="Calibri" pitchFamily="34" charset="-120"/>
              </a:rPr>
              <a:t>rejecting the borderline "days off work" fact moved this clinician's plan threshold 0.75 -&gt; 0.79; a medications rejection in the web app showed 0.79 on a different case too.</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prototype/src/audit.py; entry copied from a real audit log produced by our web-app run</a:t>
            </a:r>
            <a:endParaRPr lang="en-US" sz="900" dirty="0"/>
          </a:p>
        </p:txBody>
      </p:sp>
      <p:sp>
        <p:nvSpPr>
          <p:cNvPr id="3" name="Text 1"/>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28</a:t>
            </a:r>
            <a:endParaRPr lang="en-US" sz="900" dirty="0"/>
          </a:p>
        </p:txBody>
      </p:sp>
      <p:sp>
        <p:nvSpPr>
          <p:cNvPr id="4" name="Shape 2"/>
          <p:cNvSpPr/>
          <p:nvPr/>
        </p:nvSpPr>
        <p:spPr>
          <a:xfrm>
            <a:off x="548640" y="566928"/>
            <a:ext cx="566928" cy="566928"/>
          </a:xfrm>
          <a:prstGeom prst="ellipse">
            <a:avLst/>
          </a:prstGeom>
          <a:solidFill>
            <a:srgbClr val="D1432B"/>
          </a:solidFill>
          <a:ln w="12700">
            <a:solidFill>
              <a:srgbClr val="D1432B"/>
            </a:solidFill>
            <a:prstDash val="solid"/>
          </a:ln>
        </p:spPr>
      </p:sp>
      <p:sp>
        <p:nvSpPr>
          <p:cNvPr id="5" name="Text 3"/>
          <p:cNvSpPr txBox="1"/>
          <p:nvPr/>
        </p:nvSpPr>
        <p:spPr>
          <a:xfrm>
            <a:off x="548640" y="56692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11</a:t>
            </a:r>
            <a:endParaRPr lang="en-US" sz="2000" dirty="0"/>
          </a:p>
        </p:txBody>
      </p:sp>
      <p:sp>
        <p:nvSpPr>
          <p:cNvPr id="6" name="Text 4"/>
          <p:cNvSpPr txBox="1"/>
          <p:nvPr/>
        </p:nvSpPr>
        <p:spPr>
          <a:xfrm>
            <a:off x="1280160" y="566928"/>
            <a:ext cx="10332720" cy="603504"/>
          </a:xfrm>
          <a:prstGeom prst="rect">
            <a:avLst/>
          </a:prstGeom>
          <a:noFill/>
          <a:ln/>
        </p:spPr>
        <p:txBody>
          <a:bodyPr wrap="square" lIns="0" tIns="0" rIns="0" bIns="0" rtlCol="0" anchor="ctr"/>
          <a:lstStyle/>
          <a:p>
            <a:pPr indent="0" marL="0">
              <a:buNone/>
            </a:pPr>
            <a:r>
              <a:rPr lang="en-US" sz="2800" b="1" dirty="0">
                <a:solidFill>
                  <a:srgbClr val="0F2A36"/>
                </a:solidFill>
                <a:latin typeface="Cambria" pitchFamily="34" charset="0"/>
                <a:ea typeface="Cambria" pitchFamily="34" charset="-122"/>
                <a:cs typeface="Cambria" pitchFamily="34" charset="-120"/>
              </a:rPr>
              <a:t>Append-only audit trail</a:t>
            </a:r>
            <a:endParaRPr lang="en-US" sz="2800" dirty="0"/>
          </a:p>
        </p:txBody>
      </p:sp>
      <p:sp>
        <p:nvSpPr>
          <p:cNvPr id="7" name="Shape 5"/>
          <p:cNvSpPr/>
          <p:nvPr/>
        </p:nvSpPr>
        <p:spPr>
          <a:xfrm>
            <a:off x="934060" y="5815584"/>
            <a:ext cx="237744" cy="237744"/>
          </a:xfrm>
          <a:prstGeom prst="ellipse">
            <a:avLst/>
          </a:prstGeom>
          <a:solidFill>
            <a:srgbClr val="2A7F6F"/>
          </a:solidFill>
          <a:ln w="12700">
            <a:solidFill>
              <a:srgbClr val="2A7F6F"/>
            </a:solidFill>
            <a:prstDash val="solid"/>
          </a:ln>
        </p:spPr>
      </p:sp>
      <p:sp>
        <p:nvSpPr>
          <p:cNvPr id="8" name="Text 6"/>
          <p:cNvSpPr txBox="1"/>
          <p:nvPr/>
        </p:nvSpPr>
        <p:spPr>
          <a:xfrm>
            <a:off x="54864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Audio + ASR</a:t>
            </a:r>
            <a:endParaRPr lang="en-US" sz="950" dirty="0"/>
          </a:p>
        </p:txBody>
      </p:sp>
      <p:sp>
        <p:nvSpPr>
          <p:cNvPr id="9" name="Shape 7"/>
          <p:cNvSpPr/>
          <p:nvPr/>
        </p:nvSpPr>
        <p:spPr>
          <a:xfrm>
            <a:off x="1942643" y="5815584"/>
            <a:ext cx="237744" cy="237744"/>
          </a:xfrm>
          <a:prstGeom prst="ellipse">
            <a:avLst/>
          </a:prstGeom>
          <a:solidFill>
            <a:srgbClr val="2A7F6F"/>
          </a:solidFill>
          <a:ln w="12700">
            <a:solidFill>
              <a:srgbClr val="2A7F6F"/>
            </a:solidFill>
            <a:prstDash val="solid"/>
          </a:ln>
        </p:spPr>
      </p:sp>
      <p:sp>
        <p:nvSpPr>
          <p:cNvPr id="10" name="Text 8"/>
          <p:cNvSpPr txBox="1"/>
          <p:nvPr/>
        </p:nvSpPr>
        <p:spPr>
          <a:xfrm>
            <a:off x="155722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Speakers</a:t>
            </a:r>
            <a:endParaRPr lang="en-US" sz="950" dirty="0"/>
          </a:p>
        </p:txBody>
      </p:sp>
      <p:sp>
        <p:nvSpPr>
          <p:cNvPr id="11" name="Shape 9"/>
          <p:cNvSpPr/>
          <p:nvPr/>
        </p:nvSpPr>
        <p:spPr>
          <a:xfrm>
            <a:off x="2951226" y="5815584"/>
            <a:ext cx="237744" cy="237744"/>
          </a:xfrm>
          <a:prstGeom prst="ellipse">
            <a:avLst/>
          </a:prstGeom>
          <a:solidFill>
            <a:srgbClr val="2A7F6F"/>
          </a:solidFill>
          <a:ln w="12700">
            <a:solidFill>
              <a:srgbClr val="2A7F6F"/>
            </a:solidFill>
            <a:prstDash val="solid"/>
          </a:ln>
        </p:spPr>
      </p:sp>
      <p:sp>
        <p:nvSpPr>
          <p:cNvPr id="12" name="Text 10"/>
          <p:cNvSpPr txBox="1"/>
          <p:nvPr/>
        </p:nvSpPr>
        <p:spPr>
          <a:xfrm>
            <a:off x="25658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Extract</a:t>
            </a:r>
            <a:endParaRPr lang="en-US" sz="950" dirty="0"/>
          </a:p>
        </p:txBody>
      </p:sp>
      <p:sp>
        <p:nvSpPr>
          <p:cNvPr id="13" name="Shape 11"/>
          <p:cNvSpPr/>
          <p:nvPr/>
        </p:nvSpPr>
        <p:spPr>
          <a:xfrm>
            <a:off x="3959809" y="5815584"/>
            <a:ext cx="237744" cy="237744"/>
          </a:xfrm>
          <a:prstGeom prst="ellipse">
            <a:avLst/>
          </a:prstGeom>
          <a:solidFill>
            <a:srgbClr val="2A7F6F"/>
          </a:solidFill>
          <a:ln w="12700">
            <a:solidFill>
              <a:srgbClr val="2A7F6F"/>
            </a:solidFill>
            <a:prstDash val="solid"/>
          </a:ln>
        </p:spPr>
      </p:sp>
      <p:sp>
        <p:nvSpPr>
          <p:cNvPr id="14" name="Text 12"/>
          <p:cNvSpPr txBox="1"/>
          <p:nvPr/>
        </p:nvSpPr>
        <p:spPr>
          <a:xfrm>
            <a:off x="3574390"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0</a:t>
            </a:r>
            <a:endParaRPr lang="en-US" sz="950" dirty="0"/>
          </a:p>
        </p:txBody>
      </p:sp>
      <p:sp>
        <p:nvSpPr>
          <p:cNvPr id="15" name="Shape 13"/>
          <p:cNvSpPr/>
          <p:nvPr/>
        </p:nvSpPr>
        <p:spPr>
          <a:xfrm>
            <a:off x="4968392" y="5815584"/>
            <a:ext cx="237744" cy="237744"/>
          </a:xfrm>
          <a:prstGeom prst="ellipse">
            <a:avLst/>
          </a:prstGeom>
          <a:solidFill>
            <a:srgbClr val="2A7F6F"/>
          </a:solidFill>
          <a:ln w="12700">
            <a:solidFill>
              <a:srgbClr val="2A7F6F"/>
            </a:solidFill>
            <a:prstDash val="solid"/>
          </a:ln>
        </p:spPr>
      </p:sp>
      <p:sp>
        <p:nvSpPr>
          <p:cNvPr id="16" name="Text 14"/>
          <p:cNvSpPr txBox="1"/>
          <p:nvPr/>
        </p:nvSpPr>
        <p:spPr>
          <a:xfrm>
            <a:off x="4582973"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1</a:t>
            </a:r>
            <a:endParaRPr lang="en-US" sz="950" dirty="0"/>
          </a:p>
        </p:txBody>
      </p:sp>
      <p:sp>
        <p:nvSpPr>
          <p:cNvPr id="17" name="Shape 15"/>
          <p:cNvSpPr/>
          <p:nvPr/>
        </p:nvSpPr>
        <p:spPr>
          <a:xfrm>
            <a:off x="5976976" y="5815584"/>
            <a:ext cx="237744" cy="237744"/>
          </a:xfrm>
          <a:prstGeom prst="ellipse">
            <a:avLst/>
          </a:prstGeom>
          <a:solidFill>
            <a:srgbClr val="2A7F6F"/>
          </a:solidFill>
          <a:ln w="12700">
            <a:solidFill>
              <a:srgbClr val="2A7F6F"/>
            </a:solidFill>
            <a:prstDash val="solid"/>
          </a:ln>
        </p:spPr>
      </p:sp>
      <p:sp>
        <p:nvSpPr>
          <p:cNvPr id="18" name="Text 16"/>
          <p:cNvSpPr txBox="1"/>
          <p:nvPr/>
        </p:nvSpPr>
        <p:spPr>
          <a:xfrm>
            <a:off x="559155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2</a:t>
            </a:r>
            <a:endParaRPr lang="en-US" sz="950" dirty="0"/>
          </a:p>
        </p:txBody>
      </p:sp>
      <p:sp>
        <p:nvSpPr>
          <p:cNvPr id="19" name="Shape 17"/>
          <p:cNvSpPr/>
          <p:nvPr/>
        </p:nvSpPr>
        <p:spPr>
          <a:xfrm>
            <a:off x="6985559" y="5815584"/>
            <a:ext cx="237744" cy="237744"/>
          </a:xfrm>
          <a:prstGeom prst="ellipse">
            <a:avLst/>
          </a:prstGeom>
          <a:solidFill>
            <a:srgbClr val="2A7F6F"/>
          </a:solidFill>
          <a:ln w="12700">
            <a:solidFill>
              <a:srgbClr val="2A7F6F"/>
            </a:solidFill>
            <a:prstDash val="solid"/>
          </a:ln>
        </p:spPr>
      </p:sp>
      <p:sp>
        <p:nvSpPr>
          <p:cNvPr id="20" name="Text 18"/>
          <p:cNvSpPr txBox="1"/>
          <p:nvPr/>
        </p:nvSpPr>
        <p:spPr>
          <a:xfrm>
            <a:off x="660013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Combine</a:t>
            </a:r>
            <a:endParaRPr lang="en-US" sz="950" dirty="0"/>
          </a:p>
        </p:txBody>
      </p:sp>
      <p:sp>
        <p:nvSpPr>
          <p:cNvPr id="21" name="Shape 19"/>
          <p:cNvSpPr/>
          <p:nvPr/>
        </p:nvSpPr>
        <p:spPr>
          <a:xfrm>
            <a:off x="7994142" y="5815584"/>
            <a:ext cx="237744" cy="237744"/>
          </a:xfrm>
          <a:prstGeom prst="ellipse">
            <a:avLst/>
          </a:prstGeom>
          <a:solidFill>
            <a:srgbClr val="2A7F6F"/>
          </a:solidFill>
          <a:ln w="12700">
            <a:solidFill>
              <a:srgbClr val="2A7F6F"/>
            </a:solidFill>
            <a:prstDash val="solid"/>
          </a:ln>
        </p:spPr>
      </p:sp>
      <p:sp>
        <p:nvSpPr>
          <p:cNvPr id="22" name="Text 20"/>
          <p:cNvSpPr txBox="1"/>
          <p:nvPr/>
        </p:nvSpPr>
        <p:spPr>
          <a:xfrm>
            <a:off x="7608722"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Gate 3</a:t>
            </a:r>
            <a:endParaRPr lang="en-US" sz="950" dirty="0"/>
          </a:p>
        </p:txBody>
      </p:sp>
      <p:sp>
        <p:nvSpPr>
          <p:cNvPr id="23" name="Shape 21"/>
          <p:cNvSpPr/>
          <p:nvPr/>
        </p:nvSpPr>
        <p:spPr>
          <a:xfrm>
            <a:off x="9002725" y="5815584"/>
            <a:ext cx="237744" cy="237744"/>
          </a:xfrm>
          <a:prstGeom prst="ellipse">
            <a:avLst/>
          </a:prstGeom>
          <a:solidFill>
            <a:srgbClr val="2A7F6F"/>
          </a:solidFill>
          <a:ln w="12700">
            <a:solidFill>
              <a:srgbClr val="2A7F6F"/>
            </a:solidFill>
            <a:prstDash val="solid"/>
          </a:ln>
        </p:spPr>
      </p:sp>
      <p:sp>
        <p:nvSpPr>
          <p:cNvPr id="24" name="Text 22"/>
          <p:cNvSpPr txBox="1"/>
          <p:nvPr/>
        </p:nvSpPr>
        <p:spPr>
          <a:xfrm>
            <a:off x="8617306"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Review</a:t>
            </a:r>
            <a:endParaRPr lang="en-US" sz="950" dirty="0"/>
          </a:p>
        </p:txBody>
      </p:sp>
      <p:sp>
        <p:nvSpPr>
          <p:cNvPr id="25" name="Shape 23"/>
          <p:cNvSpPr/>
          <p:nvPr/>
        </p:nvSpPr>
        <p:spPr>
          <a:xfrm>
            <a:off x="10011308" y="5815584"/>
            <a:ext cx="237744" cy="237744"/>
          </a:xfrm>
          <a:prstGeom prst="ellipse">
            <a:avLst/>
          </a:prstGeom>
          <a:solidFill>
            <a:srgbClr val="2A7F6F"/>
          </a:solidFill>
          <a:ln w="12700">
            <a:solidFill>
              <a:srgbClr val="2A7F6F"/>
            </a:solidFill>
            <a:prstDash val="solid"/>
          </a:ln>
        </p:spPr>
      </p:sp>
      <p:sp>
        <p:nvSpPr>
          <p:cNvPr id="26" name="Text 24"/>
          <p:cNvSpPr txBox="1"/>
          <p:nvPr/>
        </p:nvSpPr>
        <p:spPr>
          <a:xfrm>
            <a:off x="9625889" y="6071616"/>
            <a:ext cx="1008583" cy="237744"/>
          </a:xfrm>
          <a:prstGeom prst="rect">
            <a:avLst/>
          </a:prstGeom>
          <a:noFill/>
          <a:ln/>
        </p:spPr>
        <p:txBody>
          <a:bodyPr wrap="square" lIns="0" tIns="0" rIns="0" bIns="0" rtlCol="0" anchor="ctr"/>
          <a:lstStyle/>
          <a:p>
            <a:pPr algn="ctr" indent="0" marL="0">
              <a:buNone/>
            </a:pPr>
            <a:r>
              <a:rPr lang="en-US" sz="950" dirty="0">
                <a:solidFill>
                  <a:srgbClr val="5E6E75"/>
                </a:solidFill>
                <a:latin typeface="Calibri" pitchFamily="34" charset="0"/>
                <a:ea typeface="Calibri" pitchFamily="34" charset="-122"/>
                <a:cs typeface="Calibri" pitchFamily="34" charset="-120"/>
              </a:rPr>
              <a:t>Calibrate</a:t>
            </a:r>
            <a:endParaRPr lang="en-US" sz="950" dirty="0"/>
          </a:p>
        </p:txBody>
      </p:sp>
      <p:sp>
        <p:nvSpPr>
          <p:cNvPr id="27" name="Shape 25"/>
          <p:cNvSpPr/>
          <p:nvPr/>
        </p:nvSpPr>
        <p:spPr>
          <a:xfrm>
            <a:off x="11019892" y="5815584"/>
            <a:ext cx="237744" cy="237744"/>
          </a:xfrm>
          <a:prstGeom prst="ellipse">
            <a:avLst/>
          </a:prstGeom>
          <a:solidFill>
            <a:srgbClr val="D1432B"/>
          </a:solidFill>
          <a:ln w="12700">
            <a:solidFill>
              <a:srgbClr val="D1432B"/>
            </a:solidFill>
            <a:prstDash val="solid"/>
          </a:ln>
        </p:spPr>
      </p:sp>
      <p:sp>
        <p:nvSpPr>
          <p:cNvPr id="28" name="Text 26"/>
          <p:cNvSpPr txBox="1"/>
          <p:nvPr/>
        </p:nvSpPr>
        <p:spPr>
          <a:xfrm>
            <a:off x="10634472" y="6071616"/>
            <a:ext cx="1008583" cy="237744"/>
          </a:xfrm>
          <a:prstGeom prst="rect">
            <a:avLst/>
          </a:prstGeom>
          <a:noFill/>
          <a:ln/>
        </p:spPr>
        <p:txBody>
          <a:bodyPr wrap="square" lIns="0" tIns="0" rIns="0" bIns="0" rtlCol="0" anchor="ctr"/>
          <a:lstStyle/>
          <a:p>
            <a:pPr algn="ctr" indent="0" marL="0">
              <a:buNone/>
            </a:pPr>
            <a:r>
              <a:rPr lang="en-US" sz="950" b="1" dirty="0">
                <a:solidFill>
                  <a:srgbClr val="D1432B"/>
                </a:solidFill>
                <a:latin typeface="Calibri" pitchFamily="34" charset="0"/>
                <a:ea typeface="Calibri" pitchFamily="34" charset="-122"/>
                <a:cs typeface="Calibri" pitchFamily="34" charset="-120"/>
              </a:rPr>
              <a:t>Audit</a:t>
            </a:r>
            <a:endParaRPr lang="en-US" sz="950" dirty="0"/>
          </a:p>
        </p:txBody>
      </p:sp>
      <p:sp>
        <p:nvSpPr>
          <p:cNvPr id="29" name="Text 27"/>
          <p:cNvSpPr txBox="1"/>
          <p:nvPr/>
        </p:nvSpPr>
        <p:spPr>
          <a:xfrm>
            <a:off x="548640" y="1463040"/>
            <a:ext cx="5120640" cy="41148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Every event is appended, never edited: input_received, auto_gate_decision, clinical_plausibility_flag, clinician_resolution, calibration_update.</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Each gate record stores the fact, citations, extractor, entailment / contradiction, acoustic, combined score, status and reason.</a:t>
            </a:r>
            <a:endParaRPr lang="en-US" sz="1450" dirty="0"/>
          </a:p>
          <a:p>
            <a:pPr marL="203200" indent="-203200">
              <a:spcAft>
                <a:spcPts val="600"/>
              </a:spcAft>
              <a:buSzPct val="100000"/>
              <a:buChar char="•"/>
            </a:pPr>
            <a:r>
              <a:rPr lang="en-US" sz="1450" dirty="0">
                <a:solidFill>
                  <a:srgbClr val="27363D"/>
                </a:solidFill>
                <a:latin typeface="Calibri" pitchFamily="34" charset="0"/>
                <a:ea typeface="Calibri" pitchFamily="34" charset="-122"/>
                <a:cs typeface="Calibri" pitchFamily="34" charset="-120"/>
              </a:rPr>
              <a:t>So every line in the chart is traceable to machine verification (with its scores) or a named clinician's decision.</a:t>
            </a:r>
            <a:endParaRPr lang="en-US" sz="1450" dirty="0"/>
          </a:p>
        </p:txBody>
      </p:sp>
      <p:sp>
        <p:nvSpPr>
          <p:cNvPr id="30" name="Shape 28"/>
          <p:cNvSpPr/>
          <p:nvPr/>
        </p:nvSpPr>
        <p:spPr>
          <a:xfrm>
            <a:off x="5943600" y="1463040"/>
            <a:ext cx="5669280" cy="4023360"/>
          </a:xfrm>
          <a:prstGeom prst="roundRect">
            <a:avLst>
              <a:gd name="adj" fmla="val 1818"/>
            </a:avLst>
          </a:prstGeom>
          <a:solidFill>
            <a:srgbClr val="1B2B33"/>
          </a:solidFill>
          <a:ln w="12700">
            <a:solidFill>
              <a:srgbClr val="1B2B33"/>
            </a:solidFill>
            <a:prstDash val="solid"/>
          </a:ln>
        </p:spPr>
      </p:sp>
      <p:sp>
        <p:nvSpPr>
          <p:cNvPr id="31" name="Text 29"/>
          <p:cNvSpPr txBox="1"/>
          <p:nvPr/>
        </p:nvSpPr>
        <p:spPr>
          <a:xfrm>
            <a:off x="6172200" y="1645920"/>
            <a:ext cx="5303520" cy="3657600"/>
          </a:xfrm>
          <a:prstGeom prst="rect">
            <a:avLst/>
          </a:prstGeom>
          <a:noFill/>
          <a:ln/>
        </p:spPr>
        <p:txBody>
          <a:bodyPr wrap="square" lIns="0" tIns="0" rIns="0" bIns="0" rtlCol="0" anchor="t"/>
          <a:lstStyle/>
          <a:p>
            <a:pPr indent="0" marL="0">
              <a:buNone/>
            </a:pPr>
            <a:r>
              <a:rPr lang="en-US" sz="1250" dirty="0">
                <a:solidFill>
                  <a:srgbClr val="D7F0EA"/>
                </a:solidFill>
                <a:latin typeface="Courier New" pitchFamily="34" charset="0"/>
                <a:ea typeface="Courier New" pitchFamily="34" charset="-122"/>
                <a:cs typeface="Courier New" pitchFamily="34" charset="-120"/>
              </a:rPr>
              <a:t>{"event": "auto_gate_decision",</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"fact_id": "F012", "field": "plan",</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"value": "as an infection clears from your</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system, take some time off and rest.",</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"cited_segment_ids": [157],</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"extractor": "rule_based",</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"nli": {"entailment": 0.9893,</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"contradiction": 0.001},</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"acoustic_score": 0.801,</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"combined_confidence": 0.914,</a:t>
            </a:r>
            <a:endParaRPr lang="en-US" sz="1250" dirty="0"/>
          </a:p>
          <a:p>
            <a:pPr indent="0" marL="0">
              <a:buNone/>
            </a:pPr>
            <a:r>
              <a:rPr lang="en-US" sz="1250" dirty="0">
                <a:solidFill>
                  <a:srgbClr val="D7F0EA"/>
                </a:solidFill>
                <a:latin typeface="Courier New" pitchFamily="34" charset="0"/>
                <a:ea typeface="Courier New" pitchFamily="34" charset="-122"/>
                <a:cs typeface="Courier New" pitchFamily="34" charset="-120"/>
              </a:rPr>
              <a:t> "status": "VERIFIED"}</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ALGORITHM AND MATHEMATICAL FORMULATION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Algorithm: gating one drafted fact</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prototype/src/grounding.py, clinical_plausibility.py; FIG. 2 of the patent disclosure</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548640" y="1417320"/>
            <a:ext cx="6675120" cy="4480560"/>
          </a:xfrm>
          <a:prstGeom prst="rect">
            <a:avLst/>
          </a:prstGeom>
          <a:noFill/>
          <a:ln/>
        </p:spPr>
        <p:txBody>
          <a:bodyPr wrap="square" lIns="0" tIns="0" rIns="0" bIns="0" rtlCol="0" anchor="t"/>
          <a:lstStyle/>
          <a:p>
            <a:pPr indent="0" marL="0">
              <a:buNone/>
            </a:pPr>
            <a:r>
              <a:rPr lang="en-US" sz="1250" dirty="0">
                <a:solidFill>
                  <a:srgbClr val="27363D"/>
                </a:solidFill>
                <a:latin typeface="Courier New" pitchFamily="34" charset="0"/>
                <a:ea typeface="Courier New" pitchFamily="34" charset="-122"/>
                <a:cs typeface="Courier New" pitchFamily="34" charset="-120"/>
              </a:rPr>
              <a:t>Input: fact f = (field, statement h, citations {(s_i, q_i)}), segments, threshold t</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1  if no valid citation or any align(q_i, s_i) &lt; 90: return REJECTED</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2  premise P = concat(speaker_i : text(s_i))</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3  (E, N, C) = NLI(P, h)</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4  if C &gt;= 0.50 or E &lt; 0.30: return REJECTED</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5  Q = ASR words overlapping aligned quotes</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6  A = mean_{w in Q} p(w)   (None if no audio)</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7  if A is not None and A &lt; 0.50: return REJECTED</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8  S = 0.6 E + 0.4 A   (S = E if A is None)</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9  status = VERIFIED if S &gt;= t[clinician, field] else NEEDS_REVIEW</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10 if status == VERIFIED and plausibility_conflict(f, other facts):</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       status = NEEDS_REVIEW</a:t>
            </a:r>
            <a:endParaRPr lang="en-US" sz="1250" dirty="0"/>
          </a:p>
          <a:p>
            <a:pPr indent="0" marL="0">
              <a:buNone/>
            </a:pPr>
            <a:r>
              <a:rPr lang="en-US" sz="1250" dirty="0">
                <a:solidFill>
                  <a:srgbClr val="27363D"/>
                </a:solidFill>
                <a:latin typeface="Courier New" pitchFamily="34" charset="0"/>
                <a:ea typeface="Courier New" pitchFamily="34" charset="-122"/>
                <a:cs typeface="Courier New" pitchFamily="34" charset="-120"/>
              </a:rPr>
              <a:t>11 append(audit, f, E, C, A, S, status, reason);  return status</a:t>
            </a:r>
            <a:endParaRPr lang="en-US" sz="1250" dirty="0"/>
          </a:p>
        </p:txBody>
      </p:sp>
      <p:pic>
        <p:nvPicPr>
          <p:cNvPr id="7" name="Image 0" descr="C:\Users\user\medical-scribe-ai-patent\patent\figures\labeled\fig2_gate_flow.png">    </p:cNvPr>
          <p:cNvPicPr>
            <a:picLocks noChangeAspect="1"/>
          </p:cNvPicPr>
          <p:nvPr/>
        </p:nvPicPr>
        <p:blipFill>
          <a:blip r:embed="rId1"/>
          <a:srcRect l="0" r="0" t="0" b="0"/>
          <a:stretch/>
        </p:blipFill>
        <p:spPr>
          <a:xfrm>
            <a:off x="7498080" y="1325880"/>
            <a:ext cx="4114800" cy="48920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VALIDATION PROCESS AND PERFORMANCE METRICS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Validation process and metrics</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[1] PriMock57; WER = (S + D + I) / N over words after normalisation</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30</a:t>
            </a:r>
            <a:endParaRPr lang="en-US" sz="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926080"/>
                <a:gridCol w="5943600"/>
                <a:gridCol w="2194560"/>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validated</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0F2A36"/>
                    </a:solidFill>
                  </a:tcPr>
                </a:tc>
              </a:tr>
              <a:tr h="512064">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Speech recognition quality</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Word error rate vs. human transcript; mean word probability</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b="1" dirty="0">
                          <a:solidFill>
                            <a:srgbClr val="1E8A4C"/>
                          </a:solidFill>
                          <a:latin typeface="Calibri" pitchFamily="34" charset="0"/>
                          <a:ea typeface="Calibri" pitchFamily="34" charset="-122"/>
                          <a:cs typeface="Calibri" pitchFamily="34" charset="-120"/>
                        </a:rPr>
                        <a:t>Measured: 1 consultation</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512064">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Gate behaviour on known cases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Expected decision for 7 scripted scenarios (true fact, wrong duration, unsupported, invented quote, ASR error, calibration, unsafe Rx)</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b="1" dirty="0">
                          <a:solidFill>
                            <a:srgbClr val="1E8A4C"/>
                          </a:solidFill>
                          <a:latin typeface="Calibri" pitchFamily="34" charset="0"/>
                          <a:ea typeface="Calibri" pitchFamily="34" charset="-122"/>
                          <a:cs typeface="Calibri" pitchFamily="34" charset="-120"/>
                        </a:rPr>
                        <a:t>Measured: 7 / 7</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512064">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NLI discrimination</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P(entail) / P(contradict) on paraphrase, negation, wrong dose, unsupported pairs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b="1" dirty="0">
                          <a:solidFill>
                            <a:srgbClr val="1E8A4C"/>
                          </a:solidFill>
                          <a:latin typeface="Calibri" pitchFamily="34" charset="0"/>
                          <a:ea typeface="Calibri" pitchFamily="34" charset="-122"/>
                          <a:cs typeface="Calibri" pitchFamily="34" charset="-120"/>
                        </a:rPr>
                        <a:t>Measured: 6 pairs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512064">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End-to-end throughput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facts verified / held / blocked per consultation; runtime on CPU</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b="1" dirty="0">
                          <a:solidFill>
                            <a:srgbClr val="1E8A4C"/>
                          </a:solidFill>
                          <a:latin typeface="Calibri" pitchFamily="34" charset="0"/>
                          <a:ea typeface="Calibri" pitchFamily="34" charset="-122"/>
                          <a:cs typeface="Calibri" pitchFamily="34" charset="-120"/>
                        </a:rPr>
                        <a:t>Measured: 3 runs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512064">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Gate accuracy</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precision / recall of blocking against facts labelled correct / incorrect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b="1" dirty="0">
                          <a:solidFill>
                            <a:srgbClr val="C00000"/>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r h="512064">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Across the dataset</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all 57 consultations from audio; WER distribution</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c>
                  <a:txBody>
                    <a:bodyPr/>
                    <a:lstStyle/>
                    <a:p>
                      <a:pPr indent="0" marL="0">
                        <a:buNone/>
                      </a:pPr>
                      <a:r>
                        <a:rPr lang="en-US" sz="1200" b="1" dirty="0">
                          <a:solidFill>
                            <a:srgbClr val="C00000"/>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solidFill>
                      <a:srgbClr val="F4F8F7"/>
                    </a:solidFill>
                  </a:tcPr>
                </a:tc>
              </a:tr>
              <a:tr h="512064">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Clinician usefulness</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dirty="0">
                          <a:solidFill>
                            <a:srgbClr val="27363D"/>
                          </a:solidFill>
                          <a:latin typeface="Calibri" pitchFamily="34" charset="0"/>
                          <a:ea typeface="Calibri" pitchFamily="34" charset="-122"/>
                          <a:cs typeface="Calibri" pitchFamily="34" charset="-120"/>
                        </a:rPr>
                        <a:t>review time, acceptance rate (user study)</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c>
                  <a:txBody>
                    <a:bodyPr/>
                    <a:lstStyle/>
                    <a:p>
                      <a:pPr indent="0" marL="0">
                        <a:buNone/>
                      </a:pPr>
                      <a:r>
                        <a:rPr lang="en-US" sz="1200" b="1" dirty="0">
                          <a:solidFill>
                            <a:srgbClr val="C00000"/>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73152" marR="73152" marT="45720" marB="45720" anchor="ctr">
                    <a:lnL w="6350" cap="flat" cmpd="sng" algn="ctr">
                      <a:solidFill>
                        <a:srgbClr val="C9D8D5"/>
                      </a:solidFill>
                      <a:prstDash val="solid"/>
                      <a:round/>
                      <a:headEnd type="none" w="med" len="med"/>
                      <a:tailEnd type="none" w="med" len="med"/>
                    </a:lnL>
                    <a:lnR w="6350" cap="flat" cmpd="sng" algn="ctr">
                      <a:solidFill>
                        <a:srgbClr val="C9D8D5"/>
                      </a:solidFill>
                      <a:prstDash val="solid"/>
                      <a:round/>
                      <a:headEnd type="none" w="med" len="med"/>
                      <a:tailEnd type="none" w="med" len="med"/>
                    </a:lnR>
                    <a:lnT w="6350" cap="flat" cmpd="sng" algn="ctr">
                      <a:solidFill>
                        <a:srgbClr val="C9D8D5"/>
                      </a:solidFill>
                      <a:prstDash val="solid"/>
                      <a:round/>
                      <a:headEnd type="none" w="med" len="med"/>
                      <a:tailEnd type="none" w="med" len="med"/>
                    </a:lnT>
                    <a:lnB w="6350" cap="flat" cmpd="sng" algn="ctr">
                      <a:solidFill>
                        <a:srgbClr val="C9D8D5"/>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PRELIMINARY RESULTS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Preliminary results</a:t>
            </a:r>
            <a:endParaRPr lang="en-US" sz="3000" dirty="0"/>
          </a:p>
        </p:txBody>
      </p:sp>
      <p:sp>
        <p:nvSpPr>
          <p:cNvPr id="4" name="Text 2"/>
          <p:cNvSpPr txBox="1"/>
          <p:nvPr/>
        </p:nvSpPr>
        <p:spPr>
          <a:xfrm>
            <a:off x="548640" y="6419088"/>
            <a:ext cx="10241280" cy="292608"/>
          </a:xfrm>
          <a:prstGeom prst="rect">
            <a:avLst/>
          </a:prstGeom>
          <a:noFill/>
          <a:ln/>
        </p:spPr>
        <p:txBody>
          <a:bodyPr wrap="square" lIns="0" tIns="0" rIns="0" bIns="0" rtlCol="0" anchor="ctr"/>
          <a:lstStyle/>
          <a:p>
            <a:pPr indent="0" marL="0">
              <a:buNone/>
            </a:pPr>
            <a:r>
              <a:rPr lang="en-US" sz="900" dirty="0">
                <a:solidFill>
                  <a:srgbClr val="5E6E75"/>
                </a:solidFill>
                <a:latin typeface="Calibri" pitchFamily="34" charset="0"/>
                <a:ea typeface="Calibri" pitchFamily="34" charset="-122"/>
                <a:cs typeface="Calibri" pitchFamily="34" charset="-120"/>
              </a:rPr>
              <a:t>Sources: Our runs on PriMock57 day1_consultation01 [1], 22-23 Sep 2026; LLM output varies between runs</a:t>
            </a:r>
            <a:endParaRPr lang="en-US" sz="900" dirty="0"/>
          </a:p>
        </p:txBody>
      </p:sp>
      <p:sp>
        <p:nvSpPr>
          <p:cNvPr id="5" name="Text 3"/>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31</a:t>
            </a:r>
            <a:endParaRPr lang="en-US" sz="900" dirty="0"/>
          </a:p>
        </p:txBody>
      </p:sp>
      <p:graphicFrame>
        <p:nvGraphicFramePr>
          <p:cNvPr id="6" name="Chart 0" descr=""/>
          <p:cNvGraphicFramePr/>
          <p:nvPr/>
        </p:nvGraphicFramePr>
        <p:xfrm>
          <a:off x="548640" y="13716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863840" y="1371600"/>
            <a:ext cx="3749040" cy="4480560"/>
          </a:xfrm>
          <a:prstGeom prst="roundRect">
            <a:avLst>
              <a:gd name="adj" fmla="val 1951"/>
            </a:avLst>
          </a:prstGeom>
          <a:solidFill>
            <a:srgbClr val="E3F1EE"/>
          </a:solidFill>
          <a:ln w="12700">
            <a:solidFill>
              <a:srgbClr val="E3F1EE"/>
            </a:solidFill>
            <a:prstDash val="solid"/>
          </a:ln>
        </p:spPr>
      </p:sp>
      <p:sp>
        <p:nvSpPr>
          <p:cNvPr id="8" name="Text 5"/>
          <p:cNvSpPr txBox="1"/>
          <p:nvPr/>
        </p:nvSpPr>
        <p:spPr>
          <a:xfrm>
            <a:off x="8092440" y="1554480"/>
            <a:ext cx="3291840" cy="731520"/>
          </a:xfrm>
          <a:prstGeom prst="rect">
            <a:avLst/>
          </a:prstGeom>
          <a:noFill/>
          <a:ln/>
        </p:spPr>
        <p:txBody>
          <a:bodyPr wrap="square" lIns="0" tIns="0" rIns="0" bIns="0" rtlCol="0" anchor="t"/>
          <a:lstStyle/>
          <a:p>
            <a:pPr indent="0" marL="0">
              <a:buNone/>
            </a:pPr>
            <a:r>
              <a:rPr lang="en-US" sz="4000" b="1" dirty="0">
                <a:solidFill>
                  <a:srgbClr val="1E8A4C"/>
                </a:solidFill>
                <a:latin typeface="Cambria" pitchFamily="34" charset="0"/>
                <a:ea typeface="Cambria" pitchFamily="34" charset="-122"/>
                <a:cs typeface="Cambria" pitchFamily="34" charset="-120"/>
              </a:rPr>
              <a:t>0 → 17</a:t>
            </a:r>
            <a:endParaRPr lang="en-US" sz="4000" dirty="0"/>
          </a:p>
        </p:txBody>
      </p:sp>
      <p:sp>
        <p:nvSpPr>
          <p:cNvPr id="9" name="Text 6"/>
          <p:cNvSpPr txBox="1"/>
          <p:nvPr/>
        </p:nvSpPr>
        <p:spPr>
          <a:xfrm>
            <a:off x="8092440" y="2304288"/>
            <a:ext cx="329184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of the same consultation's Gemini facts auto-verified after replacing word overlap with NLI</a:t>
            </a:r>
            <a:endParaRPr lang="en-US" sz="1250" dirty="0"/>
          </a:p>
        </p:txBody>
      </p:sp>
      <p:sp>
        <p:nvSpPr>
          <p:cNvPr id="10" name="Text 7"/>
          <p:cNvSpPr txBox="1"/>
          <p:nvPr/>
        </p:nvSpPr>
        <p:spPr>
          <a:xfrm>
            <a:off x="8092440" y="2926080"/>
            <a:ext cx="3291840" cy="731520"/>
          </a:xfrm>
          <a:prstGeom prst="rect">
            <a:avLst/>
          </a:prstGeom>
          <a:noFill/>
          <a:ln/>
        </p:spPr>
        <p:txBody>
          <a:bodyPr wrap="square" lIns="0" tIns="0" rIns="0" bIns="0" rtlCol="0" anchor="t"/>
          <a:lstStyle/>
          <a:p>
            <a:pPr indent="0" marL="0">
              <a:buNone/>
            </a:pPr>
            <a:r>
              <a:rPr lang="en-US" sz="4000" b="1" dirty="0">
                <a:solidFill>
                  <a:srgbClr val="0F2A36"/>
                </a:solidFill>
                <a:latin typeface="Cambria" pitchFamily="34" charset="0"/>
                <a:ea typeface="Cambria" pitchFamily="34" charset="-122"/>
                <a:cs typeface="Cambria" pitchFamily="34" charset="-120"/>
              </a:rPr>
              <a:t>23 / 26</a:t>
            </a:r>
            <a:endParaRPr lang="en-US" sz="4000" dirty="0"/>
          </a:p>
        </p:txBody>
      </p:sp>
      <p:sp>
        <p:nvSpPr>
          <p:cNvPr id="11" name="Text 8"/>
          <p:cNvSpPr txBox="1"/>
          <p:nvPr/>
        </p:nvSpPr>
        <p:spPr>
          <a:xfrm>
            <a:off x="8092440" y="3675888"/>
            <a:ext cx="329184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facts auto-verified from real audio; 3 held (one caused by a real ASR error)</a:t>
            </a:r>
            <a:endParaRPr lang="en-US" sz="1250" dirty="0"/>
          </a:p>
        </p:txBody>
      </p:sp>
      <p:sp>
        <p:nvSpPr>
          <p:cNvPr id="12" name="Text 9"/>
          <p:cNvSpPr txBox="1"/>
          <p:nvPr/>
        </p:nvSpPr>
        <p:spPr>
          <a:xfrm>
            <a:off x="8092440" y="4297680"/>
            <a:ext cx="3291840" cy="731520"/>
          </a:xfrm>
          <a:prstGeom prst="rect">
            <a:avLst/>
          </a:prstGeom>
          <a:noFill/>
          <a:ln/>
        </p:spPr>
        <p:txBody>
          <a:bodyPr wrap="square" lIns="0" tIns="0" rIns="0" bIns="0" rtlCol="0" anchor="t"/>
          <a:lstStyle/>
          <a:p>
            <a:pPr indent="0" marL="0">
              <a:buNone/>
            </a:pPr>
            <a:r>
              <a:rPr lang="en-US" sz="4000" b="1" dirty="0">
                <a:solidFill>
                  <a:srgbClr val="D1432B"/>
                </a:solidFill>
                <a:latin typeface="Cambria" pitchFamily="34" charset="0"/>
                <a:ea typeface="Cambria" pitchFamily="34" charset="-122"/>
                <a:cs typeface="Cambria" pitchFamily="34" charset="-120"/>
              </a:rPr>
              <a:t>17.5 %</a:t>
            </a:r>
            <a:endParaRPr lang="en-US" sz="4000" dirty="0"/>
          </a:p>
        </p:txBody>
      </p:sp>
      <p:sp>
        <p:nvSpPr>
          <p:cNvPr id="13" name="Text 10"/>
          <p:cNvSpPr txBox="1"/>
          <p:nvPr/>
        </p:nvSpPr>
        <p:spPr>
          <a:xfrm>
            <a:off x="8092440" y="5047488"/>
            <a:ext cx="3291840" cy="548640"/>
          </a:xfrm>
          <a:prstGeom prst="rect">
            <a:avLst/>
          </a:prstGeom>
          <a:noFill/>
          <a:ln/>
        </p:spPr>
        <p:txBody>
          <a:bodyPr wrap="square" lIns="0" tIns="0" rIns="0" bIns="0" rtlCol="0" anchor="t"/>
          <a:lstStyle/>
          <a:p>
            <a:pPr indent="0" marL="0">
              <a:buNone/>
            </a:pPr>
            <a:r>
              <a:rPr lang="en-US" sz="1250" dirty="0">
                <a:solidFill>
                  <a:srgbClr val="5E6E75"/>
                </a:solidFill>
                <a:latin typeface="Calibri" pitchFamily="34" charset="0"/>
                <a:ea typeface="Calibri" pitchFamily="34" charset="-122"/>
                <a:cs typeface="Calibri" pitchFamily="34" charset="-120"/>
              </a:rPr>
              <a:t>WER of local Whisper base.en</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ANALYSIS AND DISCUSSION</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Analysis and discussion</a:t>
            </a:r>
            <a:endParaRPr lang="en-US" sz="3000" dirty="0"/>
          </a:p>
        </p:txBody>
      </p:sp>
      <p:sp>
        <p:nvSpPr>
          <p:cNvPr id="4" name="Text 2"/>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32</a:t>
            </a:r>
            <a:endParaRPr lang="en-US" sz="900" dirty="0"/>
          </a:p>
        </p:txBody>
      </p:sp>
      <p:sp>
        <p:nvSpPr>
          <p:cNvPr id="5" name="Shape 3"/>
          <p:cNvSpPr/>
          <p:nvPr/>
        </p:nvSpPr>
        <p:spPr>
          <a:xfrm>
            <a:off x="548640" y="1417320"/>
            <a:ext cx="5394960" cy="4206240"/>
          </a:xfrm>
          <a:prstGeom prst="roundRect">
            <a:avLst>
              <a:gd name="adj" fmla="val 1739"/>
            </a:avLst>
          </a:prstGeom>
          <a:solidFill>
            <a:srgbClr val="E3F1EE"/>
          </a:solidFill>
          <a:ln w="12700">
            <a:solidFill>
              <a:srgbClr val="E3F1EE"/>
            </a:solidFill>
            <a:prstDash val="solid"/>
          </a:ln>
        </p:spPr>
      </p:sp>
      <p:sp>
        <p:nvSpPr>
          <p:cNvPr id="6" name="Text 4"/>
          <p:cNvSpPr txBox="1"/>
          <p:nvPr/>
        </p:nvSpPr>
        <p:spPr>
          <a:xfrm>
            <a:off x="777240" y="1572768"/>
            <a:ext cx="4937760" cy="411480"/>
          </a:xfrm>
          <a:prstGeom prst="rect">
            <a:avLst/>
          </a:prstGeom>
          <a:noFill/>
          <a:ln/>
        </p:spPr>
        <p:txBody>
          <a:bodyPr wrap="square" lIns="0" tIns="0" rIns="0" bIns="0" rtlCol="0" anchor="t"/>
          <a:lstStyle/>
          <a:p>
            <a:pPr indent="0" marL="0">
              <a:buNone/>
            </a:pPr>
            <a:r>
              <a:rPr lang="en-US" sz="1800" b="1" dirty="0">
                <a:solidFill>
                  <a:srgbClr val="1E8A4C"/>
                </a:solidFill>
                <a:latin typeface="Cambria" pitchFamily="34" charset="0"/>
                <a:ea typeface="Cambria" pitchFamily="34" charset="-122"/>
                <a:cs typeface="Cambria" pitchFamily="34" charset="-120"/>
              </a:rPr>
              <a:t>What the results show</a:t>
            </a:r>
            <a:endParaRPr lang="en-US" sz="1800" dirty="0"/>
          </a:p>
        </p:txBody>
      </p:sp>
      <p:sp>
        <p:nvSpPr>
          <p:cNvPr id="7" name="Text 5"/>
          <p:cNvSpPr txBox="1"/>
          <p:nvPr/>
        </p:nvSpPr>
        <p:spPr>
          <a:xfrm>
            <a:off x="777240" y="2057400"/>
            <a:ext cx="4983480" cy="3566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A real entailment model is essential: word overlap blocked every correct paraphrase.</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The gate catches a real ASR error ("type of work") that a transcript-faithful check would have let through.</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Contradiction is decisive (0.99-1.0) for wrong durations, doses and negations.</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Faithful-but-unsafe prescriptions are held by Gate 3, which fidelity checks cannot do.</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Runs fully on a CPU laptop; audio never leaves the machine.</a:t>
            </a:r>
            <a:endParaRPr lang="en-US" sz="1350" dirty="0"/>
          </a:p>
        </p:txBody>
      </p:sp>
      <p:sp>
        <p:nvSpPr>
          <p:cNvPr id="8" name="Shape 6"/>
          <p:cNvSpPr/>
          <p:nvPr/>
        </p:nvSpPr>
        <p:spPr>
          <a:xfrm>
            <a:off x="6217920" y="1417320"/>
            <a:ext cx="5394960" cy="4206240"/>
          </a:xfrm>
          <a:prstGeom prst="roundRect">
            <a:avLst>
              <a:gd name="adj" fmla="val 1739"/>
            </a:avLst>
          </a:prstGeom>
          <a:solidFill>
            <a:srgbClr val="F4F4F4"/>
          </a:solidFill>
          <a:ln w="12700">
            <a:solidFill>
              <a:srgbClr val="F4F4F4"/>
            </a:solidFill>
            <a:prstDash val="solid"/>
          </a:ln>
        </p:spPr>
      </p:sp>
      <p:sp>
        <p:nvSpPr>
          <p:cNvPr id="9" name="Text 7"/>
          <p:cNvSpPr txBox="1"/>
          <p:nvPr/>
        </p:nvSpPr>
        <p:spPr>
          <a:xfrm>
            <a:off x="6446520" y="1572768"/>
            <a:ext cx="4937760" cy="411480"/>
          </a:xfrm>
          <a:prstGeom prst="rect">
            <a:avLst/>
          </a:prstGeom>
          <a:noFill/>
          <a:ln/>
        </p:spPr>
        <p:txBody>
          <a:bodyPr wrap="square" lIns="0" tIns="0" rIns="0" bIns="0" rtlCol="0" anchor="t"/>
          <a:lstStyle/>
          <a:p>
            <a:pPr indent="0" marL="0">
              <a:buNone/>
            </a:pPr>
            <a:r>
              <a:rPr lang="en-US" sz="1800" b="1" dirty="0">
                <a:solidFill>
                  <a:srgbClr val="D1432B"/>
                </a:solidFill>
                <a:latin typeface="Cambria" pitchFamily="34" charset="0"/>
                <a:ea typeface="Cambria" pitchFamily="34" charset="-122"/>
                <a:cs typeface="Cambria" pitchFamily="34" charset="-120"/>
              </a:rPr>
              <a:t>Limitations and next steps</a:t>
            </a:r>
            <a:endParaRPr lang="en-US" sz="1800" dirty="0"/>
          </a:p>
        </p:txBody>
      </p:sp>
      <p:sp>
        <p:nvSpPr>
          <p:cNvPr id="10" name="Text 8"/>
          <p:cNvSpPr txBox="1"/>
          <p:nvPr/>
        </p:nvSpPr>
        <p:spPr>
          <a:xfrm>
            <a:off x="6446520" y="2057400"/>
            <a:ext cx="4983480" cy="3566160"/>
          </a:xfrm>
          <a:prstGeom prst="rect">
            <a:avLst/>
          </a:prstGeom>
          <a:noFill/>
          <a:ln/>
        </p:spPr>
        <p:txBody>
          <a:bodyPr wrap="square" lIns="0" tIns="0" rIns="0" bIns="0" rtlCol="0" anchor="t"/>
          <a:lstStyle/>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Only 1 of 57 consultations run from audio so far: run all 57.</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Mean acoustic score can hide one badly heard word ("blood in the stalk" passed at 0.84): add a weakest-word floor.</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Thresholds / weights set by design: tune on a development split, report on a held-out split.</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Plausibility tables are a small curated set: move to RxNorm / openFDA.</a:t>
            </a:r>
            <a:endParaRPr lang="en-US" sz="1350" dirty="0"/>
          </a:p>
          <a:p>
            <a:pPr marL="203200" indent="-203200">
              <a:spcAft>
                <a:spcPts val="600"/>
              </a:spcAft>
              <a:buSzPct val="100000"/>
              <a:buChar char="•"/>
            </a:pPr>
            <a:r>
              <a:rPr lang="en-US" sz="1350" dirty="0">
                <a:solidFill>
                  <a:srgbClr val="27363D"/>
                </a:solidFill>
                <a:latin typeface="Calibri" pitchFamily="34" charset="0"/>
                <a:ea typeface="Calibri" pitchFamily="34" charset="-122"/>
                <a:cs typeface="Calibri" pitchFamily="34" charset="-120"/>
              </a:rPr>
              <a:t>No clinician study yet.</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8229600" cy="274320"/>
          </a:xfrm>
          <a:prstGeom prst="rect">
            <a:avLst/>
          </a:prstGeom>
          <a:noFill/>
          <a:ln/>
        </p:spPr>
        <p:txBody>
          <a:bodyPr wrap="square" lIns="0" tIns="0" rIns="0" bIns="0" rtlCol="0" anchor="ctr"/>
          <a:lstStyle/>
          <a:p>
            <a:pPr indent="0" marL="0">
              <a:buNone/>
            </a:pPr>
            <a:r>
              <a:rPr lang="en-US" sz="1100" b="1" spc="200" kern="0" dirty="0">
                <a:solidFill>
                  <a:srgbClr val="2A7F6F"/>
                </a:solidFill>
                <a:latin typeface="Calibri" pitchFamily="34" charset="0"/>
                <a:ea typeface="Calibri" pitchFamily="34" charset="-122"/>
                <a:cs typeface="Calibri" pitchFamily="34" charset="-120"/>
              </a:rPr>
              <a:t>REVIEW 2 · REFERENCES</a:t>
            </a:r>
            <a:endParaRPr lang="en-US" sz="1100" dirty="0"/>
          </a:p>
        </p:txBody>
      </p:sp>
      <p:sp>
        <p:nvSpPr>
          <p:cNvPr id="3" name="Text 1"/>
          <p:cNvSpPr txBox="1"/>
          <p:nvPr/>
        </p:nvSpPr>
        <p:spPr>
          <a:xfrm>
            <a:off x="548640" y="566928"/>
            <a:ext cx="11064240" cy="685800"/>
          </a:xfrm>
          <a:prstGeom prst="rect">
            <a:avLst/>
          </a:prstGeom>
          <a:noFill/>
          <a:ln/>
        </p:spPr>
        <p:txBody>
          <a:bodyPr wrap="square" lIns="0" tIns="0" rIns="0" bIns="0" rtlCol="0" anchor="t"/>
          <a:lstStyle/>
          <a:p>
            <a:pPr indent="0" marL="0">
              <a:buNone/>
            </a:pPr>
            <a:r>
              <a:rPr lang="en-US" sz="3000" b="1" dirty="0">
                <a:solidFill>
                  <a:srgbClr val="0F2A36"/>
                </a:solidFill>
                <a:latin typeface="Cambria" pitchFamily="34" charset="0"/>
                <a:ea typeface="Cambria" pitchFamily="34" charset="-122"/>
                <a:cs typeface="Cambria" pitchFamily="34" charset="-120"/>
              </a:rPr>
              <a:t>References</a:t>
            </a:r>
            <a:endParaRPr lang="en-US" sz="3000" dirty="0"/>
          </a:p>
        </p:txBody>
      </p:sp>
      <p:sp>
        <p:nvSpPr>
          <p:cNvPr id="4" name="Text 2"/>
          <p:cNvSpPr txBox="1"/>
          <p:nvPr/>
        </p:nvSpPr>
        <p:spPr>
          <a:xfrm>
            <a:off x="11155680" y="6419088"/>
            <a:ext cx="502920" cy="292608"/>
          </a:xfrm>
          <a:prstGeom prst="rect">
            <a:avLst/>
          </a:prstGeom>
          <a:noFill/>
          <a:ln/>
        </p:spPr>
        <p:txBody>
          <a:bodyPr wrap="square" lIns="0" tIns="0" rIns="0" bIns="0" rtlCol="0" anchor="ctr"/>
          <a:lstStyle/>
          <a:p>
            <a:pPr algn="r" indent="0" marL="0">
              <a:buNone/>
            </a:pPr>
            <a:r>
              <a:rPr lang="en-US" sz="900" dirty="0">
                <a:solidFill>
                  <a:srgbClr val="5E6E75"/>
                </a:solidFill>
                <a:latin typeface="Calibri" pitchFamily="34" charset="0"/>
                <a:ea typeface="Calibri" pitchFamily="34" charset="-122"/>
                <a:cs typeface="Calibri" pitchFamily="34" charset="-120"/>
              </a:rPr>
              <a:t>33</a:t>
            </a:r>
            <a:endParaRPr lang="en-US" sz="900" dirty="0"/>
          </a:p>
        </p:txBody>
      </p:sp>
      <p:sp>
        <p:nvSpPr>
          <p:cNvPr id="5" name="Text 3"/>
          <p:cNvSpPr txBox="1"/>
          <p:nvPr/>
        </p:nvSpPr>
        <p:spPr>
          <a:xfrm>
            <a:off x="548640" y="1371600"/>
            <a:ext cx="5440680" cy="4937760"/>
          </a:xfrm>
          <a:prstGeom prst="rect">
            <a:avLst/>
          </a:prstGeom>
          <a:noFill/>
          <a:ln/>
        </p:spPr>
        <p:txBody>
          <a:bodyPr wrap="square" lIns="0" tIns="0" rIns="0" bIns="0" rtlCol="0" anchor="t"/>
          <a:lstStyle/>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 Papadopoulos Korfiatis A., Moramarco F., Sarac R., Savkov A. PriMock57: A Dataset of Primary Care Mock Consultations. ACL 2022. github.com/babylonhealth/primock57 (CC BY 4.0)</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[2] Radford A. et al. Robust Speech Recognition via Large-Scale Weak Supervision (Whisper). ICML 2023.</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[3] SYSTRAN. faster-whisper (CTranslate2 Whisper implementation). github.com/SYSTRAN/faster-whisper</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[4] He P., Gao J., Chen W. DeBERTaV3: Improving DeBERTa using ELECTRA-Style Pre-Training with Gradient-Disentangled Embedding Sharing. ICLR 2023.</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[5] Laurer M. DeBERTa-v3-base-mnli-fever-anli (model card). huggingface.co/MoritzLaurer/DeBERTa-v3-base-mnli-fever-anli</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[6] Laban P., Schnabel T., Bennett P. N., Hearst M. A. SummaC: Re-Visiting NLI-based Models for Inconsistency Detection in Summarization. TACL 2022.</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[7] Kryscinski W., McCann B., Xiong C., Socher R. Evaluating the Factual Consistency of Abstractive Text Summarization. EMNLP 2020.</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[8] Yim W. et al. ACI-BENCH: a Novel Ambient Clinical Intelligence Dataset for Benchmarking Automatic Visit Note Generation. Scientific Data 2023.</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[9] AWS HealthScribe - Clinical documentation insights. docs.aws.amazon.com/transcribe/latest/dg/health-scribe-insights.html</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[10] Abridge - Verify a Note With Linked Evidence. support.abridge.com/hc/en-us/articles/30235128433811</a:t>
            </a:r>
            <a:endParaRPr lang="en-US" sz="1050" dirty="0"/>
          </a:p>
        </p:txBody>
      </p:sp>
      <p:sp>
        <p:nvSpPr>
          <p:cNvPr id="6" name="Text 4"/>
          <p:cNvSpPr txBox="1"/>
          <p:nvPr/>
        </p:nvSpPr>
        <p:spPr>
          <a:xfrm>
            <a:off x="6172200" y="1371600"/>
            <a:ext cx="5440680" cy="4937760"/>
          </a:xfrm>
          <a:prstGeom prst="rect">
            <a:avLst/>
          </a:prstGeom>
          <a:noFill/>
          <a:ln/>
        </p:spPr>
        <p:txBody>
          <a:bodyPr wrap="square" lIns="0" tIns="0" rIns="0" bIns="0" rtlCol="0" anchor="t"/>
          <a:lstStyle/>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[11] US 11,222,716 B2. System and method for review of automated clinical documentation from recorded audio. Nuance / Microsoft, 2022.</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[12] US 10,719,222 B2. Method and system for generating transcripts of patient-healthcare provider conversations. Google, 2020.</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[13] US 11,227,688 B2. Interface for patient-provider conversation and auto-generation of note or summary. Google, 2022.</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[14] US 6,006,183 A. Speech recognition confidence level display. IBM, 1999.</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[15] Astute Analytica. AI Clinical Documentation (Ambient Scribe) Market report. astuteanalytica.com</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[16] Towards Healthcare. AI in Medical Scribing Market sizing. towardshealthcare.com</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[17] Google. Gemini API documentation (structured JSON output). ai.google.dev</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[18] RapidFuzz - fuzzy string matching library. github.com/rapidfuzz/RapidFuzz</a:t>
            </a:r>
            <a:endParaRPr lang="en-US" sz="1050" dirty="0"/>
          </a:p>
          <a:p>
            <a:pPr indent="0" marL="0">
              <a:spcAft>
                <a:spcPts val="500"/>
              </a:spcAft>
              <a:buNone/>
            </a:pPr>
            <a:r>
              <a:rPr lang="en-US" sz="1050" dirty="0">
                <a:solidFill>
                  <a:srgbClr val="27363D"/>
                </a:solidFill>
                <a:latin typeface="Calibri" pitchFamily="34" charset="0"/>
                <a:ea typeface="Calibri" pitchFamily="34" charset="-122"/>
                <a:cs typeface="Calibri" pitchFamily="34" charset="-120"/>
              </a:rPr>
              <a:t>[19] British National Formulary (drug indications, contraindications, interactions). bnf.nice.org.uk</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2A36"/>
        </a:solidFill>
      </p:bgPr>
    </p:bg>
    <p:spTree>
      <p:nvGrpSpPr>
        <p:cNvPr id="1" name=""/>
        <p:cNvGrpSpPr/>
        <p:nvPr/>
      </p:nvGrpSpPr>
      <p:grpSpPr>
        <a:xfrm>
          <a:off x="0" y="0"/>
          <a:ext cx="0" cy="0"/>
          <a:chOff x="0" y="0"/>
          <a:chExt cx="0" cy="0"/>
        </a:xfrm>
      </p:grpSpPr>
      <p:sp>
        <p:nvSpPr>
          <p:cNvPr id="2" name="Text 0"/>
          <p:cNvSpPr txBox="1"/>
          <p:nvPr/>
        </p:nvSpPr>
        <p:spPr>
          <a:xfrm>
            <a:off x="731520" y="2103120"/>
            <a:ext cx="10058400" cy="365760"/>
          </a:xfrm>
          <a:prstGeom prst="rect">
            <a:avLst/>
          </a:prstGeom>
          <a:noFill/>
          <a:ln/>
        </p:spPr>
        <p:txBody>
          <a:bodyPr wrap="square" lIns="0" tIns="0" rIns="0" bIns="0" rtlCol="0" anchor="t"/>
          <a:lstStyle/>
          <a:p>
            <a:pPr indent="0" marL="0">
              <a:buNone/>
            </a:pPr>
            <a:r>
              <a:rPr lang="en-US" sz="1400" b="1" spc="300" kern="0" dirty="0">
                <a:solidFill>
                  <a:srgbClr val="8FD3C3"/>
                </a:solidFill>
                <a:latin typeface="Calibri" pitchFamily="34" charset="0"/>
                <a:ea typeface="Calibri" pitchFamily="34" charset="-122"/>
                <a:cs typeface="Calibri" pitchFamily="34" charset="-120"/>
              </a:rPr>
              <a:t>THANK YOU</a:t>
            </a:r>
            <a:endParaRPr lang="en-US" sz="1400" dirty="0"/>
          </a:p>
        </p:txBody>
      </p:sp>
      <p:sp>
        <p:nvSpPr>
          <p:cNvPr id="3" name="Text 1"/>
          <p:cNvSpPr txBox="1"/>
          <p:nvPr/>
        </p:nvSpPr>
        <p:spPr>
          <a:xfrm>
            <a:off x="731520" y="2514600"/>
            <a:ext cx="10515600" cy="13716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Evidence first, then the record.</a:t>
            </a:r>
            <a:endParaRPr lang="en-US" sz="4000" dirty="0"/>
          </a:p>
        </p:txBody>
      </p:sp>
      <p:sp>
        <p:nvSpPr>
          <p:cNvPr id="4" name="Text 2"/>
          <p:cNvSpPr txBox="1"/>
          <p:nvPr/>
        </p:nvSpPr>
        <p:spPr>
          <a:xfrm>
            <a:off x="731520" y="3931920"/>
            <a:ext cx="10058400" cy="914400"/>
          </a:xfrm>
          <a:prstGeom prst="rect">
            <a:avLst/>
          </a:prstGeom>
          <a:noFill/>
          <a:ln/>
        </p:spPr>
        <p:txBody>
          <a:bodyPr wrap="square" lIns="0" tIns="0" rIns="0" bIns="0" rtlCol="0" anchor="t"/>
          <a:lstStyle/>
          <a:p>
            <a:pPr indent="0" marL="0">
              <a:buNone/>
            </a:pPr>
            <a:r>
              <a:rPr lang="en-US" sz="1800" dirty="0">
                <a:solidFill>
                  <a:srgbClr val="C8DAD6"/>
                </a:solidFill>
                <a:latin typeface="Calibri" pitchFamily="34" charset="0"/>
                <a:ea typeface="Calibri" pitchFamily="34" charset="-122"/>
                <a:cs typeface="Calibri" pitchFamily="34" charset="-120"/>
              </a:rPr>
              <a:t>Questions?</a:t>
            </a:r>
            <a:endParaRPr lang="en-US" sz="1800" dirty="0"/>
          </a:p>
        </p:txBody>
      </p:sp>
      <p:sp>
        <p:nvSpPr>
          <p:cNvPr id="5" name="Text 3"/>
          <p:cNvSpPr txBox="1"/>
          <p:nvPr/>
        </p:nvSpPr>
        <p:spPr>
          <a:xfrm>
            <a:off x="731520" y="5120640"/>
            <a:ext cx="10515600" cy="457200"/>
          </a:xfrm>
          <a:prstGeom prst="rect">
            <a:avLst/>
          </a:prstGeom>
          <a:noFill/>
          <a:ln/>
        </p:spPr>
        <p:txBody>
          <a:bodyPr wrap="square" lIns="0" tIns="0" rIns="0" bIns="0" rtlCol="0" anchor="ctr"/>
          <a:lstStyle/>
          <a:p>
            <a:pPr indent="0" marL="0">
              <a:buNone/>
            </a:pPr>
            <a:r>
              <a:rPr lang="en-US" sz="1200" dirty="0">
                <a:solidFill>
                  <a:srgbClr val="C8DAD6"/>
                </a:solidFill>
                <a:latin typeface="Calibri" pitchFamily="34" charset="0"/>
                <a:ea typeface="Calibri" pitchFamily="34" charset="-122"/>
                <a:cs typeface="Calibri" pitchFamily="34" charset="-120"/>
              </a:rPr>
              <a:t>Code: prototype/ (FastAPI + local Whisper + DeBERTa NLI).  Note: the GitHub repository is public; see patent disclosure section 18.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Confidence-Gated AI Clinical Documentation</dc:title>
  <dc:subject>PptxGenJS Presentation</dc:subject>
  <dc:creator>PptxGenJS</dc:creator>
  <cp:lastModifiedBy>PptxGenJS</cp:lastModifiedBy>
  <cp:revision>1</cp:revision>
  <dcterms:created xsi:type="dcterms:W3CDTF">2026-09-30T09:01:58Z</dcterms:created>
  <dcterms:modified xsi:type="dcterms:W3CDTF">2026-09-30T09:01:58Z</dcterms:modified>
</cp:coreProperties>
</file>